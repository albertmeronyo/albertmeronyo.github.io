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2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71" r:id="rId11"/>
    <p:sldId id="273" r:id="rId12"/>
    <p:sldId id="267" r:id="rId13"/>
    <p:sldId id="268" r:id="rId14"/>
    <p:sldId id="274" r:id="rId15"/>
    <p:sldId id="269" r:id="rId16"/>
    <p:sldId id="270" r:id="rId17"/>
    <p:sldId id="275" r:id="rId18"/>
    <p:sldId id="276" r:id="rId19"/>
    <p:sldId id="278" r:id="rId20"/>
    <p:sldId id="277" r:id="rId21"/>
    <p:sldId id="279" r:id="rId22"/>
    <p:sldId id="283" r:id="rId23"/>
    <p:sldId id="280" r:id="rId24"/>
    <p:sldId id="281" r:id="rId25"/>
    <p:sldId id="282" r:id="rId26"/>
    <p:sldId id="284" r:id="rId27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031020-981C-410A-B8E8-4604AD64A7F6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711B1CCD-B594-414A-B08B-FB8160DD09A0}">
      <dgm:prSet phldrT="[Tekst]"/>
      <dgm:spPr>
        <a:solidFill>
          <a:srgbClr val="DB0716"/>
        </a:solidFill>
      </dgm:spPr>
      <dgm:t>
        <a:bodyPr/>
        <a:lstStyle/>
        <a:p>
          <a:r>
            <a:rPr lang="pl-PL" b="1" dirty="0" smtClean="0"/>
            <a:t>‘</a:t>
          </a:r>
          <a:r>
            <a:rPr lang="pl-PL" b="1" dirty="0" err="1" smtClean="0"/>
            <a:t>Non-elderly</a:t>
          </a:r>
          <a:r>
            <a:rPr lang="pl-PL" b="1" dirty="0" smtClean="0"/>
            <a:t>’ </a:t>
          </a:r>
          <a:r>
            <a:rPr lang="pl-PL" b="1" dirty="0" err="1" smtClean="0"/>
            <a:t>variables</a:t>
          </a:r>
          <a:r>
            <a:rPr lang="pl-PL" b="1" dirty="0" smtClean="0"/>
            <a:t>’</a:t>
          </a:r>
          <a:endParaRPr lang="pl-PL" b="1" dirty="0"/>
        </a:p>
      </dgm:t>
    </dgm:pt>
    <dgm:pt modelId="{2B50D16A-5426-4FFA-9447-06F5B8C0EC08}" type="parTrans" cxnId="{5486D7CB-97E2-4881-8580-68D0A17304CD}">
      <dgm:prSet/>
      <dgm:spPr/>
      <dgm:t>
        <a:bodyPr/>
        <a:lstStyle/>
        <a:p>
          <a:endParaRPr lang="pl-PL"/>
        </a:p>
      </dgm:t>
    </dgm:pt>
    <dgm:pt modelId="{63FF8E7F-0DEA-45C2-BD08-F63679E64F9D}" type="sibTrans" cxnId="{5486D7CB-97E2-4881-8580-68D0A17304CD}">
      <dgm:prSet/>
      <dgm:spPr/>
      <dgm:t>
        <a:bodyPr/>
        <a:lstStyle/>
        <a:p>
          <a:endParaRPr lang="pl-PL"/>
        </a:p>
      </dgm:t>
    </dgm:pt>
    <dgm:pt modelId="{845DE07D-E7CD-4104-97B0-BD1392637878}">
      <dgm:prSet phldrT="[Tekst]" custT="1"/>
      <dgm:spPr/>
      <dgm:t>
        <a:bodyPr anchor="b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200" b="1" dirty="0" smtClean="0"/>
            <a:t>P</a:t>
          </a:r>
          <a:r>
            <a:rPr lang="en-US" sz="1200" b="1" dirty="0" err="1" smtClean="0"/>
            <a:t>atrilinearity</a:t>
          </a:r>
          <a:r>
            <a:rPr lang="en-US" sz="1200" dirty="0" smtClean="0"/>
            <a:t>: the proportion of </a:t>
          </a:r>
          <a:r>
            <a:rPr lang="pl-PL" sz="1200" dirty="0" err="1" smtClean="0"/>
            <a:t>wife’s</a:t>
          </a:r>
          <a:r>
            <a:rPr lang="pl-PL" sz="1200" dirty="0" smtClean="0"/>
            <a:t> </a:t>
          </a:r>
          <a:r>
            <a:rPr lang="en-US" sz="1200" dirty="0" smtClean="0"/>
            <a:t>relatives within household</a:t>
          </a:r>
          <a:endParaRPr lang="pl-PL" sz="1200" dirty="0" smtClean="0"/>
        </a:p>
        <a:p>
          <a:pPr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1200" dirty="0"/>
        </a:p>
      </dgm:t>
    </dgm:pt>
    <dgm:pt modelId="{F0F398A1-5C58-452E-A02D-B2F4E5935C16}" type="parTrans" cxnId="{80CBDF4F-133D-4791-9608-CFE8CF03B43F}">
      <dgm:prSet/>
      <dgm:spPr>
        <a:ln>
          <a:solidFill>
            <a:srgbClr val="DB0716"/>
          </a:solidFill>
        </a:ln>
      </dgm:spPr>
      <dgm:t>
        <a:bodyPr/>
        <a:lstStyle/>
        <a:p>
          <a:endParaRPr lang="pl-PL"/>
        </a:p>
      </dgm:t>
    </dgm:pt>
    <dgm:pt modelId="{FFA87F06-F58D-48B2-9E8F-C9D7D836CB9A}" type="sibTrans" cxnId="{80CBDF4F-133D-4791-9608-CFE8CF03B43F}">
      <dgm:prSet/>
      <dgm:spPr/>
      <dgm:t>
        <a:bodyPr/>
        <a:lstStyle/>
        <a:p>
          <a:endParaRPr lang="pl-PL"/>
        </a:p>
      </dgm:t>
    </dgm:pt>
    <dgm:pt modelId="{1D0563EE-E891-4F54-B3F7-A07E37AF7CCF}">
      <dgm:prSet phldrT="[Tekst]"/>
      <dgm:spPr>
        <a:solidFill>
          <a:srgbClr val="FF0000"/>
        </a:solidFill>
      </dgm:spPr>
      <dgm:t>
        <a:bodyPr/>
        <a:lstStyle/>
        <a:p>
          <a:r>
            <a:rPr lang="pl-PL" b="1" dirty="0" smtClean="0"/>
            <a:t>Elderly </a:t>
          </a:r>
          <a:r>
            <a:rPr lang="en-US" b="1" dirty="0" smtClean="0"/>
            <a:t>(65+) </a:t>
          </a:r>
          <a:r>
            <a:rPr lang="pl-PL" b="1" dirty="0" smtClean="0"/>
            <a:t>focused variables</a:t>
          </a:r>
          <a:endParaRPr lang="pl-PL" b="1" dirty="0"/>
        </a:p>
      </dgm:t>
    </dgm:pt>
    <dgm:pt modelId="{2B1185BE-3CEC-4E7B-8B42-F0618C23D784}" type="parTrans" cxnId="{4EAA172C-92E7-43D9-A27B-3811240744CE}">
      <dgm:prSet/>
      <dgm:spPr/>
      <dgm:t>
        <a:bodyPr/>
        <a:lstStyle/>
        <a:p>
          <a:endParaRPr lang="pl-PL"/>
        </a:p>
      </dgm:t>
    </dgm:pt>
    <dgm:pt modelId="{DA894685-FE07-4FCD-887C-23C44AA23688}" type="sibTrans" cxnId="{4EAA172C-92E7-43D9-A27B-3811240744CE}">
      <dgm:prSet/>
      <dgm:spPr/>
      <dgm:t>
        <a:bodyPr/>
        <a:lstStyle/>
        <a:p>
          <a:endParaRPr lang="pl-PL"/>
        </a:p>
      </dgm:t>
    </dgm:pt>
    <dgm:pt modelId="{B38C8E61-1D44-43DE-92CD-37A1DFE05E1A}">
      <dgm:prSet phldrT="[Tekst]" custT="1"/>
      <dgm:spPr/>
      <dgm:t>
        <a:bodyPr anchor="t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dirty="0" smtClean="0"/>
            <a:t>P</a:t>
          </a:r>
          <a:r>
            <a:rPr lang="en-US" sz="1100" b="1" dirty="0" err="1" smtClean="0"/>
            <a:t>atrilocality</a:t>
          </a:r>
          <a:r>
            <a:rPr lang="en-US" sz="1100" dirty="0" smtClean="0"/>
            <a:t>: the </a:t>
          </a:r>
          <a:r>
            <a:rPr lang="pl-PL" sz="1100" dirty="0" err="1" smtClean="0"/>
            <a:t>ratio</a:t>
          </a:r>
          <a:r>
            <a:rPr lang="pl-PL" sz="1100" dirty="0" smtClean="0"/>
            <a:t> </a:t>
          </a:r>
          <a:r>
            <a:rPr lang="en-US" sz="1100" dirty="0" smtClean="0"/>
            <a:t>of </a:t>
          </a:r>
          <a:r>
            <a:rPr lang="pl-PL" sz="1100" dirty="0" err="1" smtClean="0"/>
            <a:t>elderly</a:t>
          </a:r>
          <a:r>
            <a:rPr lang="pl-PL" sz="1100" dirty="0" smtClean="0"/>
            <a:t> </a:t>
          </a:r>
          <a:r>
            <a:rPr lang="pl-PL" sz="1100" dirty="0" err="1" smtClean="0"/>
            <a:t>with</a:t>
          </a:r>
          <a:r>
            <a:rPr lang="pl-PL" sz="1100" dirty="0" smtClean="0"/>
            <a:t> </a:t>
          </a:r>
          <a:r>
            <a:rPr lang="en-US" sz="1100" dirty="0" smtClean="0"/>
            <a:t>married daughters to </a:t>
          </a:r>
          <a:r>
            <a:rPr lang="pl-PL" sz="1100" dirty="0" err="1" smtClean="0"/>
            <a:t>those</a:t>
          </a:r>
          <a:r>
            <a:rPr lang="pl-PL" sz="1100" dirty="0" smtClean="0"/>
            <a:t> </a:t>
          </a:r>
          <a:r>
            <a:rPr lang="de-DE" sz="1100" dirty="0" err="1" smtClean="0"/>
            <a:t>with</a:t>
          </a:r>
          <a:r>
            <a:rPr lang="de-DE" sz="1100" dirty="0" smtClean="0"/>
            <a:t> </a:t>
          </a:r>
          <a:r>
            <a:rPr lang="en-US" sz="1100" dirty="0" smtClean="0"/>
            <a:t>married sons within household</a:t>
          </a:r>
          <a:endParaRPr lang="pl-PL" sz="1100" dirty="0" smtClean="0"/>
        </a:p>
        <a:p>
          <a:pPr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dirty="0"/>
        </a:p>
      </dgm:t>
    </dgm:pt>
    <dgm:pt modelId="{CCA8D30A-2982-4484-84E2-95263EF01E8F}" type="parTrans" cxnId="{64EDA917-CD42-4D23-816D-EEFA71B2F1CE}">
      <dgm:prSet/>
      <dgm:spPr>
        <a:ln>
          <a:solidFill>
            <a:srgbClr val="FF0000"/>
          </a:solidFill>
        </a:ln>
      </dgm:spPr>
      <dgm:t>
        <a:bodyPr/>
        <a:lstStyle/>
        <a:p>
          <a:endParaRPr lang="pl-PL"/>
        </a:p>
      </dgm:t>
    </dgm:pt>
    <dgm:pt modelId="{D7F4043F-200A-400A-9E90-7BB36C570326}" type="sibTrans" cxnId="{64EDA917-CD42-4D23-816D-EEFA71B2F1CE}">
      <dgm:prSet/>
      <dgm:spPr/>
      <dgm:t>
        <a:bodyPr/>
        <a:lstStyle/>
        <a:p>
          <a:endParaRPr lang="pl-PL"/>
        </a:p>
      </dgm:t>
    </dgm:pt>
    <dgm:pt modelId="{469D1453-F5F5-4E2C-ABB3-79650F00D736}">
      <dgm:prSet custT="1"/>
      <dgm:spPr/>
      <dgm:t>
        <a:bodyPr anchor="b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200" b="1" dirty="0" err="1" smtClean="0"/>
            <a:t>Neolocality</a:t>
          </a:r>
          <a:r>
            <a:rPr lang="pl-PL" sz="1200" b="1" dirty="0" smtClean="0"/>
            <a:t>: </a:t>
          </a:r>
          <a:r>
            <a:rPr lang="pl-PL" sz="1200" dirty="0" err="1" smtClean="0"/>
            <a:t>ever</a:t>
          </a:r>
          <a:r>
            <a:rPr lang="pl-PL" sz="1200" dirty="0" smtClean="0"/>
            <a:t> </a:t>
          </a:r>
          <a:r>
            <a:rPr lang="pl-PL" sz="1200" dirty="0" err="1" smtClean="0"/>
            <a:t>married</a:t>
          </a:r>
          <a:r>
            <a:rPr lang="pl-PL" sz="1200" dirty="0" smtClean="0"/>
            <a:t> </a:t>
          </a:r>
          <a:r>
            <a:rPr lang="pl-PL" sz="1200" dirty="0" err="1" smtClean="0"/>
            <a:t>heads</a:t>
          </a:r>
          <a:r>
            <a:rPr lang="pl-PL" sz="1200" dirty="0" smtClean="0"/>
            <a:t> as % of </a:t>
          </a:r>
          <a:r>
            <a:rPr lang="pl-PL" sz="1200" dirty="0" err="1" smtClean="0"/>
            <a:t>ever</a:t>
          </a:r>
          <a:r>
            <a:rPr lang="pl-PL" sz="1200" dirty="0" smtClean="0"/>
            <a:t> </a:t>
          </a:r>
          <a:r>
            <a:rPr lang="pl-PL" sz="1200" dirty="0" err="1" smtClean="0"/>
            <a:t>married</a:t>
          </a:r>
          <a:r>
            <a:rPr lang="pl-PL" sz="1200" dirty="0" smtClean="0"/>
            <a:t> (men 20-29)</a:t>
          </a:r>
        </a:p>
        <a:p>
          <a:pPr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500" dirty="0" smtClean="0"/>
        </a:p>
      </dgm:t>
    </dgm:pt>
    <dgm:pt modelId="{04360A05-1B23-4EC4-8FF3-28DCF880670C}" type="parTrans" cxnId="{6989233C-FCD2-4B99-8813-BB6A854D8C5B}">
      <dgm:prSet/>
      <dgm:spPr>
        <a:ln>
          <a:solidFill>
            <a:srgbClr val="DB0716"/>
          </a:solidFill>
        </a:ln>
      </dgm:spPr>
      <dgm:t>
        <a:bodyPr/>
        <a:lstStyle/>
        <a:p>
          <a:endParaRPr lang="pl-PL"/>
        </a:p>
      </dgm:t>
    </dgm:pt>
    <dgm:pt modelId="{FD3B5FBE-969C-42A4-BAE4-FDDCCB1E8EEB}" type="sibTrans" cxnId="{6989233C-FCD2-4B99-8813-BB6A854D8C5B}">
      <dgm:prSet/>
      <dgm:spPr/>
      <dgm:t>
        <a:bodyPr/>
        <a:lstStyle/>
        <a:p>
          <a:endParaRPr lang="pl-PL"/>
        </a:p>
      </dgm:t>
    </dgm:pt>
    <dgm:pt modelId="{0023B101-367D-43A9-8BAA-B2BCE15ABB72}">
      <dgm:prSet custT="1"/>
      <dgm:spPr/>
      <dgm:t>
        <a:bodyPr anchor="b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200" b="1" dirty="0" smtClean="0"/>
            <a:t>Nuptiality</a:t>
          </a:r>
          <a:r>
            <a:rPr lang="pl-PL" sz="1200" dirty="0" smtClean="0"/>
            <a:t>: </a:t>
          </a:r>
          <a:r>
            <a:rPr lang="pl-PL" sz="1200" dirty="0" err="1" smtClean="0"/>
            <a:t>male</a:t>
          </a:r>
          <a:r>
            <a:rPr lang="pl-PL" sz="1200" dirty="0" smtClean="0"/>
            <a:t> SMAM</a:t>
          </a:r>
        </a:p>
        <a:p>
          <a:pPr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1200" dirty="0" smtClean="0"/>
        </a:p>
      </dgm:t>
    </dgm:pt>
    <dgm:pt modelId="{0410312E-3B40-4B9E-9D1E-FBACDBFAEF52}" type="parTrans" cxnId="{B2D27D91-0DE2-4334-B8E8-618C65359A2C}">
      <dgm:prSet/>
      <dgm:spPr>
        <a:ln>
          <a:solidFill>
            <a:srgbClr val="DB0716"/>
          </a:solidFill>
        </a:ln>
      </dgm:spPr>
      <dgm:t>
        <a:bodyPr/>
        <a:lstStyle/>
        <a:p>
          <a:endParaRPr lang="pl-PL"/>
        </a:p>
      </dgm:t>
    </dgm:pt>
    <dgm:pt modelId="{BB7CFDA2-67DC-4D7C-A918-290E31CAD8B4}" type="sibTrans" cxnId="{B2D27D91-0DE2-4334-B8E8-618C65359A2C}">
      <dgm:prSet/>
      <dgm:spPr/>
      <dgm:t>
        <a:bodyPr/>
        <a:lstStyle/>
        <a:p>
          <a:endParaRPr lang="pl-PL"/>
        </a:p>
      </dgm:t>
    </dgm:pt>
    <dgm:pt modelId="{57A0203E-ABFC-4E68-9D5E-685724AE152C}">
      <dgm:prSet custT="1"/>
      <dgm:spPr/>
      <dgm:t>
        <a:bodyPr anchor="ctr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200" b="1" dirty="0" err="1" smtClean="0"/>
            <a:t>Female</a:t>
          </a:r>
          <a:r>
            <a:rPr lang="pl-PL" sz="1200" b="1" dirty="0" smtClean="0"/>
            <a:t> </a:t>
          </a:r>
          <a:r>
            <a:rPr lang="pl-PL" sz="1200" b="1" dirty="0" err="1" smtClean="0"/>
            <a:t>autonomy</a:t>
          </a:r>
          <a:r>
            <a:rPr lang="pl-PL" sz="1200" b="1" dirty="0" smtClean="0"/>
            <a:t>: </a:t>
          </a:r>
          <a:r>
            <a:rPr lang="pl-PL" sz="1200" dirty="0" smtClean="0"/>
            <a:t> </a:t>
          </a:r>
          <a:r>
            <a:rPr lang="pl-PL" sz="1200" dirty="0" err="1" smtClean="0"/>
            <a:t>age-specific</a:t>
          </a:r>
          <a:r>
            <a:rPr lang="pl-PL" sz="1200" dirty="0" smtClean="0"/>
            <a:t> </a:t>
          </a:r>
          <a:r>
            <a:rPr lang="pl-PL" sz="1200" dirty="0" err="1" smtClean="0"/>
            <a:t>share</a:t>
          </a:r>
          <a:r>
            <a:rPr lang="pl-PL" sz="1200" dirty="0" smtClean="0"/>
            <a:t> of </a:t>
          </a:r>
          <a:r>
            <a:rPr lang="pl-PL" sz="1200" dirty="0" err="1" smtClean="0"/>
            <a:t>unrelated</a:t>
          </a:r>
          <a:r>
            <a:rPr lang="pl-PL" sz="1200" dirty="0" smtClean="0"/>
            <a:t> </a:t>
          </a:r>
          <a:r>
            <a:rPr lang="pl-PL" sz="1200" dirty="0" err="1" smtClean="0"/>
            <a:t>secondary</a:t>
          </a:r>
          <a:r>
            <a:rPr lang="pl-PL" sz="1200" dirty="0" smtClean="0"/>
            <a:t> </a:t>
          </a:r>
          <a:r>
            <a:rPr lang="pl-PL" sz="1200" dirty="0" err="1" smtClean="0"/>
            <a:t>individuals</a:t>
          </a:r>
          <a:r>
            <a:rPr lang="pl-PL" sz="1200" dirty="0" smtClean="0"/>
            <a:t> </a:t>
          </a:r>
          <a:r>
            <a:rPr lang="pl-PL" sz="1200" dirty="0" err="1" smtClean="0"/>
            <a:t>among</a:t>
          </a:r>
          <a:r>
            <a:rPr lang="pl-PL" sz="1200" dirty="0" smtClean="0"/>
            <a:t> </a:t>
          </a:r>
          <a:r>
            <a:rPr lang="pl-PL" sz="1200" dirty="0" err="1" smtClean="0"/>
            <a:t>women</a:t>
          </a:r>
          <a:r>
            <a:rPr lang="pl-PL" sz="1200" dirty="0" smtClean="0"/>
            <a:t> 15-34</a:t>
          </a:r>
        </a:p>
        <a:p>
          <a:pPr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500" dirty="0" smtClean="0"/>
        </a:p>
      </dgm:t>
    </dgm:pt>
    <dgm:pt modelId="{4780D261-630C-4DDB-86AB-D6DD5F1D9AA7}" type="parTrans" cxnId="{F6B3F45C-F0E6-49A4-B63B-EDEC5177F62E}">
      <dgm:prSet/>
      <dgm:spPr>
        <a:ln w="31750">
          <a:solidFill>
            <a:srgbClr val="C00000"/>
          </a:solidFill>
        </a:ln>
      </dgm:spPr>
      <dgm:t>
        <a:bodyPr/>
        <a:lstStyle/>
        <a:p>
          <a:endParaRPr lang="pl-PL"/>
        </a:p>
      </dgm:t>
    </dgm:pt>
    <dgm:pt modelId="{C1FA61DE-EE87-4D75-ADB8-250B8B0A018A}" type="sibTrans" cxnId="{F6B3F45C-F0E6-49A4-B63B-EDEC5177F62E}">
      <dgm:prSet/>
      <dgm:spPr/>
      <dgm:t>
        <a:bodyPr/>
        <a:lstStyle/>
        <a:p>
          <a:endParaRPr lang="pl-PL"/>
        </a:p>
      </dgm:t>
    </dgm:pt>
    <dgm:pt modelId="{BD416BA6-AC55-4336-888C-4309C05A08FF}">
      <dgm:prSet custT="1"/>
      <dgm:spPr/>
      <dgm:t>
        <a:bodyPr anchor="t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dirty="0" smtClean="0"/>
            <a:t>L</a:t>
          </a:r>
          <a:r>
            <a:rPr lang="en-US" sz="1100" b="1" dirty="0" err="1" smtClean="0"/>
            <a:t>ateral</a:t>
          </a:r>
          <a:r>
            <a:rPr lang="en-US" sz="1100" b="1" dirty="0" smtClean="0"/>
            <a:t> extension</a:t>
          </a:r>
          <a:r>
            <a:rPr lang="pl-PL" sz="1100" dirty="0" smtClean="0"/>
            <a:t>: </a:t>
          </a:r>
          <a:r>
            <a:rPr lang="en-US" sz="1100" dirty="0" smtClean="0"/>
            <a:t>the proportion of </a:t>
          </a:r>
          <a:r>
            <a:rPr lang="pl-PL" sz="1100" dirty="0" err="1" smtClean="0"/>
            <a:t>the</a:t>
          </a:r>
          <a:r>
            <a:rPr lang="pl-PL" sz="1100" dirty="0" smtClean="0"/>
            <a:t> </a:t>
          </a:r>
          <a:r>
            <a:rPr lang="en-US" sz="1100" dirty="0" smtClean="0"/>
            <a:t>elderly coresiding</a:t>
          </a:r>
          <a:r>
            <a:rPr lang="pl-PL" sz="1100" dirty="0" smtClean="0"/>
            <a:t> </a:t>
          </a:r>
          <a:r>
            <a:rPr lang="en-US" sz="1100" dirty="0" smtClean="0"/>
            <a:t>with at least one lateral relative</a:t>
          </a:r>
          <a:endParaRPr lang="pl-PL" sz="1100" dirty="0" smtClean="0"/>
        </a:p>
        <a:p>
          <a:pPr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dirty="0" smtClean="0"/>
        </a:p>
      </dgm:t>
    </dgm:pt>
    <dgm:pt modelId="{A72CCBB3-B928-48D8-BCB9-70EF799767F2}" type="parTrans" cxnId="{04281E4E-8D7D-45AE-BB88-60311B1C6399}">
      <dgm:prSet/>
      <dgm:spPr>
        <a:ln>
          <a:solidFill>
            <a:srgbClr val="FF0000"/>
          </a:solidFill>
        </a:ln>
      </dgm:spPr>
      <dgm:t>
        <a:bodyPr/>
        <a:lstStyle/>
        <a:p>
          <a:endParaRPr lang="pl-PL"/>
        </a:p>
      </dgm:t>
    </dgm:pt>
    <dgm:pt modelId="{5D3A6A23-200F-4BE3-815B-DFE0816D21C2}" type="sibTrans" cxnId="{04281E4E-8D7D-45AE-BB88-60311B1C6399}">
      <dgm:prSet/>
      <dgm:spPr/>
      <dgm:t>
        <a:bodyPr/>
        <a:lstStyle/>
        <a:p>
          <a:endParaRPr lang="pl-PL"/>
        </a:p>
      </dgm:t>
    </dgm:pt>
    <dgm:pt modelId="{810C9E92-34BD-4FFC-9208-AE7F946C3060}">
      <dgm:prSet custT="1"/>
      <dgm:spPr/>
      <dgm:t>
        <a:bodyPr anchor="ctr" anchorCtr="0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dirty="0" smtClean="0"/>
            <a:t>Joint </a:t>
          </a:r>
          <a:r>
            <a:rPr lang="pl-PL" sz="1100" b="1" dirty="0" err="1" smtClean="0"/>
            <a:t>residence</a:t>
          </a:r>
          <a:r>
            <a:rPr lang="pl-PL" sz="1100" b="1" dirty="0" smtClean="0"/>
            <a:t>: </a:t>
          </a:r>
          <a:r>
            <a:rPr lang="de-DE" sz="1100" dirty="0" err="1" smtClean="0"/>
            <a:t>proportion</a:t>
          </a:r>
          <a:r>
            <a:rPr lang="de-DE" sz="1100" dirty="0" smtClean="0"/>
            <a:t> </a:t>
          </a:r>
          <a:r>
            <a:rPr lang="de-DE" sz="1100" dirty="0" err="1" smtClean="0"/>
            <a:t>of</a:t>
          </a:r>
          <a:r>
            <a:rPr lang="de-DE" sz="1100" dirty="0" smtClean="0"/>
            <a:t> </a:t>
          </a:r>
          <a:r>
            <a:rPr lang="pl-PL" sz="1100" dirty="0" err="1" smtClean="0"/>
            <a:t>the</a:t>
          </a:r>
          <a:r>
            <a:rPr lang="pl-PL" sz="1100" dirty="0" smtClean="0"/>
            <a:t> </a:t>
          </a:r>
          <a:r>
            <a:rPr lang="de-DE" sz="1100" dirty="0" err="1" smtClean="0"/>
            <a:t>elderly</a:t>
          </a:r>
          <a:r>
            <a:rPr lang="de-DE" sz="1100" dirty="0" smtClean="0"/>
            <a:t> </a:t>
          </a:r>
          <a:r>
            <a:rPr lang="de-DE" sz="1100" dirty="0" err="1" smtClean="0"/>
            <a:t>living</a:t>
          </a:r>
          <a:r>
            <a:rPr lang="de-DE" sz="1100" dirty="0" smtClean="0"/>
            <a:t> </a:t>
          </a:r>
          <a:r>
            <a:rPr lang="de-DE" sz="1100" dirty="0" err="1" smtClean="0"/>
            <a:t>with</a:t>
          </a:r>
          <a:r>
            <a:rPr lang="de-DE" sz="1100" dirty="0" smtClean="0"/>
            <a:t> </a:t>
          </a:r>
          <a:r>
            <a:rPr lang="de-DE" sz="1100" dirty="0" err="1" smtClean="0"/>
            <a:t>at</a:t>
          </a:r>
          <a:r>
            <a:rPr lang="de-DE" sz="1100" dirty="0" smtClean="0"/>
            <a:t> least </a:t>
          </a:r>
          <a:r>
            <a:rPr lang="de-DE" sz="1100" dirty="0" err="1" smtClean="0"/>
            <a:t>two</a:t>
          </a:r>
          <a:r>
            <a:rPr lang="de-DE" sz="1100" dirty="0" smtClean="0"/>
            <a:t> </a:t>
          </a:r>
          <a:r>
            <a:rPr lang="de-DE" sz="1100" dirty="0" err="1" smtClean="0"/>
            <a:t>married</a:t>
          </a:r>
          <a:r>
            <a:rPr lang="de-DE" sz="1100" dirty="0" smtClean="0"/>
            <a:t> </a:t>
          </a:r>
          <a:r>
            <a:rPr lang="de-DE" sz="1100" dirty="0" err="1" smtClean="0"/>
            <a:t>children</a:t>
          </a:r>
          <a:endParaRPr lang="pl-PL" sz="1100" b="1" dirty="0" smtClean="0"/>
        </a:p>
        <a:p>
          <a:pPr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dirty="0" smtClean="0"/>
        </a:p>
      </dgm:t>
    </dgm:pt>
    <dgm:pt modelId="{978EE8D4-6FD5-4442-9E7E-EBF50DDAA9C4}" type="parTrans" cxnId="{9D906964-D3E8-499B-9C3A-603F511B2836}">
      <dgm:prSet/>
      <dgm:spPr>
        <a:ln>
          <a:solidFill>
            <a:srgbClr val="FF0000"/>
          </a:solidFill>
        </a:ln>
      </dgm:spPr>
      <dgm:t>
        <a:bodyPr/>
        <a:lstStyle/>
        <a:p>
          <a:endParaRPr lang="pl-PL"/>
        </a:p>
      </dgm:t>
    </dgm:pt>
    <dgm:pt modelId="{E547EEA4-D7CD-44D1-A05D-8ECA239824E7}" type="sibTrans" cxnId="{9D906964-D3E8-499B-9C3A-603F511B2836}">
      <dgm:prSet/>
      <dgm:spPr/>
      <dgm:t>
        <a:bodyPr/>
        <a:lstStyle/>
        <a:p>
          <a:endParaRPr lang="pl-PL"/>
        </a:p>
      </dgm:t>
    </dgm:pt>
    <dgm:pt modelId="{E8E60023-9C20-4AF6-B24F-716DD08760AA}">
      <dgm:prSet custT="1"/>
      <dgm:spPr/>
      <dgm:t>
        <a:bodyPr anchor="ctr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dirty="0" smtClean="0"/>
            <a:t>Male </a:t>
          </a:r>
          <a:r>
            <a:rPr lang="en-US" sz="1100" b="1" dirty="0" smtClean="0"/>
            <a:t>domination</a:t>
          </a:r>
          <a:r>
            <a:rPr lang="en-US" sz="1100" dirty="0" smtClean="0"/>
            <a:t>: proportion of </a:t>
          </a:r>
          <a:r>
            <a:rPr lang="pl-PL" sz="1100" dirty="0" smtClean="0"/>
            <a:t>household </a:t>
          </a:r>
          <a:r>
            <a:rPr lang="en-US" sz="1100" dirty="0" smtClean="0"/>
            <a:t>heads</a:t>
          </a:r>
          <a:r>
            <a:rPr lang="pl-PL" sz="1100" dirty="0" smtClean="0"/>
            <a:t> </a:t>
          </a:r>
          <a:r>
            <a:rPr lang="pl-PL" sz="1100" dirty="0" err="1" smtClean="0"/>
            <a:t>among</a:t>
          </a:r>
          <a:r>
            <a:rPr lang="pl-PL" sz="1100" dirty="0" smtClean="0"/>
            <a:t> </a:t>
          </a:r>
          <a:r>
            <a:rPr lang="pl-PL" sz="1100" dirty="0" err="1" smtClean="0"/>
            <a:t>elderly</a:t>
          </a:r>
          <a:r>
            <a:rPr lang="pl-PL" sz="1100" dirty="0" smtClean="0"/>
            <a:t> </a:t>
          </a:r>
          <a:r>
            <a:rPr lang="pl-PL" sz="1100" dirty="0" err="1" smtClean="0"/>
            <a:t>women</a:t>
          </a:r>
          <a:endParaRPr lang="pl-PL" sz="1100" dirty="0" smtClean="0"/>
        </a:p>
        <a:p>
          <a:pPr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b="1" dirty="0" smtClean="0"/>
        </a:p>
      </dgm:t>
    </dgm:pt>
    <dgm:pt modelId="{89316162-FBD7-4A85-BDAD-0F998ABB2025}" type="parTrans" cxnId="{30768B8B-4151-4545-A192-D963F132C030}">
      <dgm:prSet/>
      <dgm:spPr>
        <a:ln>
          <a:solidFill>
            <a:srgbClr val="FF0000"/>
          </a:solidFill>
        </a:ln>
      </dgm:spPr>
      <dgm:t>
        <a:bodyPr/>
        <a:lstStyle/>
        <a:p>
          <a:endParaRPr lang="pl-PL"/>
        </a:p>
      </dgm:t>
    </dgm:pt>
    <dgm:pt modelId="{6AA5080A-941A-4E34-B00B-2D5B385FBB83}" type="sibTrans" cxnId="{30768B8B-4151-4545-A192-D963F132C030}">
      <dgm:prSet/>
      <dgm:spPr/>
      <dgm:t>
        <a:bodyPr/>
        <a:lstStyle/>
        <a:p>
          <a:endParaRPr lang="pl-PL"/>
        </a:p>
      </dgm:t>
    </dgm:pt>
    <dgm:pt modelId="{96F6A96C-E454-4A50-BAD1-EC25AAC2C9AF}">
      <dgm:prSet custT="1"/>
      <dgm:spPr/>
      <dgm:t>
        <a:bodyPr anchor="ctr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dirty="0" err="1" smtClean="0"/>
            <a:t>Seniority</a:t>
          </a:r>
          <a:r>
            <a:rPr lang="en-US" sz="1100" dirty="0" smtClean="0"/>
            <a:t>: </a:t>
          </a:r>
          <a:r>
            <a:rPr lang="pl-PL" sz="1100" dirty="0" err="1" smtClean="0"/>
            <a:t>percent</a:t>
          </a:r>
          <a:r>
            <a:rPr lang="pl-PL" sz="1100" dirty="0" smtClean="0"/>
            <a:t> </a:t>
          </a:r>
          <a:r>
            <a:rPr lang="pl-PL" sz="1100" dirty="0" err="1" smtClean="0"/>
            <a:t>elderly</a:t>
          </a:r>
          <a:r>
            <a:rPr lang="pl-PL" sz="1100" dirty="0" smtClean="0"/>
            <a:t> </a:t>
          </a:r>
          <a:r>
            <a:rPr lang="pl-PL" sz="1100" dirty="0" err="1" smtClean="0"/>
            <a:t>in</a:t>
          </a:r>
          <a:r>
            <a:rPr lang="pl-PL" sz="1100" dirty="0" smtClean="0"/>
            <a:t> </a:t>
          </a:r>
          <a:r>
            <a:rPr lang="pl-PL" sz="1100" dirty="0" err="1" smtClean="0"/>
            <a:t>households</a:t>
          </a:r>
          <a:r>
            <a:rPr lang="pl-PL" sz="1100" dirty="0" smtClean="0"/>
            <a:t> </a:t>
          </a:r>
          <a:r>
            <a:rPr lang="pl-PL" sz="1100" dirty="0" err="1" smtClean="0"/>
            <a:t>headed</a:t>
          </a:r>
          <a:r>
            <a:rPr lang="pl-PL" sz="1100" dirty="0" smtClean="0"/>
            <a:t> by a </a:t>
          </a:r>
          <a:r>
            <a:rPr lang="pl-PL" sz="1100" dirty="0" err="1" smtClean="0"/>
            <a:t>man</a:t>
          </a:r>
          <a:r>
            <a:rPr lang="pl-PL" sz="1100" dirty="0" smtClean="0"/>
            <a:t> of a </a:t>
          </a:r>
          <a:r>
            <a:rPr lang="pl-PL" sz="1100" dirty="0" err="1" smtClean="0"/>
            <a:t>younger</a:t>
          </a:r>
          <a:r>
            <a:rPr lang="pl-PL" sz="1100" dirty="0" smtClean="0"/>
            <a:t> </a:t>
          </a:r>
          <a:r>
            <a:rPr lang="pl-PL" sz="1100" dirty="0" err="1" smtClean="0"/>
            <a:t>generation</a:t>
          </a:r>
          <a:endParaRPr lang="pl-PL" sz="1100" dirty="0" smtClean="0"/>
        </a:p>
        <a:p>
          <a:pPr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dirty="0" smtClean="0"/>
        </a:p>
      </dgm:t>
    </dgm:pt>
    <dgm:pt modelId="{4619B483-8B46-4DD6-ADDD-5D5A4FC3D750}" type="parTrans" cxnId="{02ABD1F3-218F-42E1-BF80-FBA24B91795E}">
      <dgm:prSet/>
      <dgm:spPr>
        <a:ln>
          <a:solidFill>
            <a:srgbClr val="FF0000"/>
          </a:solidFill>
        </a:ln>
      </dgm:spPr>
      <dgm:t>
        <a:bodyPr/>
        <a:lstStyle/>
        <a:p>
          <a:endParaRPr lang="pl-PL"/>
        </a:p>
      </dgm:t>
    </dgm:pt>
    <dgm:pt modelId="{63340164-01A7-4C25-94DF-FD2F68B4D431}" type="sibTrans" cxnId="{02ABD1F3-218F-42E1-BF80-FBA24B91795E}">
      <dgm:prSet/>
      <dgm:spPr/>
      <dgm:t>
        <a:bodyPr/>
        <a:lstStyle/>
        <a:p>
          <a:endParaRPr lang="pl-PL"/>
        </a:p>
      </dgm:t>
    </dgm:pt>
    <dgm:pt modelId="{FA7BD59C-9A0B-4956-AE7B-A32BF6D2F45E}">
      <dgm:prSet custT="1"/>
      <dgm:spPr/>
      <dgm:t>
        <a:bodyPr anchor="ctr" anchorCtr="1"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dirty="0" smtClean="0"/>
            <a:t>Density of kin</a:t>
          </a:r>
          <a:r>
            <a:rPr lang="pl-PL" sz="1100" dirty="0" smtClean="0"/>
            <a:t>: </a:t>
          </a:r>
          <a:r>
            <a:rPr lang="en-US" sz="1100" dirty="0" smtClean="0"/>
            <a:t>the number of co-resident kin</a:t>
          </a:r>
          <a:r>
            <a:rPr lang="pl-PL" sz="1100" dirty="0" smtClean="0"/>
            <a:t> of an elderly person </a:t>
          </a:r>
        </a:p>
        <a:p>
          <a:pPr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1000" dirty="0" smtClean="0"/>
        </a:p>
      </dgm:t>
    </dgm:pt>
    <dgm:pt modelId="{07C3AF59-A88A-4286-B054-EF59439D41B3}" type="parTrans" cxnId="{2A1EC977-6B38-49CF-8026-F20D29360F0E}">
      <dgm:prSet/>
      <dgm:spPr>
        <a:ln>
          <a:solidFill>
            <a:srgbClr val="FF0000"/>
          </a:solidFill>
        </a:ln>
      </dgm:spPr>
      <dgm:t>
        <a:bodyPr/>
        <a:lstStyle/>
        <a:p>
          <a:endParaRPr lang="pl-PL"/>
        </a:p>
      </dgm:t>
    </dgm:pt>
    <dgm:pt modelId="{9E67972D-67DD-4844-BD56-1B8B2F6EC06D}" type="sibTrans" cxnId="{2A1EC977-6B38-49CF-8026-F20D29360F0E}">
      <dgm:prSet/>
      <dgm:spPr/>
      <dgm:t>
        <a:bodyPr/>
        <a:lstStyle/>
        <a:p>
          <a:endParaRPr lang="pl-PL"/>
        </a:p>
      </dgm:t>
    </dgm:pt>
    <dgm:pt modelId="{C95FE03D-2FC9-482E-822A-A358C5DD4EE8}">
      <dgm:prSet custT="1"/>
      <dgm:spPr/>
      <dgm:t>
        <a:bodyPr anchor="ctr" anchorCtr="1"/>
        <a:lstStyle/>
        <a:p>
          <a:r>
            <a:rPr lang="pl-PL" sz="1100" b="1" dirty="0" smtClean="0"/>
            <a:t>Old </a:t>
          </a:r>
          <a:r>
            <a:rPr lang="pl-PL" sz="1100" b="1" dirty="0" err="1" smtClean="0"/>
            <a:t>age</a:t>
          </a:r>
          <a:r>
            <a:rPr lang="pl-PL" sz="1100" b="1" dirty="0" smtClean="0"/>
            <a:t> </a:t>
          </a:r>
          <a:r>
            <a:rPr lang="pl-PL" sz="1100" b="1" dirty="0" err="1" smtClean="0"/>
            <a:t>loneliness</a:t>
          </a:r>
          <a:r>
            <a:rPr lang="pl-PL" sz="1100" dirty="0" smtClean="0"/>
            <a:t>: </a:t>
          </a:r>
          <a:r>
            <a:rPr lang="pl-PL" sz="1100" dirty="0" err="1" smtClean="0"/>
            <a:t>share</a:t>
          </a:r>
          <a:r>
            <a:rPr lang="pl-PL" sz="1100" dirty="0" smtClean="0"/>
            <a:t> of </a:t>
          </a:r>
          <a:r>
            <a:rPr lang="pl-PL" sz="1100" dirty="0" err="1" smtClean="0"/>
            <a:t>elderly</a:t>
          </a:r>
          <a:r>
            <a:rPr lang="pl-PL" sz="1100" dirty="0" smtClean="0"/>
            <a:t> </a:t>
          </a:r>
          <a:r>
            <a:rPr lang="pl-PL" sz="1100" dirty="0" err="1" smtClean="0"/>
            <a:t>living</a:t>
          </a:r>
          <a:r>
            <a:rPr lang="pl-PL" sz="1100" dirty="0" smtClean="0"/>
            <a:t> </a:t>
          </a:r>
          <a:r>
            <a:rPr lang="pl-PL" sz="1100" dirty="0" err="1" smtClean="0"/>
            <a:t>either</a:t>
          </a:r>
          <a:r>
            <a:rPr lang="pl-PL" sz="1100" dirty="0" smtClean="0"/>
            <a:t> </a:t>
          </a:r>
          <a:r>
            <a:rPr lang="pl-PL" sz="1100" dirty="0" err="1" smtClean="0"/>
            <a:t>alone</a:t>
          </a:r>
          <a:r>
            <a:rPr lang="pl-PL" sz="1100" dirty="0" smtClean="0"/>
            <a:t>, </a:t>
          </a:r>
          <a:r>
            <a:rPr lang="pl-PL" sz="1100" dirty="0" err="1" smtClean="0"/>
            <a:t>with</a:t>
          </a:r>
          <a:r>
            <a:rPr lang="pl-PL" sz="1100" dirty="0" smtClean="0"/>
            <a:t> </a:t>
          </a:r>
          <a:r>
            <a:rPr lang="pl-PL" sz="1100" dirty="0" err="1" smtClean="0"/>
            <a:t>spouse</a:t>
          </a:r>
          <a:r>
            <a:rPr lang="pl-PL" sz="1100" dirty="0" smtClean="0"/>
            <a:t> </a:t>
          </a:r>
          <a:r>
            <a:rPr lang="pl-PL" sz="1100" dirty="0" err="1" smtClean="0"/>
            <a:t>only</a:t>
          </a:r>
          <a:r>
            <a:rPr lang="pl-PL" sz="1100" dirty="0" smtClean="0"/>
            <a:t>, </a:t>
          </a:r>
          <a:r>
            <a:rPr lang="pl-PL" sz="1100" dirty="0" err="1" smtClean="0"/>
            <a:t>or</a:t>
          </a:r>
          <a:r>
            <a:rPr lang="pl-PL" sz="1100" dirty="0" smtClean="0"/>
            <a:t> </a:t>
          </a:r>
          <a:r>
            <a:rPr lang="pl-PL" sz="1100" dirty="0" err="1" smtClean="0"/>
            <a:t>with</a:t>
          </a:r>
          <a:r>
            <a:rPr lang="pl-PL" sz="1100" dirty="0" smtClean="0"/>
            <a:t> non-kin</a:t>
          </a:r>
        </a:p>
      </dgm:t>
    </dgm:pt>
    <dgm:pt modelId="{52640D4D-9234-4B3C-A8CD-0551D05F1950}" type="parTrans" cxnId="{B0E2E0D8-6D0F-4C97-8308-C2A4F903B8AF}">
      <dgm:prSet/>
      <dgm:spPr>
        <a:ln w="34925">
          <a:solidFill>
            <a:srgbClr val="FF0000"/>
          </a:solidFill>
        </a:ln>
      </dgm:spPr>
      <dgm:t>
        <a:bodyPr/>
        <a:lstStyle/>
        <a:p>
          <a:endParaRPr lang="pl-PL"/>
        </a:p>
      </dgm:t>
    </dgm:pt>
    <dgm:pt modelId="{1C2915FA-AC16-4BE9-AE2B-4E9E8DB0453B}" type="sibTrans" cxnId="{B0E2E0D8-6D0F-4C97-8308-C2A4F903B8AF}">
      <dgm:prSet/>
      <dgm:spPr/>
      <dgm:t>
        <a:bodyPr/>
        <a:lstStyle/>
        <a:p>
          <a:endParaRPr lang="pl-PL"/>
        </a:p>
      </dgm:t>
    </dgm:pt>
    <dgm:pt modelId="{6810DEF9-77AA-4D8E-80C7-B90678CA8D74}" type="pres">
      <dgm:prSet presAssocID="{AD031020-981C-410A-B8E8-4604AD64A7F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2F660C8-23D9-4857-A034-55689D27230C}" type="pres">
      <dgm:prSet presAssocID="{711B1CCD-B594-414A-B08B-FB8160DD09A0}" presName="root" presStyleCnt="0"/>
      <dgm:spPr/>
    </dgm:pt>
    <dgm:pt modelId="{1C09BEBA-729E-4CE4-80AD-5E364E1AFCCC}" type="pres">
      <dgm:prSet presAssocID="{711B1CCD-B594-414A-B08B-FB8160DD09A0}" presName="rootComposite" presStyleCnt="0"/>
      <dgm:spPr/>
    </dgm:pt>
    <dgm:pt modelId="{DB6C9C14-690B-411B-ADC5-36D00595E656}" type="pres">
      <dgm:prSet presAssocID="{711B1CCD-B594-414A-B08B-FB8160DD09A0}" presName="rootText" presStyleLbl="node1" presStyleIdx="0" presStyleCnt="2" custScaleX="176238" custLinFactX="-17867" custLinFactNeighborX="-100000" custLinFactNeighborY="-738"/>
      <dgm:spPr/>
      <dgm:t>
        <a:bodyPr/>
        <a:lstStyle/>
        <a:p>
          <a:endParaRPr lang="pl-PL"/>
        </a:p>
      </dgm:t>
    </dgm:pt>
    <dgm:pt modelId="{2E9D6CAF-E337-42B3-8755-571265D94F06}" type="pres">
      <dgm:prSet presAssocID="{711B1CCD-B594-414A-B08B-FB8160DD09A0}" presName="rootConnector" presStyleLbl="node1" presStyleIdx="0" presStyleCnt="2"/>
      <dgm:spPr/>
      <dgm:t>
        <a:bodyPr/>
        <a:lstStyle/>
        <a:p>
          <a:endParaRPr lang="en-US"/>
        </a:p>
      </dgm:t>
    </dgm:pt>
    <dgm:pt modelId="{439BFC66-0643-4BF2-8210-098764A7E0AB}" type="pres">
      <dgm:prSet presAssocID="{711B1CCD-B594-414A-B08B-FB8160DD09A0}" presName="childShape" presStyleCnt="0"/>
      <dgm:spPr/>
    </dgm:pt>
    <dgm:pt modelId="{645E8FC9-B1CF-40BD-8C7A-8DEA930DA549}" type="pres">
      <dgm:prSet presAssocID="{F0F398A1-5C58-452E-A02D-B2F4E5935C16}" presName="Name13" presStyleLbl="parChTrans1D2" presStyleIdx="0" presStyleCnt="11"/>
      <dgm:spPr/>
      <dgm:t>
        <a:bodyPr/>
        <a:lstStyle/>
        <a:p>
          <a:endParaRPr lang="en-US"/>
        </a:p>
      </dgm:t>
    </dgm:pt>
    <dgm:pt modelId="{32F4CAD0-3A72-46B5-BA87-6546031144C5}" type="pres">
      <dgm:prSet presAssocID="{845DE07D-E7CD-4104-97B0-BD1392637878}" presName="childText" presStyleLbl="bgAcc1" presStyleIdx="0" presStyleCnt="11" custScaleX="221773" custScaleY="135449" custLinFactX="-14318" custLinFactNeighborX="-100000" custLinFactNeighborY="13011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A50C2615-C589-4E9A-842B-95E19E487052}" type="pres">
      <dgm:prSet presAssocID="{04360A05-1B23-4EC4-8FF3-28DCF880670C}" presName="Name13" presStyleLbl="parChTrans1D2" presStyleIdx="1" presStyleCnt="11"/>
      <dgm:spPr/>
      <dgm:t>
        <a:bodyPr/>
        <a:lstStyle/>
        <a:p>
          <a:endParaRPr lang="en-US"/>
        </a:p>
      </dgm:t>
    </dgm:pt>
    <dgm:pt modelId="{D98839FF-6345-4D47-AC6B-9639C91589BA}" type="pres">
      <dgm:prSet presAssocID="{469D1453-F5F5-4E2C-ABB3-79650F00D736}" presName="childText" presStyleLbl="bgAcc1" presStyleIdx="1" presStyleCnt="11" custScaleX="216836" custScaleY="107766" custLinFactX="-14318" custLinFactNeighborX="-100000" custLinFactNeighborY="13849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C7E8E65D-045C-493D-B07D-FC993CB1188E}" type="pres">
      <dgm:prSet presAssocID="{0410312E-3B40-4B9E-9D1E-FBACDBFAEF52}" presName="Name13" presStyleLbl="parChTrans1D2" presStyleIdx="2" presStyleCnt="11"/>
      <dgm:spPr/>
      <dgm:t>
        <a:bodyPr/>
        <a:lstStyle/>
        <a:p>
          <a:endParaRPr lang="en-US"/>
        </a:p>
      </dgm:t>
    </dgm:pt>
    <dgm:pt modelId="{EA9D0401-B80F-49AB-ABEC-2E9F35CBAF2E}" type="pres">
      <dgm:prSet presAssocID="{0023B101-367D-43A9-8BAA-B2BCE15ABB72}" presName="childText" presStyleLbl="bgAcc1" presStyleIdx="2" presStyleCnt="11" custScaleX="218938" custScaleY="83767" custLinFactX="-14318" custLinFactNeighborX="-100000" custLinFactNeighborY="19329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5E2B3D8D-C36F-47AB-AABE-254E2B2F1816}" type="pres">
      <dgm:prSet presAssocID="{4780D261-630C-4DDB-86AB-D6DD5F1D9AA7}" presName="Name13" presStyleLbl="parChTrans1D2" presStyleIdx="3" presStyleCnt="11"/>
      <dgm:spPr/>
      <dgm:t>
        <a:bodyPr/>
        <a:lstStyle/>
        <a:p>
          <a:endParaRPr lang="en-US"/>
        </a:p>
      </dgm:t>
    </dgm:pt>
    <dgm:pt modelId="{D018234C-52DA-4CC4-A52B-373E5DA926F0}" type="pres">
      <dgm:prSet presAssocID="{57A0203E-ABFC-4E68-9D5E-685724AE152C}" presName="childText" presStyleLbl="bgAcc1" presStyleIdx="3" presStyleCnt="11" custScaleX="222279" custScaleY="174071" custLinFactX="-15225" custLinFactNeighborX="-100000" custLinFactNeighborY="38566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E79AA554-D4BD-4F33-8713-989DA75E04EA}" type="pres">
      <dgm:prSet presAssocID="{1D0563EE-E891-4F54-B3F7-A07E37AF7CCF}" presName="root" presStyleCnt="0"/>
      <dgm:spPr/>
    </dgm:pt>
    <dgm:pt modelId="{5502B2B9-D26D-4542-BAFE-A98EF506349D}" type="pres">
      <dgm:prSet presAssocID="{1D0563EE-E891-4F54-B3F7-A07E37AF7CCF}" presName="rootComposite" presStyleCnt="0"/>
      <dgm:spPr/>
    </dgm:pt>
    <dgm:pt modelId="{D81D707C-908E-48CE-AF6A-20A182F1EC98}" type="pres">
      <dgm:prSet presAssocID="{1D0563EE-E891-4F54-B3F7-A07E37AF7CCF}" presName="rootText" presStyleLbl="node1" presStyleIdx="1" presStyleCnt="2" custScaleX="247617" custLinFactNeighborX="35200" custLinFactNeighborY="-738"/>
      <dgm:spPr/>
      <dgm:t>
        <a:bodyPr/>
        <a:lstStyle/>
        <a:p>
          <a:endParaRPr lang="pl-PL"/>
        </a:p>
      </dgm:t>
    </dgm:pt>
    <dgm:pt modelId="{ACF6C914-5842-4196-9399-93EFEB10F4A3}" type="pres">
      <dgm:prSet presAssocID="{1D0563EE-E891-4F54-B3F7-A07E37AF7CCF}" presName="rootConnector" presStyleLbl="node1" presStyleIdx="1" presStyleCnt="2"/>
      <dgm:spPr/>
      <dgm:t>
        <a:bodyPr/>
        <a:lstStyle/>
        <a:p>
          <a:endParaRPr lang="en-US"/>
        </a:p>
      </dgm:t>
    </dgm:pt>
    <dgm:pt modelId="{396581DE-5CFB-497B-9325-B386C9226784}" type="pres">
      <dgm:prSet presAssocID="{1D0563EE-E891-4F54-B3F7-A07E37AF7CCF}" presName="childShape" presStyleCnt="0"/>
      <dgm:spPr/>
    </dgm:pt>
    <dgm:pt modelId="{C1E950E0-E030-4E74-B33E-A24CC6F56BA1}" type="pres">
      <dgm:prSet presAssocID="{CCA8D30A-2982-4484-84E2-95263EF01E8F}" presName="Name13" presStyleLbl="parChTrans1D2" presStyleIdx="4" presStyleCnt="11"/>
      <dgm:spPr/>
      <dgm:t>
        <a:bodyPr/>
        <a:lstStyle/>
        <a:p>
          <a:endParaRPr lang="en-US"/>
        </a:p>
      </dgm:t>
    </dgm:pt>
    <dgm:pt modelId="{25EFAE00-8165-4684-B294-FCF43293DB48}" type="pres">
      <dgm:prSet presAssocID="{B38C8E61-1D44-43DE-92CD-37A1DFE05E1A}" presName="childText" presStyleLbl="bgAcc1" presStyleIdx="4" presStyleCnt="11" custScaleX="292787" custLinFactNeighborX="91510" custLinFactNeighborY="-10030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E1EF86EE-61CD-4D28-95AF-104355F6A7FB}" type="pres">
      <dgm:prSet presAssocID="{A72CCBB3-B928-48D8-BCB9-70EF799767F2}" presName="Name13" presStyleLbl="parChTrans1D2" presStyleIdx="5" presStyleCnt="11"/>
      <dgm:spPr/>
      <dgm:t>
        <a:bodyPr/>
        <a:lstStyle/>
        <a:p>
          <a:endParaRPr lang="en-US"/>
        </a:p>
      </dgm:t>
    </dgm:pt>
    <dgm:pt modelId="{3B3884D5-CEF4-4037-9D9E-CC601BA17C0C}" type="pres">
      <dgm:prSet presAssocID="{BD416BA6-AC55-4336-888C-4309C05A08FF}" presName="childText" presStyleLbl="bgAcc1" presStyleIdx="5" presStyleCnt="11" custScaleX="292064" custLinFactNeighborX="91510" custLinFactNeighborY="-830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D02EEF02-A621-4151-AF1C-9CB436F1A365}" type="pres">
      <dgm:prSet presAssocID="{978EE8D4-6FD5-4442-9E7E-EBF50DDAA9C4}" presName="Name13" presStyleLbl="parChTrans1D2" presStyleIdx="6" presStyleCnt="11"/>
      <dgm:spPr/>
      <dgm:t>
        <a:bodyPr/>
        <a:lstStyle/>
        <a:p>
          <a:endParaRPr lang="en-US"/>
        </a:p>
      </dgm:t>
    </dgm:pt>
    <dgm:pt modelId="{0F55E9B1-A0ED-4AB2-B661-A46B51BFEFC1}" type="pres">
      <dgm:prSet presAssocID="{810C9E92-34BD-4FFC-9208-AE7F946C3060}" presName="childText" presStyleLbl="bgAcc1" presStyleIdx="6" presStyleCnt="11" custScaleX="292656" custLinFactNeighborX="91510" custLinFactNeighborY="-18099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AF73ADDD-09BA-4C67-BE7A-47BF6E9D0D29}" type="pres">
      <dgm:prSet presAssocID="{89316162-FBD7-4A85-BDAD-0F998ABB2025}" presName="Name13" presStyleLbl="parChTrans1D2" presStyleIdx="7" presStyleCnt="11"/>
      <dgm:spPr/>
      <dgm:t>
        <a:bodyPr/>
        <a:lstStyle/>
        <a:p>
          <a:endParaRPr lang="en-US"/>
        </a:p>
      </dgm:t>
    </dgm:pt>
    <dgm:pt modelId="{52B80284-0438-425F-879D-E02DAED8A051}" type="pres">
      <dgm:prSet presAssocID="{E8E60023-9C20-4AF6-B24F-716DD08760AA}" presName="childText" presStyleLbl="bgAcc1" presStyleIdx="7" presStyleCnt="11" custScaleX="294863" custLinFactNeighborX="91510" custLinFactNeighborY="-16374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1117A776-73F9-4BD9-B81A-9F952C6038A5}" type="pres">
      <dgm:prSet presAssocID="{4619B483-8B46-4DD6-ADDD-5D5A4FC3D750}" presName="Name13" presStyleLbl="parChTrans1D2" presStyleIdx="8" presStyleCnt="11"/>
      <dgm:spPr/>
      <dgm:t>
        <a:bodyPr/>
        <a:lstStyle/>
        <a:p>
          <a:endParaRPr lang="en-US"/>
        </a:p>
      </dgm:t>
    </dgm:pt>
    <dgm:pt modelId="{D39844CD-0D7D-4B5A-9A0A-DE3782086A47}" type="pres">
      <dgm:prSet presAssocID="{96F6A96C-E454-4A50-BAD1-EC25AAC2C9AF}" presName="childText" presStyleLbl="bgAcc1" presStyleIdx="8" presStyleCnt="11" custScaleX="294863" custLinFactNeighborX="91510" custLinFactNeighborY="-14648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9AF6A6DD-F962-42EB-AAA7-C3A752F70A5B}" type="pres">
      <dgm:prSet presAssocID="{07C3AF59-A88A-4286-B054-EF59439D41B3}" presName="Name13" presStyleLbl="parChTrans1D2" presStyleIdx="9" presStyleCnt="11"/>
      <dgm:spPr/>
      <dgm:t>
        <a:bodyPr/>
        <a:lstStyle/>
        <a:p>
          <a:endParaRPr lang="pl-PL"/>
        </a:p>
      </dgm:t>
    </dgm:pt>
    <dgm:pt modelId="{7DD1DCD0-E393-44A9-86FB-DCA16A7DB9D3}" type="pres">
      <dgm:prSet presAssocID="{FA7BD59C-9A0B-4956-AE7B-A32BF6D2F45E}" presName="childText" presStyleLbl="bgAcc1" presStyleIdx="9" presStyleCnt="11" custScaleX="294863" custScaleY="76351" custLinFactNeighborX="91510" custLinFactNeighborY="-24443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  <dgm:pt modelId="{7BCF3A65-317F-4F6F-9080-D7123E25E83B}" type="pres">
      <dgm:prSet presAssocID="{52640D4D-9234-4B3C-A8CD-0551D05F1950}" presName="Name13" presStyleLbl="parChTrans1D2" presStyleIdx="10" presStyleCnt="11"/>
      <dgm:spPr/>
      <dgm:t>
        <a:bodyPr/>
        <a:lstStyle/>
        <a:p>
          <a:endParaRPr lang="en-US"/>
        </a:p>
      </dgm:t>
    </dgm:pt>
    <dgm:pt modelId="{0D5055AD-7F3D-4D8F-B05B-C5C64FCF1E40}" type="pres">
      <dgm:prSet presAssocID="{C95FE03D-2FC9-482E-822A-A358C5DD4EE8}" presName="childText" presStyleLbl="bgAcc1" presStyleIdx="10" presStyleCnt="11" custScaleX="292330" custLinFactNeighborX="91510" custLinFactNeighborY="-33630">
        <dgm:presLayoutVars>
          <dgm:bulletEnabled val="1"/>
        </dgm:presLayoutVars>
      </dgm:prSet>
      <dgm:spPr/>
      <dgm:t>
        <a:bodyPr/>
        <a:lstStyle/>
        <a:p>
          <a:endParaRPr lang="pl-PL"/>
        </a:p>
      </dgm:t>
    </dgm:pt>
  </dgm:ptLst>
  <dgm:cxnLst>
    <dgm:cxn modelId="{F278F859-E7E3-4BE4-82B7-7DFE5AF3026D}" type="presOf" srcId="{1D0563EE-E891-4F54-B3F7-A07E37AF7CCF}" destId="{D81D707C-908E-48CE-AF6A-20A182F1EC98}" srcOrd="0" destOrd="0" presId="urn:microsoft.com/office/officeart/2005/8/layout/hierarchy3"/>
    <dgm:cxn modelId="{2786E1A8-143F-4B34-8544-FA1709C36FEA}" type="presOf" srcId="{FA7BD59C-9A0B-4956-AE7B-A32BF6D2F45E}" destId="{7DD1DCD0-E393-44A9-86FB-DCA16A7DB9D3}" srcOrd="0" destOrd="0" presId="urn:microsoft.com/office/officeart/2005/8/layout/hierarchy3"/>
    <dgm:cxn modelId="{6989233C-FCD2-4B99-8813-BB6A854D8C5B}" srcId="{711B1CCD-B594-414A-B08B-FB8160DD09A0}" destId="{469D1453-F5F5-4E2C-ABB3-79650F00D736}" srcOrd="1" destOrd="0" parTransId="{04360A05-1B23-4EC4-8FF3-28DCF880670C}" sibTransId="{FD3B5FBE-969C-42A4-BAE4-FDDCCB1E8EEB}"/>
    <dgm:cxn modelId="{F31406DD-1A81-4EE7-BDAE-648FC7A30AEA}" type="presOf" srcId="{711B1CCD-B594-414A-B08B-FB8160DD09A0}" destId="{2E9D6CAF-E337-42B3-8755-571265D94F06}" srcOrd="1" destOrd="0" presId="urn:microsoft.com/office/officeart/2005/8/layout/hierarchy3"/>
    <dgm:cxn modelId="{5E35272A-A688-4C77-B805-775BCBAE3D41}" type="presOf" srcId="{711B1CCD-B594-414A-B08B-FB8160DD09A0}" destId="{DB6C9C14-690B-411B-ADC5-36D00595E656}" srcOrd="0" destOrd="0" presId="urn:microsoft.com/office/officeart/2005/8/layout/hierarchy3"/>
    <dgm:cxn modelId="{4EAA172C-92E7-43D9-A27B-3811240744CE}" srcId="{AD031020-981C-410A-B8E8-4604AD64A7F6}" destId="{1D0563EE-E891-4F54-B3F7-A07E37AF7CCF}" srcOrd="1" destOrd="0" parTransId="{2B1185BE-3CEC-4E7B-8B42-F0618C23D784}" sibTransId="{DA894685-FE07-4FCD-887C-23C44AA23688}"/>
    <dgm:cxn modelId="{A0B6034D-286B-4083-B414-07E6623FA568}" type="presOf" srcId="{845DE07D-E7CD-4104-97B0-BD1392637878}" destId="{32F4CAD0-3A72-46B5-BA87-6546031144C5}" srcOrd="0" destOrd="0" presId="urn:microsoft.com/office/officeart/2005/8/layout/hierarchy3"/>
    <dgm:cxn modelId="{B0E2E0D8-6D0F-4C97-8308-C2A4F903B8AF}" srcId="{1D0563EE-E891-4F54-B3F7-A07E37AF7CCF}" destId="{C95FE03D-2FC9-482E-822A-A358C5DD4EE8}" srcOrd="6" destOrd="0" parTransId="{52640D4D-9234-4B3C-A8CD-0551D05F1950}" sibTransId="{1C2915FA-AC16-4BE9-AE2B-4E9E8DB0453B}"/>
    <dgm:cxn modelId="{6FD34E95-BE3A-40FB-BFD1-FA726429EA18}" type="presOf" srcId="{F0F398A1-5C58-452E-A02D-B2F4E5935C16}" destId="{645E8FC9-B1CF-40BD-8C7A-8DEA930DA549}" srcOrd="0" destOrd="0" presId="urn:microsoft.com/office/officeart/2005/8/layout/hierarchy3"/>
    <dgm:cxn modelId="{38C89CBB-39DB-435E-9744-47CC42E8335A}" type="presOf" srcId="{4619B483-8B46-4DD6-ADDD-5D5A4FC3D750}" destId="{1117A776-73F9-4BD9-B81A-9F952C6038A5}" srcOrd="0" destOrd="0" presId="urn:microsoft.com/office/officeart/2005/8/layout/hierarchy3"/>
    <dgm:cxn modelId="{B08BCAD7-E026-4FC7-A828-889F89DD6748}" type="presOf" srcId="{52640D4D-9234-4B3C-A8CD-0551D05F1950}" destId="{7BCF3A65-317F-4F6F-9080-D7123E25E83B}" srcOrd="0" destOrd="0" presId="urn:microsoft.com/office/officeart/2005/8/layout/hierarchy3"/>
    <dgm:cxn modelId="{C657E61A-C5E1-4C4F-A2A5-F69FB09B1F9E}" type="presOf" srcId="{4780D261-630C-4DDB-86AB-D6DD5F1D9AA7}" destId="{5E2B3D8D-C36F-47AB-AABE-254E2B2F1816}" srcOrd="0" destOrd="0" presId="urn:microsoft.com/office/officeart/2005/8/layout/hierarchy3"/>
    <dgm:cxn modelId="{02ABD1F3-218F-42E1-BF80-FBA24B91795E}" srcId="{1D0563EE-E891-4F54-B3F7-A07E37AF7CCF}" destId="{96F6A96C-E454-4A50-BAD1-EC25AAC2C9AF}" srcOrd="4" destOrd="0" parTransId="{4619B483-8B46-4DD6-ADDD-5D5A4FC3D750}" sibTransId="{63340164-01A7-4C25-94DF-FD2F68B4D431}"/>
    <dgm:cxn modelId="{4D5FA39C-B629-4943-A4D5-7C248CF4E4C7}" type="presOf" srcId="{978EE8D4-6FD5-4442-9E7E-EBF50DDAA9C4}" destId="{D02EEF02-A621-4151-AF1C-9CB436F1A365}" srcOrd="0" destOrd="0" presId="urn:microsoft.com/office/officeart/2005/8/layout/hierarchy3"/>
    <dgm:cxn modelId="{70DC9347-1360-4C77-A10C-95F20F85927D}" type="presOf" srcId="{AD031020-981C-410A-B8E8-4604AD64A7F6}" destId="{6810DEF9-77AA-4D8E-80C7-B90678CA8D74}" srcOrd="0" destOrd="0" presId="urn:microsoft.com/office/officeart/2005/8/layout/hierarchy3"/>
    <dgm:cxn modelId="{EF327DBB-ABB7-492E-AF5F-9C1A973181A0}" type="presOf" srcId="{0410312E-3B40-4B9E-9D1E-FBACDBFAEF52}" destId="{C7E8E65D-045C-493D-B07D-FC993CB1188E}" srcOrd="0" destOrd="0" presId="urn:microsoft.com/office/officeart/2005/8/layout/hierarchy3"/>
    <dgm:cxn modelId="{E569CF02-CE4F-49E1-BD95-092EF3FD2F70}" type="presOf" srcId="{57A0203E-ABFC-4E68-9D5E-685724AE152C}" destId="{D018234C-52DA-4CC4-A52B-373E5DA926F0}" srcOrd="0" destOrd="0" presId="urn:microsoft.com/office/officeart/2005/8/layout/hierarchy3"/>
    <dgm:cxn modelId="{28837031-CDCF-4EA8-A4D9-F8AE1DA56EBB}" type="presOf" srcId="{96F6A96C-E454-4A50-BAD1-EC25AAC2C9AF}" destId="{D39844CD-0D7D-4B5A-9A0A-DE3782086A47}" srcOrd="0" destOrd="0" presId="urn:microsoft.com/office/officeart/2005/8/layout/hierarchy3"/>
    <dgm:cxn modelId="{80CBDF4F-133D-4791-9608-CFE8CF03B43F}" srcId="{711B1CCD-B594-414A-B08B-FB8160DD09A0}" destId="{845DE07D-E7CD-4104-97B0-BD1392637878}" srcOrd="0" destOrd="0" parTransId="{F0F398A1-5C58-452E-A02D-B2F4E5935C16}" sibTransId="{FFA87F06-F58D-48B2-9E8F-C9D7D836CB9A}"/>
    <dgm:cxn modelId="{04281E4E-8D7D-45AE-BB88-60311B1C6399}" srcId="{1D0563EE-E891-4F54-B3F7-A07E37AF7CCF}" destId="{BD416BA6-AC55-4336-888C-4309C05A08FF}" srcOrd="1" destOrd="0" parTransId="{A72CCBB3-B928-48D8-BCB9-70EF799767F2}" sibTransId="{5D3A6A23-200F-4BE3-815B-DFE0816D21C2}"/>
    <dgm:cxn modelId="{B2D27D91-0DE2-4334-B8E8-618C65359A2C}" srcId="{711B1CCD-B594-414A-B08B-FB8160DD09A0}" destId="{0023B101-367D-43A9-8BAA-B2BCE15ABB72}" srcOrd="2" destOrd="0" parTransId="{0410312E-3B40-4B9E-9D1E-FBACDBFAEF52}" sibTransId="{BB7CFDA2-67DC-4D7C-A918-290E31CAD8B4}"/>
    <dgm:cxn modelId="{04AE5289-0271-4421-8ADA-7E7BD02C76A8}" type="presOf" srcId="{0023B101-367D-43A9-8BAA-B2BCE15ABB72}" destId="{EA9D0401-B80F-49AB-ABEC-2E9F35CBAF2E}" srcOrd="0" destOrd="0" presId="urn:microsoft.com/office/officeart/2005/8/layout/hierarchy3"/>
    <dgm:cxn modelId="{E67ED51C-6D90-4949-87A5-B89F8DD2B6DC}" type="presOf" srcId="{89316162-FBD7-4A85-BDAD-0F998ABB2025}" destId="{AF73ADDD-09BA-4C67-BE7A-47BF6E9D0D29}" srcOrd="0" destOrd="0" presId="urn:microsoft.com/office/officeart/2005/8/layout/hierarchy3"/>
    <dgm:cxn modelId="{5CD5A467-60C7-40AE-BECA-6B208D7EE465}" type="presOf" srcId="{A72CCBB3-B928-48D8-BCB9-70EF799767F2}" destId="{E1EF86EE-61CD-4D28-95AF-104355F6A7FB}" srcOrd="0" destOrd="0" presId="urn:microsoft.com/office/officeart/2005/8/layout/hierarchy3"/>
    <dgm:cxn modelId="{9D906964-D3E8-499B-9C3A-603F511B2836}" srcId="{1D0563EE-E891-4F54-B3F7-A07E37AF7CCF}" destId="{810C9E92-34BD-4FFC-9208-AE7F946C3060}" srcOrd="2" destOrd="0" parTransId="{978EE8D4-6FD5-4442-9E7E-EBF50DDAA9C4}" sibTransId="{E547EEA4-D7CD-44D1-A05D-8ECA239824E7}"/>
    <dgm:cxn modelId="{536763B0-3077-4A53-BAB4-4DE7CE06BA84}" type="presOf" srcId="{CCA8D30A-2982-4484-84E2-95263EF01E8F}" destId="{C1E950E0-E030-4E74-B33E-A24CC6F56BA1}" srcOrd="0" destOrd="0" presId="urn:microsoft.com/office/officeart/2005/8/layout/hierarchy3"/>
    <dgm:cxn modelId="{6038B20F-3FE2-4A71-B468-ECC00CF95581}" type="presOf" srcId="{B38C8E61-1D44-43DE-92CD-37A1DFE05E1A}" destId="{25EFAE00-8165-4684-B294-FCF43293DB48}" srcOrd="0" destOrd="0" presId="urn:microsoft.com/office/officeart/2005/8/layout/hierarchy3"/>
    <dgm:cxn modelId="{DCBE66C8-3C0D-47FB-9874-911D73C3A25C}" type="presOf" srcId="{810C9E92-34BD-4FFC-9208-AE7F946C3060}" destId="{0F55E9B1-A0ED-4AB2-B661-A46B51BFEFC1}" srcOrd="0" destOrd="0" presId="urn:microsoft.com/office/officeart/2005/8/layout/hierarchy3"/>
    <dgm:cxn modelId="{CA30FD03-4E8E-4E52-A82F-660ACB721325}" type="presOf" srcId="{E8E60023-9C20-4AF6-B24F-716DD08760AA}" destId="{52B80284-0438-425F-879D-E02DAED8A051}" srcOrd="0" destOrd="0" presId="urn:microsoft.com/office/officeart/2005/8/layout/hierarchy3"/>
    <dgm:cxn modelId="{69085737-49BB-48FE-B673-F977A944A906}" type="presOf" srcId="{07C3AF59-A88A-4286-B054-EF59439D41B3}" destId="{9AF6A6DD-F962-42EB-AAA7-C3A752F70A5B}" srcOrd="0" destOrd="0" presId="urn:microsoft.com/office/officeart/2005/8/layout/hierarchy3"/>
    <dgm:cxn modelId="{44044268-B6CE-471E-AEB7-40430F54C70B}" type="presOf" srcId="{C95FE03D-2FC9-482E-822A-A358C5DD4EE8}" destId="{0D5055AD-7F3D-4D8F-B05B-C5C64FCF1E40}" srcOrd="0" destOrd="0" presId="urn:microsoft.com/office/officeart/2005/8/layout/hierarchy3"/>
    <dgm:cxn modelId="{F6B3F45C-F0E6-49A4-B63B-EDEC5177F62E}" srcId="{711B1CCD-B594-414A-B08B-FB8160DD09A0}" destId="{57A0203E-ABFC-4E68-9D5E-685724AE152C}" srcOrd="3" destOrd="0" parTransId="{4780D261-630C-4DDB-86AB-D6DD5F1D9AA7}" sibTransId="{C1FA61DE-EE87-4D75-ADB8-250B8B0A018A}"/>
    <dgm:cxn modelId="{71B918D6-A8D5-47BF-8572-EF47E6A2A899}" type="presOf" srcId="{04360A05-1B23-4EC4-8FF3-28DCF880670C}" destId="{A50C2615-C589-4E9A-842B-95E19E487052}" srcOrd="0" destOrd="0" presId="urn:microsoft.com/office/officeart/2005/8/layout/hierarchy3"/>
    <dgm:cxn modelId="{64EDA917-CD42-4D23-816D-EEFA71B2F1CE}" srcId="{1D0563EE-E891-4F54-B3F7-A07E37AF7CCF}" destId="{B38C8E61-1D44-43DE-92CD-37A1DFE05E1A}" srcOrd="0" destOrd="0" parTransId="{CCA8D30A-2982-4484-84E2-95263EF01E8F}" sibTransId="{D7F4043F-200A-400A-9E90-7BB36C570326}"/>
    <dgm:cxn modelId="{2A1EC977-6B38-49CF-8026-F20D29360F0E}" srcId="{1D0563EE-E891-4F54-B3F7-A07E37AF7CCF}" destId="{FA7BD59C-9A0B-4956-AE7B-A32BF6D2F45E}" srcOrd="5" destOrd="0" parTransId="{07C3AF59-A88A-4286-B054-EF59439D41B3}" sibTransId="{9E67972D-67DD-4844-BD56-1B8B2F6EC06D}"/>
    <dgm:cxn modelId="{D07035E1-41A2-40AA-A598-03AC9296F57B}" type="presOf" srcId="{469D1453-F5F5-4E2C-ABB3-79650F00D736}" destId="{D98839FF-6345-4D47-AC6B-9639C91589BA}" srcOrd="0" destOrd="0" presId="urn:microsoft.com/office/officeart/2005/8/layout/hierarchy3"/>
    <dgm:cxn modelId="{30768B8B-4151-4545-A192-D963F132C030}" srcId="{1D0563EE-E891-4F54-B3F7-A07E37AF7CCF}" destId="{E8E60023-9C20-4AF6-B24F-716DD08760AA}" srcOrd="3" destOrd="0" parTransId="{89316162-FBD7-4A85-BDAD-0F998ABB2025}" sibTransId="{6AA5080A-941A-4E34-B00B-2D5B385FBB83}"/>
    <dgm:cxn modelId="{B65BBE8B-B350-4823-BBCF-3FEF0F3C7A88}" type="presOf" srcId="{1D0563EE-E891-4F54-B3F7-A07E37AF7CCF}" destId="{ACF6C914-5842-4196-9399-93EFEB10F4A3}" srcOrd="1" destOrd="0" presId="urn:microsoft.com/office/officeart/2005/8/layout/hierarchy3"/>
    <dgm:cxn modelId="{5486D7CB-97E2-4881-8580-68D0A17304CD}" srcId="{AD031020-981C-410A-B8E8-4604AD64A7F6}" destId="{711B1CCD-B594-414A-B08B-FB8160DD09A0}" srcOrd="0" destOrd="0" parTransId="{2B50D16A-5426-4FFA-9447-06F5B8C0EC08}" sibTransId="{63FF8E7F-0DEA-45C2-BD08-F63679E64F9D}"/>
    <dgm:cxn modelId="{AE8DA9A7-5838-49E2-9B19-696D42C4B662}" type="presOf" srcId="{BD416BA6-AC55-4336-888C-4309C05A08FF}" destId="{3B3884D5-CEF4-4037-9D9E-CC601BA17C0C}" srcOrd="0" destOrd="0" presId="urn:microsoft.com/office/officeart/2005/8/layout/hierarchy3"/>
    <dgm:cxn modelId="{9940E383-023E-4B67-919B-8E1AC84A0438}" type="presParOf" srcId="{6810DEF9-77AA-4D8E-80C7-B90678CA8D74}" destId="{32F660C8-23D9-4857-A034-55689D27230C}" srcOrd="0" destOrd="0" presId="urn:microsoft.com/office/officeart/2005/8/layout/hierarchy3"/>
    <dgm:cxn modelId="{058A6EF6-2524-4E26-A865-90C73E1B855F}" type="presParOf" srcId="{32F660C8-23D9-4857-A034-55689D27230C}" destId="{1C09BEBA-729E-4CE4-80AD-5E364E1AFCCC}" srcOrd="0" destOrd="0" presId="urn:microsoft.com/office/officeart/2005/8/layout/hierarchy3"/>
    <dgm:cxn modelId="{FB611BEE-83F6-4510-9C1B-923EB966018F}" type="presParOf" srcId="{1C09BEBA-729E-4CE4-80AD-5E364E1AFCCC}" destId="{DB6C9C14-690B-411B-ADC5-36D00595E656}" srcOrd="0" destOrd="0" presId="urn:microsoft.com/office/officeart/2005/8/layout/hierarchy3"/>
    <dgm:cxn modelId="{2CD24D09-2489-4DB3-A8BA-895E300BFEC3}" type="presParOf" srcId="{1C09BEBA-729E-4CE4-80AD-5E364E1AFCCC}" destId="{2E9D6CAF-E337-42B3-8755-571265D94F06}" srcOrd="1" destOrd="0" presId="urn:microsoft.com/office/officeart/2005/8/layout/hierarchy3"/>
    <dgm:cxn modelId="{BE5AE576-407E-41D8-8C27-4A925BDAE1E3}" type="presParOf" srcId="{32F660C8-23D9-4857-A034-55689D27230C}" destId="{439BFC66-0643-4BF2-8210-098764A7E0AB}" srcOrd="1" destOrd="0" presId="urn:microsoft.com/office/officeart/2005/8/layout/hierarchy3"/>
    <dgm:cxn modelId="{83909A04-AD55-4E54-B545-78891757474A}" type="presParOf" srcId="{439BFC66-0643-4BF2-8210-098764A7E0AB}" destId="{645E8FC9-B1CF-40BD-8C7A-8DEA930DA549}" srcOrd="0" destOrd="0" presId="urn:microsoft.com/office/officeart/2005/8/layout/hierarchy3"/>
    <dgm:cxn modelId="{E3AE226E-4210-4152-98AD-65A30BE9AFE3}" type="presParOf" srcId="{439BFC66-0643-4BF2-8210-098764A7E0AB}" destId="{32F4CAD0-3A72-46B5-BA87-6546031144C5}" srcOrd="1" destOrd="0" presId="urn:microsoft.com/office/officeart/2005/8/layout/hierarchy3"/>
    <dgm:cxn modelId="{B392655A-8026-44F9-AEAE-30CFC76F2083}" type="presParOf" srcId="{439BFC66-0643-4BF2-8210-098764A7E0AB}" destId="{A50C2615-C589-4E9A-842B-95E19E487052}" srcOrd="2" destOrd="0" presId="urn:microsoft.com/office/officeart/2005/8/layout/hierarchy3"/>
    <dgm:cxn modelId="{F837DF31-1F46-46FF-9993-E7259C916840}" type="presParOf" srcId="{439BFC66-0643-4BF2-8210-098764A7E0AB}" destId="{D98839FF-6345-4D47-AC6B-9639C91589BA}" srcOrd="3" destOrd="0" presId="urn:microsoft.com/office/officeart/2005/8/layout/hierarchy3"/>
    <dgm:cxn modelId="{FD888D8E-DD29-4148-84AD-58630B584F45}" type="presParOf" srcId="{439BFC66-0643-4BF2-8210-098764A7E0AB}" destId="{C7E8E65D-045C-493D-B07D-FC993CB1188E}" srcOrd="4" destOrd="0" presId="urn:microsoft.com/office/officeart/2005/8/layout/hierarchy3"/>
    <dgm:cxn modelId="{F8866EE5-63B0-416B-9B52-D1E766511CA6}" type="presParOf" srcId="{439BFC66-0643-4BF2-8210-098764A7E0AB}" destId="{EA9D0401-B80F-49AB-ABEC-2E9F35CBAF2E}" srcOrd="5" destOrd="0" presId="urn:microsoft.com/office/officeart/2005/8/layout/hierarchy3"/>
    <dgm:cxn modelId="{888951CF-505B-4A9C-912A-CC7E1DFC6DD8}" type="presParOf" srcId="{439BFC66-0643-4BF2-8210-098764A7E0AB}" destId="{5E2B3D8D-C36F-47AB-AABE-254E2B2F1816}" srcOrd="6" destOrd="0" presId="urn:microsoft.com/office/officeart/2005/8/layout/hierarchy3"/>
    <dgm:cxn modelId="{7104544B-658D-458B-BBCA-C1A0232B909C}" type="presParOf" srcId="{439BFC66-0643-4BF2-8210-098764A7E0AB}" destId="{D018234C-52DA-4CC4-A52B-373E5DA926F0}" srcOrd="7" destOrd="0" presId="urn:microsoft.com/office/officeart/2005/8/layout/hierarchy3"/>
    <dgm:cxn modelId="{085F5BEF-850B-4533-B578-65862D05D263}" type="presParOf" srcId="{6810DEF9-77AA-4D8E-80C7-B90678CA8D74}" destId="{E79AA554-D4BD-4F33-8713-989DA75E04EA}" srcOrd="1" destOrd="0" presId="urn:microsoft.com/office/officeart/2005/8/layout/hierarchy3"/>
    <dgm:cxn modelId="{5D12CB70-299A-48CC-8411-581B6755C13A}" type="presParOf" srcId="{E79AA554-D4BD-4F33-8713-989DA75E04EA}" destId="{5502B2B9-D26D-4542-BAFE-A98EF506349D}" srcOrd="0" destOrd="0" presId="urn:microsoft.com/office/officeart/2005/8/layout/hierarchy3"/>
    <dgm:cxn modelId="{1C252025-AF4A-43F7-B98D-C6241EEB37F7}" type="presParOf" srcId="{5502B2B9-D26D-4542-BAFE-A98EF506349D}" destId="{D81D707C-908E-48CE-AF6A-20A182F1EC98}" srcOrd="0" destOrd="0" presId="urn:microsoft.com/office/officeart/2005/8/layout/hierarchy3"/>
    <dgm:cxn modelId="{1F7F83D5-9F72-458E-A990-18BCA6622DFF}" type="presParOf" srcId="{5502B2B9-D26D-4542-BAFE-A98EF506349D}" destId="{ACF6C914-5842-4196-9399-93EFEB10F4A3}" srcOrd="1" destOrd="0" presId="urn:microsoft.com/office/officeart/2005/8/layout/hierarchy3"/>
    <dgm:cxn modelId="{C02FDAEC-FB0E-4FCF-910F-8F3446130CB8}" type="presParOf" srcId="{E79AA554-D4BD-4F33-8713-989DA75E04EA}" destId="{396581DE-5CFB-497B-9325-B386C9226784}" srcOrd="1" destOrd="0" presId="urn:microsoft.com/office/officeart/2005/8/layout/hierarchy3"/>
    <dgm:cxn modelId="{5A8556DB-5D8B-4F85-AA03-515D32F268ED}" type="presParOf" srcId="{396581DE-5CFB-497B-9325-B386C9226784}" destId="{C1E950E0-E030-4E74-B33E-A24CC6F56BA1}" srcOrd="0" destOrd="0" presId="urn:microsoft.com/office/officeart/2005/8/layout/hierarchy3"/>
    <dgm:cxn modelId="{96047B51-FD38-4124-849C-8B768E19DA8F}" type="presParOf" srcId="{396581DE-5CFB-497B-9325-B386C9226784}" destId="{25EFAE00-8165-4684-B294-FCF43293DB48}" srcOrd="1" destOrd="0" presId="urn:microsoft.com/office/officeart/2005/8/layout/hierarchy3"/>
    <dgm:cxn modelId="{E1F77E90-A9E6-494D-9BEA-61D7E8F4B0AA}" type="presParOf" srcId="{396581DE-5CFB-497B-9325-B386C9226784}" destId="{E1EF86EE-61CD-4D28-95AF-104355F6A7FB}" srcOrd="2" destOrd="0" presId="urn:microsoft.com/office/officeart/2005/8/layout/hierarchy3"/>
    <dgm:cxn modelId="{88A9DFBE-0BA9-4A06-8857-436E8A364E40}" type="presParOf" srcId="{396581DE-5CFB-497B-9325-B386C9226784}" destId="{3B3884D5-CEF4-4037-9D9E-CC601BA17C0C}" srcOrd="3" destOrd="0" presId="urn:microsoft.com/office/officeart/2005/8/layout/hierarchy3"/>
    <dgm:cxn modelId="{9A3C26BA-58E9-44E2-B621-883336101A11}" type="presParOf" srcId="{396581DE-5CFB-497B-9325-B386C9226784}" destId="{D02EEF02-A621-4151-AF1C-9CB436F1A365}" srcOrd="4" destOrd="0" presId="urn:microsoft.com/office/officeart/2005/8/layout/hierarchy3"/>
    <dgm:cxn modelId="{6DAF0688-F0A5-47D2-A8B8-7572B3E6781D}" type="presParOf" srcId="{396581DE-5CFB-497B-9325-B386C9226784}" destId="{0F55E9B1-A0ED-4AB2-B661-A46B51BFEFC1}" srcOrd="5" destOrd="0" presId="urn:microsoft.com/office/officeart/2005/8/layout/hierarchy3"/>
    <dgm:cxn modelId="{525BE93D-2703-4F7C-87A2-24EC3E8C15B0}" type="presParOf" srcId="{396581DE-5CFB-497B-9325-B386C9226784}" destId="{AF73ADDD-09BA-4C67-BE7A-47BF6E9D0D29}" srcOrd="6" destOrd="0" presId="urn:microsoft.com/office/officeart/2005/8/layout/hierarchy3"/>
    <dgm:cxn modelId="{FAD84B8D-1514-4369-ADC3-C78C29321DA9}" type="presParOf" srcId="{396581DE-5CFB-497B-9325-B386C9226784}" destId="{52B80284-0438-425F-879D-E02DAED8A051}" srcOrd="7" destOrd="0" presId="urn:microsoft.com/office/officeart/2005/8/layout/hierarchy3"/>
    <dgm:cxn modelId="{5661B77F-7E09-41B0-80C8-6748874845A8}" type="presParOf" srcId="{396581DE-5CFB-497B-9325-B386C9226784}" destId="{1117A776-73F9-4BD9-B81A-9F952C6038A5}" srcOrd="8" destOrd="0" presId="urn:microsoft.com/office/officeart/2005/8/layout/hierarchy3"/>
    <dgm:cxn modelId="{1AB77934-8A5C-4CA2-8B70-29A294659990}" type="presParOf" srcId="{396581DE-5CFB-497B-9325-B386C9226784}" destId="{D39844CD-0D7D-4B5A-9A0A-DE3782086A47}" srcOrd="9" destOrd="0" presId="urn:microsoft.com/office/officeart/2005/8/layout/hierarchy3"/>
    <dgm:cxn modelId="{7163EF58-88E0-4130-B260-D426DF88745D}" type="presParOf" srcId="{396581DE-5CFB-497B-9325-B386C9226784}" destId="{9AF6A6DD-F962-42EB-AAA7-C3A752F70A5B}" srcOrd="10" destOrd="0" presId="urn:microsoft.com/office/officeart/2005/8/layout/hierarchy3"/>
    <dgm:cxn modelId="{97352522-AFCD-4F51-820C-963F8D012470}" type="presParOf" srcId="{396581DE-5CFB-497B-9325-B386C9226784}" destId="{7DD1DCD0-E393-44A9-86FB-DCA16A7DB9D3}" srcOrd="11" destOrd="0" presId="urn:microsoft.com/office/officeart/2005/8/layout/hierarchy3"/>
    <dgm:cxn modelId="{8A6BC0D0-17E6-46A3-ABFD-F9170A58C827}" type="presParOf" srcId="{396581DE-5CFB-497B-9325-B386C9226784}" destId="{7BCF3A65-317F-4F6F-9080-D7123E25E83B}" srcOrd="12" destOrd="0" presId="urn:microsoft.com/office/officeart/2005/8/layout/hierarchy3"/>
    <dgm:cxn modelId="{E7AE2FBC-3FCD-439E-BD29-28667B65BEB5}" type="presParOf" srcId="{396581DE-5CFB-497B-9325-B386C9226784}" destId="{0D5055AD-7F3D-4D8F-B05B-C5C64FCF1E40}" srcOrd="1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C9C14-690B-411B-ADC5-36D00595E656}">
      <dsp:nvSpPr>
        <dsp:cNvPr id="0" name=""/>
        <dsp:cNvSpPr/>
      </dsp:nvSpPr>
      <dsp:spPr>
        <a:xfrm>
          <a:off x="0" y="0"/>
          <a:ext cx="2203123" cy="625042"/>
        </a:xfrm>
        <a:prstGeom prst="roundRect">
          <a:avLst>
            <a:gd name="adj" fmla="val 10000"/>
          </a:avLst>
        </a:prstGeom>
        <a:solidFill>
          <a:srgbClr val="DB0716"/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1900" b="1" kern="1200" dirty="0" smtClean="0"/>
            <a:t>‘</a:t>
          </a:r>
          <a:r>
            <a:rPr lang="pl-PL" sz="1900" b="1" kern="1200" dirty="0" err="1" smtClean="0"/>
            <a:t>Non-elderly</a:t>
          </a:r>
          <a:r>
            <a:rPr lang="pl-PL" sz="1900" b="1" kern="1200" dirty="0" smtClean="0"/>
            <a:t>’ </a:t>
          </a:r>
          <a:r>
            <a:rPr lang="pl-PL" sz="1900" b="1" kern="1200" dirty="0" err="1" smtClean="0"/>
            <a:t>variables</a:t>
          </a:r>
          <a:r>
            <a:rPr lang="pl-PL" sz="1900" b="1" kern="1200" dirty="0" smtClean="0"/>
            <a:t>’</a:t>
          </a:r>
          <a:endParaRPr lang="pl-PL" sz="1900" b="1" kern="1200" dirty="0"/>
        </a:p>
      </dsp:txBody>
      <dsp:txXfrm>
        <a:off x="18307" y="18307"/>
        <a:ext cx="2166509" cy="588428"/>
      </dsp:txXfrm>
    </dsp:sp>
    <dsp:sp modelId="{645E8FC9-B1CF-40BD-8C7A-8DEA930DA549}">
      <dsp:nvSpPr>
        <dsp:cNvPr id="0" name=""/>
        <dsp:cNvSpPr/>
      </dsp:nvSpPr>
      <dsp:spPr>
        <a:xfrm>
          <a:off x="220312" y="625042"/>
          <a:ext cx="211740" cy="6623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359"/>
              </a:lnTo>
              <a:lnTo>
                <a:pt x="211740" y="662359"/>
              </a:lnTo>
            </a:path>
          </a:pathLst>
        </a:custGeom>
        <a:noFill/>
        <a:ln w="48000" cap="flat" cmpd="thickThin" algn="ctr">
          <a:solidFill>
            <a:srgbClr val="DB0716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F4CAD0-3A72-46B5-BA87-6546031144C5}">
      <dsp:nvSpPr>
        <dsp:cNvPr id="0" name=""/>
        <dsp:cNvSpPr/>
      </dsp:nvSpPr>
      <dsp:spPr>
        <a:xfrm>
          <a:off x="432053" y="864094"/>
          <a:ext cx="2217879" cy="8466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b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200" b="1" kern="1200" dirty="0" smtClean="0"/>
            <a:t>P</a:t>
          </a:r>
          <a:r>
            <a:rPr lang="en-US" sz="1200" b="1" kern="1200" dirty="0" err="1" smtClean="0"/>
            <a:t>atrilinearity</a:t>
          </a:r>
          <a:r>
            <a:rPr lang="en-US" sz="1200" kern="1200" dirty="0" smtClean="0"/>
            <a:t>: the proportion of </a:t>
          </a:r>
          <a:r>
            <a:rPr lang="pl-PL" sz="1200" kern="1200" dirty="0" err="1" smtClean="0"/>
            <a:t>wife’s</a:t>
          </a:r>
          <a:r>
            <a:rPr lang="pl-PL" sz="1200" kern="1200" dirty="0" smtClean="0"/>
            <a:t> </a:t>
          </a:r>
          <a:r>
            <a:rPr lang="en-US" sz="1200" kern="1200" dirty="0" smtClean="0"/>
            <a:t>relatives within household</a:t>
          </a:r>
          <a:endParaRPr lang="pl-PL" sz="1200" kern="1200" dirty="0" smtClean="0"/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1200" kern="1200" dirty="0"/>
        </a:p>
      </dsp:txBody>
      <dsp:txXfrm>
        <a:off x="456849" y="888890"/>
        <a:ext cx="2168287" cy="797021"/>
      </dsp:txXfrm>
    </dsp:sp>
    <dsp:sp modelId="{A50C2615-C589-4E9A-842B-95E19E487052}">
      <dsp:nvSpPr>
        <dsp:cNvPr id="0" name=""/>
        <dsp:cNvSpPr/>
      </dsp:nvSpPr>
      <dsp:spPr>
        <a:xfrm>
          <a:off x="220312" y="625042"/>
          <a:ext cx="211740" cy="15839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3955"/>
              </a:lnTo>
              <a:lnTo>
                <a:pt x="211740" y="1583955"/>
              </a:lnTo>
            </a:path>
          </a:pathLst>
        </a:custGeom>
        <a:noFill/>
        <a:ln w="48000" cap="flat" cmpd="thickThin" algn="ctr">
          <a:solidFill>
            <a:srgbClr val="DB0716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8839FF-6345-4D47-AC6B-9639C91589BA}">
      <dsp:nvSpPr>
        <dsp:cNvPr id="0" name=""/>
        <dsp:cNvSpPr/>
      </dsp:nvSpPr>
      <dsp:spPr>
        <a:xfrm>
          <a:off x="432053" y="1872206"/>
          <a:ext cx="2168506" cy="673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b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200" b="1" kern="1200" dirty="0" err="1" smtClean="0"/>
            <a:t>Neolocality</a:t>
          </a:r>
          <a:r>
            <a:rPr lang="pl-PL" sz="1200" b="1" kern="1200" dirty="0" smtClean="0"/>
            <a:t>: </a:t>
          </a:r>
          <a:r>
            <a:rPr lang="pl-PL" sz="1200" kern="1200" dirty="0" err="1" smtClean="0"/>
            <a:t>ever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married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heads</a:t>
          </a:r>
          <a:r>
            <a:rPr lang="pl-PL" sz="1200" kern="1200" dirty="0" smtClean="0"/>
            <a:t> as % of </a:t>
          </a:r>
          <a:r>
            <a:rPr lang="pl-PL" sz="1200" kern="1200" dirty="0" err="1" smtClean="0"/>
            <a:t>ever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married</a:t>
          </a:r>
          <a:r>
            <a:rPr lang="pl-PL" sz="1200" kern="1200" dirty="0" smtClean="0"/>
            <a:t> (men 20-29)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500" kern="1200" dirty="0" smtClean="0"/>
        </a:p>
      </dsp:txBody>
      <dsp:txXfrm>
        <a:off x="451782" y="1891935"/>
        <a:ext cx="2129048" cy="634124"/>
      </dsp:txXfrm>
    </dsp:sp>
    <dsp:sp modelId="{C7E8E65D-045C-493D-B07D-FC993CB1188E}">
      <dsp:nvSpPr>
        <dsp:cNvPr id="0" name=""/>
        <dsp:cNvSpPr/>
      </dsp:nvSpPr>
      <dsp:spPr>
        <a:xfrm>
          <a:off x="220312" y="625042"/>
          <a:ext cx="211740" cy="2373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73049"/>
              </a:lnTo>
              <a:lnTo>
                <a:pt x="211740" y="2373049"/>
              </a:lnTo>
            </a:path>
          </a:pathLst>
        </a:custGeom>
        <a:noFill/>
        <a:ln w="48000" cap="flat" cmpd="thickThin" algn="ctr">
          <a:solidFill>
            <a:srgbClr val="DB0716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9D0401-B80F-49AB-ABEC-2E9F35CBAF2E}">
      <dsp:nvSpPr>
        <dsp:cNvPr id="0" name=""/>
        <dsp:cNvSpPr/>
      </dsp:nvSpPr>
      <dsp:spPr>
        <a:xfrm>
          <a:off x="432053" y="2736302"/>
          <a:ext cx="2189527" cy="5235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b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200" b="1" kern="1200" dirty="0" smtClean="0"/>
            <a:t>Nuptiality</a:t>
          </a:r>
          <a:r>
            <a:rPr lang="pl-PL" sz="1200" kern="1200" dirty="0" smtClean="0"/>
            <a:t>: </a:t>
          </a:r>
          <a:r>
            <a:rPr lang="pl-PL" sz="1200" kern="1200" dirty="0" err="1" smtClean="0"/>
            <a:t>male</a:t>
          </a:r>
          <a:r>
            <a:rPr lang="pl-PL" sz="1200" kern="1200" dirty="0" smtClean="0"/>
            <a:t> SMAM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1200" kern="1200" dirty="0" smtClean="0"/>
        </a:p>
      </dsp:txBody>
      <dsp:txXfrm>
        <a:off x="447388" y="2751637"/>
        <a:ext cx="2158857" cy="492909"/>
      </dsp:txXfrm>
    </dsp:sp>
    <dsp:sp modelId="{5E2B3D8D-C36F-47AB-AABE-254E2B2F1816}">
      <dsp:nvSpPr>
        <dsp:cNvPr id="0" name=""/>
        <dsp:cNvSpPr/>
      </dsp:nvSpPr>
      <dsp:spPr>
        <a:xfrm>
          <a:off x="220312" y="625042"/>
          <a:ext cx="202670" cy="3455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5347"/>
              </a:lnTo>
              <a:lnTo>
                <a:pt x="202670" y="3455347"/>
              </a:lnTo>
            </a:path>
          </a:pathLst>
        </a:custGeom>
        <a:noFill/>
        <a:ln w="31750" cap="flat" cmpd="thickThin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18234C-52DA-4CC4-A52B-373E5DA926F0}">
      <dsp:nvSpPr>
        <dsp:cNvPr id="0" name=""/>
        <dsp:cNvSpPr/>
      </dsp:nvSpPr>
      <dsp:spPr>
        <a:xfrm>
          <a:off x="422982" y="3536380"/>
          <a:ext cx="2222939" cy="10880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200" b="1" kern="1200" dirty="0" err="1" smtClean="0"/>
            <a:t>Female</a:t>
          </a:r>
          <a:r>
            <a:rPr lang="pl-PL" sz="1200" b="1" kern="1200" dirty="0" smtClean="0"/>
            <a:t> </a:t>
          </a:r>
          <a:r>
            <a:rPr lang="pl-PL" sz="1200" b="1" kern="1200" dirty="0" err="1" smtClean="0"/>
            <a:t>autonomy</a:t>
          </a:r>
          <a:r>
            <a:rPr lang="pl-PL" sz="1200" b="1" kern="1200" dirty="0" smtClean="0"/>
            <a:t>: 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age-specific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share</a:t>
          </a:r>
          <a:r>
            <a:rPr lang="pl-PL" sz="1200" kern="1200" dirty="0" smtClean="0"/>
            <a:t> of </a:t>
          </a:r>
          <a:r>
            <a:rPr lang="pl-PL" sz="1200" kern="1200" dirty="0" err="1" smtClean="0"/>
            <a:t>unrelated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secondary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individuals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among</a:t>
          </a:r>
          <a:r>
            <a:rPr lang="pl-PL" sz="1200" kern="1200" dirty="0" smtClean="0"/>
            <a:t> </a:t>
          </a:r>
          <a:r>
            <a:rPr lang="pl-PL" sz="1200" kern="1200" dirty="0" err="1" smtClean="0"/>
            <a:t>women</a:t>
          </a:r>
          <a:r>
            <a:rPr lang="pl-PL" sz="1200" kern="1200" dirty="0" smtClean="0"/>
            <a:t> 15-34</a:t>
          </a: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500" kern="1200" dirty="0" smtClean="0"/>
        </a:p>
      </dsp:txBody>
      <dsp:txXfrm>
        <a:off x="454849" y="3568247"/>
        <a:ext cx="2159205" cy="1024283"/>
      </dsp:txXfrm>
    </dsp:sp>
    <dsp:sp modelId="{D81D707C-908E-48CE-AF6A-20A182F1EC98}">
      <dsp:nvSpPr>
        <dsp:cNvPr id="0" name=""/>
        <dsp:cNvSpPr/>
      </dsp:nvSpPr>
      <dsp:spPr>
        <a:xfrm>
          <a:off x="4090359" y="0"/>
          <a:ext cx="3095420" cy="625042"/>
        </a:xfrm>
        <a:prstGeom prst="roundRect">
          <a:avLst>
            <a:gd name="adj" fmla="val 10000"/>
          </a:avLst>
        </a:prstGeom>
        <a:solidFill>
          <a:srgbClr val="FF0000"/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1900" b="1" kern="1200" dirty="0" smtClean="0"/>
            <a:t>Elderly </a:t>
          </a:r>
          <a:r>
            <a:rPr lang="en-US" sz="1900" b="1" kern="1200" dirty="0" smtClean="0"/>
            <a:t>(65+) </a:t>
          </a:r>
          <a:r>
            <a:rPr lang="pl-PL" sz="1900" b="1" kern="1200" dirty="0" smtClean="0"/>
            <a:t>focused variables</a:t>
          </a:r>
          <a:endParaRPr lang="pl-PL" sz="1900" b="1" kern="1200" dirty="0"/>
        </a:p>
      </dsp:txBody>
      <dsp:txXfrm>
        <a:off x="4108666" y="18307"/>
        <a:ext cx="3058806" cy="588428"/>
      </dsp:txXfrm>
    </dsp:sp>
    <dsp:sp modelId="{C1E950E0-E030-4E74-B33E-A24CC6F56BA1}">
      <dsp:nvSpPr>
        <dsp:cNvPr id="0" name=""/>
        <dsp:cNvSpPr/>
      </dsp:nvSpPr>
      <dsp:spPr>
        <a:xfrm>
          <a:off x="4399901" y="625042"/>
          <a:ext cx="784674" cy="407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7557"/>
              </a:lnTo>
              <a:lnTo>
                <a:pt x="784674" y="407557"/>
              </a:lnTo>
            </a:path>
          </a:pathLst>
        </a:custGeom>
        <a:noFill/>
        <a:ln w="48000" cap="flat" cmpd="thickThin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FAE00-8165-4684-B294-FCF43293DB48}">
      <dsp:nvSpPr>
        <dsp:cNvPr id="0" name=""/>
        <dsp:cNvSpPr/>
      </dsp:nvSpPr>
      <dsp:spPr>
        <a:xfrm>
          <a:off x="5184575" y="720078"/>
          <a:ext cx="2928067" cy="6250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t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kern="1200" dirty="0" smtClean="0"/>
            <a:t>P</a:t>
          </a:r>
          <a:r>
            <a:rPr lang="en-US" sz="1100" b="1" kern="1200" dirty="0" err="1" smtClean="0"/>
            <a:t>atrilocality</a:t>
          </a:r>
          <a:r>
            <a:rPr lang="en-US" sz="1100" kern="1200" dirty="0" smtClean="0"/>
            <a:t>: the </a:t>
          </a:r>
          <a:r>
            <a:rPr lang="pl-PL" sz="1100" kern="1200" dirty="0" err="1" smtClean="0"/>
            <a:t>ratio</a:t>
          </a:r>
          <a:r>
            <a:rPr lang="pl-PL" sz="1100" kern="1200" dirty="0" smtClean="0"/>
            <a:t> </a:t>
          </a:r>
          <a:r>
            <a:rPr lang="en-US" sz="1100" kern="1200" dirty="0" smtClean="0"/>
            <a:t>of </a:t>
          </a:r>
          <a:r>
            <a:rPr lang="pl-PL" sz="1100" kern="1200" dirty="0" err="1" smtClean="0"/>
            <a:t>elderly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with</a:t>
          </a:r>
          <a:r>
            <a:rPr lang="pl-PL" sz="1100" kern="1200" dirty="0" smtClean="0"/>
            <a:t> </a:t>
          </a:r>
          <a:r>
            <a:rPr lang="en-US" sz="1100" kern="1200" dirty="0" smtClean="0"/>
            <a:t>married daughters to </a:t>
          </a:r>
          <a:r>
            <a:rPr lang="pl-PL" sz="1100" kern="1200" dirty="0" err="1" smtClean="0"/>
            <a:t>those</a:t>
          </a:r>
          <a:r>
            <a:rPr lang="pl-PL" sz="1100" kern="1200" dirty="0" smtClean="0"/>
            <a:t> </a:t>
          </a:r>
          <a:r>
            <a:rPr lang="de-DE" sz="1100" kern="1200" dirty="0" err="1" smtClean="0"/>
            <a:t>with</a:t>
          </a:r>
          <a:r>
            <a:rPr lang="de-DE" sz="1100" kern="1200" dirty="0" smtClean="0"/>
            <a:t> </a:t>
          </a:r>
          <a:r>
            <a:rPr lang="en-US" sz="1100" kern="1200" dirty="0" smtClean="0"/>
            <a:t>married sons within household</a:t>
          </a:r>
          <a:endParaRPr lang="pl-PL" sz="1100" kern="1200" dirty="0" smtClean="0"/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kern="1200" dirty="0"/>
        </a:p>
      </dsp:txBody>
      <dsp:txXfrm>
        <a:off x="5202882" y="738385"/>
        <a:ext cx="2891453" cy="588428"/>
      </dsp:txXfrm>
    </dsp:sp>
    <dsp:sp modelId="{E1EF86EE-61CD-4D28-95AF-104355F6A7FB}">
      <dsp:nvSpPr>
        <dsp:cNvPr id="0" name=""/>
        <dsp:cNvSpPr/>
      </dsp:nvSpPr>
      <dsp:spPr>
        <a:xfrm>
          <a:off x="4399901" y="625042"/>
          <a:ext cx="784674" cy="11996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9648"/>
              </a:lnTo>
              <a:lnTo>
                <a:pt x="784674" y="1199648"/>
              </a:lnTo>
            </a:path>
          </a:pathLst>
        </a:custGeom>
        <a:noFill/>
        <a:ln w="48000" cap="flat" cmpd="thickThin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3884D5-CEF4-4037-9D9E-CC601BA17C0C}">
      <dsp:nvSpPr>
        <dsp:cNvPr id="0" name=""/>
        <dsp:cNvSpPr/>
      </dsp:nvSpPr>
      <dsp:spPr>
        <a:xfrm>
          <a:off x="5184575" y="1512169"/>
          <a:ext cx="2920836" cy="6250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t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kern="1200" dirty="0" smtClean="0"/>
            <a:t>L</a:t>
          </a:r>
          <a:r>
            <a:rPr lang="en-US" sz="1100" b="1" kern="1200" dirty="0" err="1" smtClean="0"/>
            <a:t>ateral</a:t>
          </a:r>
          <a:r>
            <a:rPr lang="en-US" sz="1100" b="1" kern="1200" dirty="0" smtClean="0"/>
            <a:t> extension</a:t>
          </a:r>
          <a:r>
            <a:rPr lang="pl-PL" sz="1100" kern="1200" dirty="0" smtClean="0"/>
            <a:t>: </a:t>
          </a:r>
          <a:r>
            <a:rPr lang="en-US" sz="1100" kern="1200" dirty="0" smtClean="0"/>
            <a:t>the proportion of </a:t>
          </a:r>
          <a:r>
            <a:rPr lang="pl-PL" sz="1100" kern="1200" dirty="0" err="1" smtClean="0"/>
            <a:t>the</a:t>
          </a:r>
          <a:r>
            <a:rPr lang="pl-PL" sz="1100" kern="1200" dirty="0" smtClean="0"/>
            <a:t> </a:t>
          </a:r>
          <a:r>
            <a:rPr lang="en-US" sz="1100" kern="1200" dirty="0" smtClean="0"/>
            <a:t>elderly coresiding</a:t>
          </a:r>
          <a:r>
            <a:rPr lang="pl-PL" sz="1100" kern="1200" dirty="0" smtClean="0"/>
            <a:t> </a:t>
          </a:r>
          <a:r>
            <a:rPr lang="en-US" sz="1100" kern="1200" dirty="0" smtClean="0"/>
            <a:t>with at least one lateral relative</a:t>
          </a:r>
          <a:endParaRPr lang="pl-PL" sz="1100" kern="1200" dirty="0" smtClean="0"/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kern="1200" dirty="0" smtClean="0"/>
        </a:p>
      </dsp:txBody>
      <dsp:txXfrm>
        <a:off x="5202882" y="1530476"/>
        <a:ext cx="2884222" cy="588428"/>
      </dsp:txXfrm>
    </dsp:sp>
    <dsp:sp modelId="{D02EEF02-A621-4151-AF1C-9CB436F1A365}">
      <dsp:nvSpPr>
        <dsp:cNvPr id="0" name=""/>
        <dsp:cNvSpPr/>
      </dsp:nvSpPr>
      <dsp:spPr>
        <a:xfrm>
          <a:off x="4399901" y="625042"/>
          <a:ext cx="784674" cy="1919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9728"/>
              </a:lnTo>
              <a:lnTo>
                <a:pt x="784674" y="1919728"/>
              </a:lnTo>
            </a:path>
          </a:pathLst>
        </a:custGeom>
        <a:noFill/>
        <a:ln w="48000" cap="flat" cmpd="thickThin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55E9B1-A0ED-4AB2-B661-A46B51BFEFC1}">
      <dsp:nvSpPr>
        <dsp:cNvPr id="0" name=""/>
        <dsp:cNvSpPr/>
      </dsp:nvSpPr>
      <dsp:spPr>
        <a:xfrm>
          <a:off x="5184575" y="2232249"/>
          <a:ext cx="2926757" cy="6250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kern="1200" dirty="0" smtClean="0"/>
            <a:t>Joint </a:t>
          </a:r>
          <a:r>
            <a:rPr lang="pl-PL" sz="1100" b="1" kern="1200" dirty="0" err="1" smtClean="0"/>
            <a:t>residence</a:t>
          </a:r>
          <a:r>
            <a:rPr lang="pl-PL" sz="1100" b="1" kern="1200" dirty="0" smtClean="0"/>
            <a:t>: </a:t>
          </a:r>
          <a:r>
            <a:rPr lang="de-DE" sz="1100" kern="1200" dirty="0" err="1" smtClean="0"/>
            <a:t>proportion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of</a:t>
          </a:r>
          <a:r>
            <a:rPr lang="de-DE" sz="1100" kern="1200" dirty="0" smtClean="0"/>
            <a:t> </a:t>
          </a:r>
          <a:r>
            <a:rPr lang="pl-PL" sz="1100" kern="1200" dirty="0" err="1" smtClean="0"/>
            <a:t>the</a:t>
          </a:r>
          <a:r>
            <a:rPr lang="pl-PL" sz="1100" kern="1200" dirty="0" smtClean="0"/>
            <a:t> </a:t>
          </a:r>
          <a:r>
            <a:rPr lang="de-DE" sz="1100" kern="1200" dirty="0" err="1" smtClean="0"/>
            <a:t>elderly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living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with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at</a:t>
          </a:r>
          <a:r>
            <a:rPr lang="de-DE" sz="1100" kern="1200" dirty="0" smtClean="0"/>
            <a:t> least </a:t>
          </a:r>
          <a:r>
            <a:rPr lang="de-DE" sz="1100" kern="1200" dirty="0" err="1" smtClean="0"/>
            <a:t>two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married</a:t>
          </a:r>
          <a:r>
            <a:rPr lang="de-DE" sz="1100" kern="1200" dirty="0" smtClean="0"/>
            <a:t> </a:t>
          </a:r>
          <a:r>
            <a:rPr lang="de-DE" sz="1100" kern="1200" dirty="0" err="1" smtClean="0"/>
            <a:t>children</a:t>
          </a:r>
          <a:endParaRPr lang="pl-PL" sz="1100" b="1" kern="1200" dirty="0" smtClean="0"/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kern="1200" dirty="0" smtClean="0"/>
        </a:p>
      </dsp:txBody>
      <dsp:txXfrm>
        <a:off x="5202882" y="2250556"/>
        <a:ext cx="2890143" cy="588428"/>
      </dsp:txXfrm>
    </dsp:sp>
    <dsp:sp modelId="{AF73ADDD-09BA-4C67-BE7A-47BF6E9D0D29}">
      <dsp:nvSpPr>
        <dsp:cNvPr id="0" name=""/>
        <dsp:cNvSpPr/>
      </dsp:nvSpPr>
      <dsp:spPr>
        <a:xfrm>
          <a:off x="4399901" y="625042"/>
          <a:ext cx="784674" cy="27118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1812"/>
              </a:lnTo>
              <a:lnTo>
                <a:pt x="784674" y="2711812"/>
              </a:lnTo>
            </a:path>
          </a:pathLst>
        </a:custGeom>
        <a:noFill/>
        <a:ln w="48000" cap="flat" cmpd="thickThin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B80284-0438-425F-879D-E02DAED8A051}">
      <dsp:nvSpPr>
        <dsp:cNvPr id="0" name=""/>
        <dsp:cNvSpPr/>
      </dsp:nvSpPr>
      <dsp:spPr>
        <a:xfrm>
          <a:off x="5184575" y="3024333"/>
          <a:ext cx="2948828" cy="6250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kern="1200" dirty="0" smtClean="0"/>
            <a:t>Male </a:t>
          </a:r>
          <a:r>
            <a:rPr lang="en-US" sz="1100" b="1" kern="1200" dirty="0" smtClean="0"/>
            <a:t>domination</a:t>
          </a:r>
          <a:r>
            <a:rPr lang="en-US" sz="1100" kern="1200" dirty="0" smtClean="0"/>
            <a:t>: proportion of </a:t>
          </a:r>
          <a:r>
            <a:rPr lang="pl-PL" sz="1100" kern="1200" dirty="0" smtClean="0"/>
            <a:t>household </a:t>
          </a:r>
          <a:r>
            <a:rPr lang="en-US" sz="1100" kern="1200" dirty="0" smtClean="0"/>
            <a:t>heads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among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elderly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women</a:t>
          </a:r>
          <a:endParaRPr lang="pl-PL" sz="1100" kern="1200" dirty="0" smtClean="0"/>
        </a:p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b="1" kern="1200" dirty="0" smtClean="0"/>
        </a:p>
      </dsp:txBody>
      <dsp:txXfrm>
        <a:off x="5202882" y="3042640"/>
        <a:ext cx="2912214" cy="588428"/>
      </dsp:txXfrm>
    </dsp:sp>
    <dsp:sp modelId="{1117A776-73F9-4BD9-B81A-9F952C6038A5}">
      <dsp:nvSpPr>
        <dsp:cNvPr id="0" name=""/>
        <dsp:cNvSpPr/>
      </dsp:nvSpPr>
      <dsp:spPr>
        <a:xfrm>
          <a:off x="4399901" y="625042"/>
          <a:ext cx="784674" cy="3503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03903"/>
              </a:lnTo>
              <a:lnTo>
                <a:pt x="784674" y="3503903"/>
              </a:lnTo>
            </a:path>
          </a:pathLst>
        </a:custGeom>
        <a:noFill/>
        <a:ln w="48000" cap="flat" cmpd="thickThin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9844CD-0D7D-4B5A-9A0A-DE3782086A47}">
      <dsp:nvSpPr>
        <dsp:cNvPr id="0" name=""/>
        <dsp:cNvSpPr/>
      </dsp:nvSpPr>
      <dsp:spPr>
        <a:xfrm>
          <a:off x="5184575" y="3816424"/>
          <a:ext cx="2948828" cy="6250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kern="1200" dirty="0" err="1" smtClean="0"/>
            <a:t>Seniority</a:t>
          </a:r>
          <a:r>
            <a:rPr lang="en-US" sz="1100" kern="1200" dirty="0" smtClean="0"/>
            <a:t>: </a:t>
          </a:r>
          <a:r>
            <a:rPr lang="pl-PL" sz="1100" kern="1200" dirty="0" err="1" smtClean="0"/>
            <a:t>percent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elderly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in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households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headed</a:t>
          </a:r>
          <a:r>
            <a:rPr lang="pl-PL" sz="1100" kern="1200" dirty="0" smtClean="0"/>
            <a:t> by a </a:t>
          </a:r>
          <a:r>
            <a:rPr lang="pl-PL" sz="1100" kern="1200" dirty="0" err="1" smtClean="0"/>
            <a:t>man</a:t>
          </a:r>
          <a:r>
            <a:rPr lang="pl-PL" sz="1100" kern="1200" dirty="0" smtClean="0"/>
            <a:t> of a </a:t>
          </a:r>
          <a:r>
            <a:rPr lang="pl-PL" sz="1100" kern="1200" dirty="0" err="1" smtClean="0"/>
            <a:t>younger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generation</a:t>
          </a:r>
          <a:endParaRPr lang="pl-PL" sz="1100" kern="1200" dirty="0" smtClean="0"/>
        </a:p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900" kern="1200" dirty="0" smtClean="0"/>
        </a:p>
      </dsp:txBody>
      <dsp:txXfrm>
        <a:off x="5202882" y="3834731"/>
        <a:ext cx="2912214" cy="588428"/>
      </dsp:txXfrm>
    </dsp:sp>
    <dsp:sp modelId="{9AF6A6DD-F962-42EB-AAA7-C3A752F70A5B}">
      <dsp:nvSpPr>
        <dsp:cNvPr id="0" name=""/>
        <dsp:cNvSpPr/>
      </dsp:nvSpPr>
      <dsp:spPr>
        <a:xfrm>
          <a:off x="4399901" y="625042"/>
          <a:ext cx="784674" cy="4150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50075"/>
              </a:lnTo>
              <a:lnTo>
                <a:pt x="784674" y="4150075"/>
              </a:lnTo>
            </a:path>
          </a:pathLst>
        </a:custGeom>
        <a:noFill/>
        <a:ln w="48000" cap="flat" cmpd="thickThin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D1DCD0-E393-44A9-86FB-DCA16A7DB9D3}">
      <dsp:nvSpPr>
        <dsp:cNvPr id="0" name=""/>
        <dsp:cNvSpPr/>
      </dsp:nvSpPr>
      <dsp:spPr>
        <a:xfrm>
          <a:off x="5184575" y="4536504"/>
          <a:ext cx="2948828" cy="4772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1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l-PL" sz="1100" b="1" kern="1200" dirty="0" smtClean="0"/>
            <a:t>Density of kin</a:t>
          </a:r>
          <a:r>
            <a:rPr lang="pl-PL" sz="1100" kern="1200" dirty="0" smtClean="0"/>
            <a:t>: </a:t>
          </a:r>
          <a:r>
            <a:rPr lang="en-US" sz="1100" kern="1200" dirty="0" smtClean="0"/>
            <a:t>the number of co-resident kin</a:t>
          </a:r>
          <a:r>
            <a:rPr lang="pl-PL" sz="1100" kern="1200" dirty="0" smtClean="0"/>
            <a:t> of an elderly person </a:t>
          </a:r>
        </a:p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1000" kern="1200" dirty="0" smtClean="0"/>
        </a:p>
      </dsp:txBody>
      <dsp:txXfrm>
        <a:off x="5198552" y="4550481"/>
        <a:ext cx="2920874" cy="449271"/>
      </dsp:txXfrm>
    </dsp:sp>
    <dsp:sp modelId="{7BCF3A65-317F-4F6F-9080-D7123E25E83B}">
      <dsp:nvSpPr>
        <dsp:cNvPr id="0" name=""/>
        <dsp:cNvSpPr/>
      </dsp:nvSpPr>
      <dsp:spPr>
        <a:xfrm>
          <a:off x="4399901" y="625042"/>
          <a:ext cx="784674" cy="4800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00047"/>
              </a:lnTo>
              <a:lnTo>
                <a:pt x="784674" y="4800047"/>
              </a:lnTo>
            </a:path>
          </a:pathLst>
        </a:custGeom>
        <a:noFill/>
        <a:ln w="34925" cap="flat" cmpd="thickThin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5055AD-7F3D-4D8F-B05B-C5C64FCF1E40}">
      <dsp:nvSpPr>
        <dsp:cNvPr id="0" name=""/>
        <dsp:cNvSpPr/>
      </dsp:nvSpPr>
      <dsp:spPr>
        <a:xfrm>
          <a:off x="5184575" y="5112568"/>
          <a:ext cx="2923496" cy="6250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1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1100" b="1" kern="1200" dirty="0" smtClean="0"/>
            <a:t>Old </a:t>
          </a:r>
          <a:r>
            <a:rPr lang="pl-PL" sz="1100" b="1" kern="1200" dirty="0" err="1" smtClean="0"/>
            <a:t>age</a:t>
          </a:r>
          <a:r>
            <a:rPr lang="pl-PL" sz="1100" b="1" kern="1200" dirty="0" smtClean="0"/>
            <a:t> </a:t>
          </a:r>
          <a:r>
            <a:rPr lang="pl-PL" sz="1100" b="1" kern="1200" dirty="0" err="1" smtClean="0"/>
            <a:t>loneliness</a:t>
          </a:r>
          <a:r>
            <a:rPr lang="pl-PL" sz="1100" kern="1200" dirty="0" smtClean="0"/>
            <a:t>: </a:t>
          </a:r>
          <a:r>
            <a:rPr lang="pl-PL" sz="1100" kern="1200" dirty="0" err="1" smtClean="0"/>
            <a:t>share</a:t>
          </a:r>
          <a:r>
            <a:rPr lang="pl-PL" sz="1100" kern="1200" dirty="0" smtClean="0"/>
            <a:t> of </a:t>
          </a:r>
          <a:r>
            <a:rPr lang="pl-PL" sz="1100" kern="1200" dirty="0" err="1" smtClean="0"/>
            <a:t>elderly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living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either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alone</a:t>
          </a:r>
          <a:r>
            <a:rPr lang="pl-PL" sz="1100" kern="1200" dirty="0" smtClean="0"/>
            <a:t>, </a:t>
          </a:r>
          <a:r>
            <a:rPr lang="pl-PL" sz="1100" kern="1200" dirty="0" err="1" smtClean="0"/>
            <a:t>with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spouse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only</a:t>
          </a:r>
          <a:r>
            <a:rPr lang="pl-PL" sz="1100" kern="1200" dirty="0" smtClean="0"/>
            <a:t>, </a:t>
          </a:r>
          <a:r>
            <a:rPr lang="pl-PL" sz="1100" kern="1200" dirty="0" err="1" smtClean="0"/>
            <a:t>or</a:t>
          </a:r>
          <a:r>
            <a:rPr lang="pl-PL" sz="1100" kern="1200" dirty="0" smtClean="0"/>
            <a:t> </a:t>
          </a:r>
          <a:r>
            <a:rPr lang="pl-PL" sz="1100" kern="1200" dirty="0" err="1" smtClean="0"/>
            <a:t>with</a:t>
          </a:r>
          <a:r>
            <a:rPr lang="pl-PL" sz="1100" kern="1200" dirty="0" smtClean="0"/>
            <a:t> non-kin</a:t>
          </a:r>
        </a:p>
      </dsp:txBody>
      <dsp:txXfrm>
        <a:off x="5202882" y="5130875"/>
        <a:ext cx="2886882" cy="5884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7AF43C62-3FA9-49B9-8DBA-D5A413932E4B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636AB106-3A52-48CE-B1D2-122696C2478A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8162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F3CB3FDA-2CC9-4203-B5AF-BD863780FB01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noProof="0" smtClean="0"/>
              <a:t>Klik om de modelstijlen te bewerken</a:t>
            </a:r>
          </a:p>
          <a:p>
            <a:pPr lvl="1"/>
            <a:r>
              <a:rPr lang="nl-NL" noProof="0" smtClean="0"/>
              <a:t>Tweede niveau</a:t>
            </a:r>
          </a:p>
          <a:p>
            <a:pPr lvl="2"/>
            <a:r>
              <a:rPr lang="nl-NL" noProof="0" smtClean="0"/>
              <a:t>Derde niveau</a:t>
            </a:r>
          </a:p>
          <a:p>
            <a:pPr lvl="3"/>
            <a:r>
              <a:rPr lang="nl-NL" noProof="0" smtClean="0"/>
              <a:t>Vierde niveau</a:t>
            </a:r>
          </a:p>
          <a:p>
            <a:pPr lvl="4"/>
            <a:r>
              <a:rPr lang="nl-NL" noProof="0" smtClean="0"/>
              <a:t>Vijfde niveau</a:t>
            </a:r>
            <a:endParaRPr lang="nl-NL" noProof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DA913E08-C019-485D-A3B5-CBF6610EE289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68529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nl-NL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536774-D8DB-4787-920F-E041831D509B}" type="slidenum">
              <a:rPr lang="nl-NL">
                <a:latin typeface="Calibri" pitchFamily="34" charset="0"/>
              </a:rPr>
              <a:pPr eaLnBrk="1" hangingPunct="1"/>
              <a:t>1</a:t>
            </a:fld>
            <a:endParaRPr lang="nl-NL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 smtClean="0"/>
          </a:p>
        </p:txBody>
      </p:sp>
      <p:sp>
        <p:nvSpPr>
          <p:cNvPr id="3686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D71AE03-BE14-425C-9AF7-01A0EFEC9575}" type="slidenum">
              <a:rPr lang="nl-NL">
                <a:latin typeface="Calibri" pitchFamily="34" charset="0"/>
              </a:rPr>
              <a:pPr eaLnBrk="1" hangingPunct="1"/>
              <a:t>16</a:t>
            </a:fld>
            <a:endParaRPr lang="nl-NL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 bwMode="ltGray">
          <a:xfrm>
            <a:off x="0" y="0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hthoek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nl-NL" smtClean="0"/>
              <a:t>Klik om het opmaakprofiel van de modelondertitel te bewerken</a:t>
            </a:r>
            <a:endParaRPr lang="en-US"/>
          </a:p>
        </p:txBody>
      </p:sp>
      <p:sp>
        <p:nvSpPr>
          <p:cNvPr id="6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5AF4C52-847C-4EB7-BC65-ACA69A037FC0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0E29367-4F65-4878-B8A0-3B23456C58E8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9206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620141-D534-444A-AD2E-B91745BD7A65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357B2-D909-42D0-A5DF-460A8C255D5C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124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 bwMode="ltGray">
          <a:xfrm>
            <a:off x="0" y="0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hthoek 4"/>
          <p:cNvSpPr/>
          <p:nvPr/>
        </p:nvSpPr>
        <p:spPr bwMode="invGray">
          <a:xfrm>
            <a:off x="0" y="2601913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358DAD-8279-4ABB-9CE0-4E4334495247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FE8FA65-153F-4F6E-A78D-5633F3754515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6772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7F1030-EDB1-4005-AB00-053B942AD879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32C16-E56A-4F05-A3BF-A4F98BDEFFF2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73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7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9BCA21-066B-4FC5-B423-9A05BF83E52D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6C63E4-6D10-41E7-830C-8BA773CB69C5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675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0B75B8-714A-4BAD-B7B0-516DA1EFF47B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4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B1A13B-C9DD-4C53-B65D-3EC64F7F588D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833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531380-1872-4DB4-8FBE-E647853CEABF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FEF5D-56E5-40D9-96A4-264B26B859BD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903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hthoek 5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7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A7D37E1-32B9-4621-8C02-E9232F5BE10E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8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9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70EB22-BC44-4991-B089-A524BFA0D257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23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hthoek 5"/>
          <p:cNvSpPr/>
          <p:nvPr/>
        </p:nvSpPr>
        <p:spPr bwMode="invGray"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nl-NL" noProof="0" smtClean="0"/>
              <a:t>Klik op het pictogram als u een afbeelding wilt toevoegen</a:t>
            </a:r>
            <a:endParaRPr lang="en-US" noProof="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7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fld id="{B95A661B-1D8F-42C6-8E1B-65CCEFA1DC45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8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3035300" y="1169988"/>
            <a:ext cx="5194300" cy="201612"/>
          </a:xfrm>
        </p:spPr>
        <p:txBody>
          <a:bodyPr/>
          <a:lstStyle>
            <a:lvl1pPr>
              <a:defRPr>
                <a:solidFill>
                  <a:srgbClr val="BCBCBC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fld id="{AB34A081-0B87-4C36-99C9-B191D4E14E06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2941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F51E5D-1BB8-4153-A950-99EB1AD72F33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EBD91-A5D4-45FF-B5EE-50362F46D8DC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440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 bwMode="invGray">
          <a:xfrm>
            <a:off x="6599238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hthoek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6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74E65F-C2FA-4AE5-BF01-048543056EC9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40013" y="6376988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0C0061-F216-4226-A78B-9AAA8B57E112}" type="slidenum">
              <a:rPr lang="nl-NL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83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hthoek 6"/>
          <p:cNvSpPr/>
          <p:nvPr/>
        </p:nvSpPr>
        <p:spPr bwMode="ltGray">
          <a:xfrm>
            <a:off x="0" y="0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28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stijl te bewerken</a:t>
            </a:r>
            <a:endParaRPr lang="en-US" smtClean="0"/>
          </a:p>
        </p:txBody>
      </p:sp>
      <p:sp>
        <p:nvSpPr>
          <p:cNvPr id="1029" name="Tijdelijke aanduiding voor tekst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 smtClean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wrap="square" lIns="109728" tIns="45720" rIns="45720" bIns="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3F3F3F"/>
                </a:solidFill>
                <a:latin typeface="Corbel" pitchFamily="34" charset="0"/>
              </a:defRPr>
            </a:lvl1pPr>
          </a:lstStyle>
          <a:p>
            <a:fld id="{30832A30-3909-47CF-9F4B-B841E628C5DD}" type="datetimeFigureOut">
              <a:rPr lang="nl-NL"/>
              <a:pPr/>
              <a:t>28-2-2013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 vert="horz" wrap="square" lIns="45720" tIns="45720" rIns="45720" bIns="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3F3F3F"/>
                </a:solidFill>
                <a:latin typeface="Corbel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F3F3F"/>
                </a:solidFill>
                <a:latin typeface="Corbel" pitchFamily="34" charset="0"/>
              </a:defRPr>
            </a:lvl1pPr>
          </a:lstStyle>
          <a:p>
            <a:fld id="{A18AD384-8E4C-4DF8-A0FF-358C252EA48D}" type="slidenum">
              <a:rPr lang="nl-NL"/>
              <a:pPr/>
              <a:t>‹nr.›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4" r:id="rId1"/>
    <p:sldLayoutId id="2147484059" r:id="rId2"/>
    <p:sldLayoutId id="2147484065" r:id="rId3"/>
    <p:sldLayoutId id="2147484060" r:id="rId4"/>
    <p:sldLayoutId id="2147484061" r:id="rId5"/>
    <p:sldLayoutId id="2147484062" r:id="rId6"/>
    <p:sldLayoutId id="2147484066" r:id="rId7"/>
    <p:sldLayoutId id="2147484067" r:id="rId8"/>
    <p:sldLayoutId id="2147484068" r:id="rId9"/>
    <p:sldLayoutId id="2147484063" r:id="rId10"/>
    <p:sldLayoutId id="214748406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5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9pPr>
      <a:extLst/>
    </p:titleStyle>
    <p:bodyStyle>
      <a:lvl1pPr marL="438150" indent="-319088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rgbClr val="E66C7D"/>
        </a:buClr>
        <a:buFont typeface="Arial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eaLnBrk="0" fontAlgn="base" hangingPunct="0">
        <a:spcBef>
          <a:spcPct val="20000"/>
        </a:spcBef>
        <a:spcAft>
          <a:spcPct val="0"/>
        </a:spcAft>
        <a:buClr>
          <a:srgbClr val="6BB76D"/>
        </a:buClr>
        <a:buFont typeface="Arial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eaLnBrk="0" fontAlgn="base" hangingPunct="0">
        <a:spcBef>
          <a:spcPct val="20000"/>
        </a:spcBef>
        <a:spcAft>
          <a:spcPct val="0"/>
        </a:spcAft>
        <a:buClr>
          <a:srgbClr val="E88651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7158" y="2071678"/>
            <a:ext cx="8077200" cy="2000264"/>
          </a:xfrm>
          <a:ln>
            <a:miter lim="800000"/>
            <a:headEnd/>
            <a:tailEnd/>
          </a:ln>
          <a:extLst/>
        </p:spPr>
        <p:txBody>
          <a:bodyPr rtlCol="0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nl-NL" sz="6000" dirty="0" err="1">
                <a:solidFill>
                  <a:srgbClr val="FFFF00"/>
                </a:solidFill>
              </a:rPr>
              <a:t>Harmonized</a:t>
            </a:r>
            <a:r>
              <a:rPr lang="nl-NL" sz="6000" dirty="0">
                <a:solidFill>
                  <a:srgbClr val="FFFF00"/>
                </a:solidFill>
              </a:rPr>
              <a:t> </a:t>
            </a:r>
            <a:r>
              <a:rPr lang="nl-NL" sz="6000" dirty="0" err="1">
                <a:solidFill>
                  <a:srgbClr val="FFFF00"/>
                </a:solidFill>
              </a:rPr>
              <a:t>censuses</a:t>
            </a:r>
            <a:r>
              <a:rPr lang="nl-NL" sz="6000" dirty="0">
                <a:solidFill>
                  <a:srgbClr val="FFFF00"/>
                </a:solidFill>
              </a:rPr>
              <a:t>: research </a:t>
            </a:r>
            <a:r>
              <a:rPr lang="nl-NL" sz="6000" dirty="0" err="1" smtClean="0">
                <a:solidFill>
                  <a:srgbClr val="FFFF00"/>
                </a:solidFill>
              </a:rPr>
              <a:t>prospects</a:t>
            </a:r>
            <a:endParaRPr lang="nl-NL" sz="6000" dirty="0">
              <a:solidFill>
                <a:srgbClr val="FFFF00"/>
              </a:solidFill>
            </a:endParaRPr>
          </a:p>
        </p:txBody>
      </p:sp>
      <p:sp>
        <p:nvSpPr>
          <p:cNvPr id="8195" name="Ondertitel 2"/>
          <p:cNvSpPr>
            <a:spLocks noGrp="1"/>
          </p:cNvSpPr>
          <p:nvPr>
            <p:ph type="subTitle" idx="1"/>
          </p:nvPr>
        </p:nvSpPr>
        <p:spPr>
          <a:xfrm>
            <a:off x="428625" y="142875"/>
            <a:ext cx="8077200" cy="1143000"/>
          </a:xfrm>
        </p:spPr>
        <p:txBody>
          <a:bodyPr/>
          <a:lstStyle/>
          <a:p>
            <a:pPr eaLnBrk="1" hangingPunct="1"/>
            <a:r>
              <a:rPr lang="nl-NL" sz="2800" smtClean="0"/>
              <a:t>Jan  Kok</a:t>
            </a:r>
          </a:p>
          <a:p>
            <a:pPr eaLnBrk="1" hangingPunct="1"/>
            <a:r>
              <a:rPr lang="nl-NL" sz="2800" smtClean="0"/>
              <a:t>CedaR  symposium, March 1, 2013</a:t>
            </a:r>
            <a:endParaRPr lang="nl-NL" smtClean="0"/>
          </a:p>
        </p:txBody>
      </p:sp>
      <p:pic>
        <p:nvPicPr>
          <p:cNvPr id="8196" name="Afbeelding 5" descr="ru_e_a4_wit-transparan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5445125"/>
            <a:ext cx="7240588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Contents</a:t>
            </a:r>
          </a:p>
        </p:txBody>
      </p:sp>
      <p:sp>
        <p:nvSpPr>
          <p:cNvPr id="9219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A look from family history/historical demography</a:t>
            </a:r>
          </a:p>
          <a:p>
            <a:r>
              <a:rPr lang="nl-NL" smtClean="0"/>
              <a:t>Popular and scholarly perceptions of the census</a:t>
            </a:r>
          </a:p>
          <a:p>
            <a:r>
              <a:rPr lang="nl-NL" smtClean="0"/>
              <a:t>Research challenges in historical demography: how can the census help?</a:t>
            </a:r>
          </a:p>
          <a:p>
            <a:pPr lvl="1"/>
            <a:r>
              <a:rPr lang="nl-NL" smtClean="0"/>
              <a:t>Netherlands</a:t>
            </a:r>
          </a:p>
          <a:p>
            <a:pPr lvl="1"/>
            <a:r>
              <a:rPr lang="nl-NL" smtClean="0"/>
              <a:t>Global</a:t>
            </a:r>
          </a:p>
          <a:p>
            <a:endParaRPr lang="nl-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Tijdelijke aanduiding voor inhoud 7" descr="census185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1409700"/>
            <a:ext cx="9128125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kstvak 1"/>
          <p:cNvSpPr txBox="1">
            <a:spLocks noChangeArrowheads="1"/>
          </p:cNvSpPr>
          <p:nvPr/>
        </p:nvSpPr>
        <p:spPr bwMode="auto">
          <a:xfrm>
            <a:off x="250825" y="188913"/>
            <a:ext cx="70580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nl-NL" sz="2800"/>
              <a:t>Popular perceptions of the census- George Cruikshank 1851</a:t>
            </a:r>
          </a:p>
          <a:p>
            <a:pPr eaLnBrk="1" hangingPunct="1"/>
            <a:endParaRPr lang="nl-NL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0"/>
            <a:ext cx="8194675" cy="694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4450"/>
            <a:ext cx="4598988" cy="684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ijntoelichting 2 1"/>
          <p:cNvSpPr/>
          <p:nvPr/>
        </p:nvSpPr>
        <p:spPr>
          <a:xfrm>
            <a:off x="827088" y="333375"/>
            <a:ext cx="2376487" cy="792163"/>
          </a:xfrm>
          <a:prstGeom prst="borderCallout2">
            <a:avLst>
              <a:gd name="adj1" fmla="val 45244"/>
              <a:gd name="adj2" fmla="val 103955"/>
              <a:gd name="adj3" fmla="val 3610"/>
              <a:gd name="adj4" fmla="val 96251"/>
              <a:gd name="adj5" fmla="val 104930"/>
              <a:gd name="adj6" fmla="val 1716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nl-NL" dirty="0"/>
              <a:t>Does he live </a:t>
            </a:r>
            <a:r>
              <a:rPr lang="nl-NL" dirty="0" err="1"/>
              <a:t>alone</a:t>
            </a:r>
            <a:r>
              <a:rPr lang="nl-NL" dirty="0"/>
              <a:t> or in a family?</a:t>
            </a:r>
          </a:p>
        </p:txBody>
      </p:sp>
      <p:sp>
        <p:nvSpPr>
          <p:cNvPr id="4" name="Lijntoelichting 2 3"/>
          <p:cNvSpPr/>
          <p:nvPr/>
        </p:nvSpPr>
        <p:spPr>
          <a:xfrm>
            <a:off x="179388" y="1412875"/>
            <a:ext cx="2376487" cy="792163"/>
          </a:xfrm>
          <a:prstGeom prst="borderCallout2">
            <a:avLst>
              <a:gd name="adj1" fmla="val 45244"/>
              <a:gd name="adj2" fmla="val 103955"/>
              <a:gd name="adj3" fmla="val 3610"/>
              <a:gd name="adj4" fmla="val 96251"/>
              <a:gd name="adj5" fmla="val 2736"/>
              <a:gd name="adj6" fmla="val 27947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nl-NL" dirty="0"/>
              <a:t>Is he the </a:t>
            </a:r>
            <a:r>
              <a:rPr lang="nl-NL" dirty="0" err="1"/>
              <a:t>head</a:t>
            </a:r>
            <a:r>
              <a:rPr lang="nl-NL" dirty="0"/>
              <a:t> of the family?</a:t>
            </a:r>
          </a:p>
        </p:txBody>
      </p:sp>
      <p:sp>
        <p:nvSpPr>
          <p:cNvPr id="5" name="Lijntoelichting 2 4"/>
          <p:cNvSpPr/>
          <p:nvPr/>
        </p:nvSpPr>
        <p:spPr>
          <a:xfrm>
            <a:off x="331788" y="1565275"/>
            <a:ext cx="2376487" cy="792163"/>
          </a:xfrm>
          <a:prstGeom prst="borderCallout2">
            <a:avLst>
              <a:gd name="adj1" fmla="val 45244"/>
              <a:gd name="adj2" fmla="val 103955"/>
              <a:gd name="adj3" fmla="val 3610"/>
              <a:gd name="adj4" fmla="val 96251"/>
              <a:gd name="adj5" fmla="val 163072"/>
              <a:gd name="adj6" fmla="val 19396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nl-NL" dirty="0" err="1"/>
              <a:t>What</a:t>
            </a:r>
            <a:r>
              <a:rPr lang="nl-NL" dirty="0"/>
              <a:t> is his </a:t>
            </a:r>
            <a:r>
              <a:rPr lang="nl-NL" dirty="0" err="1"/>
              <a:t>nationality</a:t>
            </a:r>
            <a:r>
              <a:rPr lang="nl-NL" dirty="0"/>
              <a:t>?</a:t>
            </a:r>
          </a:p>
        </p:txBody>
      </p:sp>
      <p:sp>
        <p:nvSpPr>
          <p:cNvPr id="6" name="Lijntoelichting 2 5"/>
          <p:cNvSpPr/>
          <p:nvPr/>
        </p:nvSpPr>
        <p:spPr>
          <a:xfrm>
            <a:off x="331788" y="2357438"/>
            <a:ext cx="2376487" cy="792162"/>
          </a:xfrm>
          <a:prstGeom prst="borderCallout2">
            <a:avLst>
              <a:gd name="adj1" fmla="val 45244"/>
              <a:gd name="adj2" fmla="val 103955"/>
              <a:gd name="adj3" fmla="val 3610"/>
              <a:gd name="adj4" fmla="val 96251"/>
              <a:gd name="adj5" fmla="val 165250"/>
              <a:gd name="adj6" fmla="val 26874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nl-NL" dirty="0"/>
              <a:t>Is he </a:t>
            </a:r>
            <a:r>
              <a:rPr lang="nl-NL" dirty="0" err="1"/>
              <a:t>unmarried</a:t>
            </a:r>
            <a:r>
              <a:rPr lang="nl-NL" dirty="0"/>
              <a:t>, </a:t>
            </a:r>
            <a:r>
              <a:rPr lang="nl-NL" dirty="0" err="1"/>
              <a:t>married</a:t>
            </a:r>
            <a:r>
              <a:rPr lang="nl-NL" dirty="0"/>
              <a:t>, </a:t>
            </a:r>
            <a:r>
              <a:rPr lang="nl-NL" dirty="0" err="1"/>
              <a:t>widowed</a:t>
            </a:r>
            <a:r>
              <a:rPr lang="nl-NL" dirty="0"/>
              <a:t>, </a:t>
            </a:r>
            <a:r>
              <a:rPr lang="nl-NL" dirty="0" err="1"/>
              <a:t>divorced</a:t>
            </a:r>
            <a:r>
              <a:rPr lang="nl-NL" dirty="0"/>
              <a:t>?</a:t>
            </a:r>
          </a:p>
        </p:txBody>
      </p:sp>
      <p:sp>
        <p:nvSpPr>
          <p:cNvPr id="7" name="Lijntoelichting 2 6"/>
          <p:cNvSpPr/>
          <p:nvPr/>
        </p:nvSpPr>
        <p:spPr>
          <a:xfrm>
            <a:off x="179388" y="4076700"/>
            <a:ext cx="2376487" cy="792163"/>
          </a:xfrm>
          <a:prstGeom prst="borderCallout2">
            <a:avLst>
              <a:gd name="adj1" fmla="val 45244"/>
              <a:gd name="adj2" fmla="val 103955"/>
              <a:gd name="adj3" fmla="val 3610"/>
              <a:gd name="adj4" fmla="val 96251"/>
              <a:gd name="adj5" fmla="val 42737"/>
              <a:gd name="adj6" fmla="val 21776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nl-NL" dirty="0"/>
              <a:t>Was he present in the house on the </a:t>
            </a:r>
            <a:r>
              <a:rPr lang="nl-NL" dirty="0" err="1"/>
              <a:t>night</a:t>
            </a:r>
            <a:r>
              <a:rPr lang="nl-NL" dirty="0"/>
              <a:t> of 31 December 1889??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endParaRPr lang="nl-NL" smtClean="0"/>
          </a:p>
        </p:txBody>
      </p:sp>
      <p:sp>
        <p:nvSpPr>
          <p:cNvPr id="13315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Censustakers portrayed as weak and gullible men</a:t>
            </a:r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  <a:p>
            <a:r>
              <a:rPr lang="nl-NL" smtClean="0"/>
              <a:t>Census as ‘Big Brother’</a:t>
            </a: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463" y="2852738"/>
            <a:ext cx="3578225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888"/>
            <a:ext cx="4721225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Afbeelding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36938"/>
            <a:ext cx="4621213" cy="342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Afbeelding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8" y="-44450"/>
            <a:ext cx="44497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Afbeelding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560763"/>
            <a:ext cx="4598988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/>
              <a:t>Scholarly misgivings</a:t>
            </a:r>
          </a:p>
        </p:txBody>
      </p:sp>
      <p:sp>
        <p:nvSpPr>
          <p:cNvPr id="1536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Census lags behind social reality (e.g. cohabitation)</a:t>
            </a:r>
          </a:p>
          <a:p>
            <a:r>
              <a:rPr lang="nl-NL" smtClean="0"/>
              <a:t>Census does not capture </a:t>
            </a:r>
          </a:p>
          <a:p>
            <a:pPr>
              <a:buFont typeface="Wingdings 2" pitchFamily="18" charset="2"/>
              <a:buNone/>
            </a:pPr>
            <a:r>
              <a:rPr lang="nl-NL" smtClean="0"/>
              <a:t>social complexity </a:t>
            </a:r>
          </a:p>
          <a:p>
            <a:pPr>
              <a:buFont typeface="Wingdings 2" pitchFamily="18" charset="2"/>
              <a:buNone/>
            </a:pPr>
            <a:r>
              <a:rPr lang="nl-NL" smtClean="0"/>
              <a:t>(e.g. households)</a:t>
            </a:r>
          </a:p>
          <a:p>
            <a:endParaRPr lang="nl-NL" smtClean="0"/>
          </a:p>
          <a:p>
            <a:r>
              <a:rPr lang="nl-NL" smtClean="0"/>
              <a:t>Misreporting understudied</a:t>
            </a:r>
          </a:p>
          <a:p>
            <a:r>
              <a:rPr lang="nl-NL" smtClean="0"/>
              <a:t>Categories and questions </a:t>
            </a:r>
          </a:p>
          <a:p>
            <a:pPr marL="457200" lvl="1" indent="0">
              <a:buFont typeface="Wingdings" pitchFamily="2" charset="2"/>
              <a:buNone/>
            </a:pPr>
            <a:r>
              <a:rPr lang="nl-NL" smtClean="0"/>
              <a:t>change (too) often</a:t>
            </a:r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</p:txBody>
      </p:sp>
      <p:pic>
        <p:nvPicPr>
          <p:cNvPr id="4" name="Tijdelijke aanduiding voor inhoud 3" descr="vt.t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513" y="1530350"/>
            <a:ext cx="3392487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5075"/>
            <a:ext cx="10429875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Research challenges </a:t>
            </a:r>
          </a:p>
        </p:txBody>
      </p:sp>
      <p:sp>
        <p:nvSpPr>
          <p:cNvPr id="17411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smtClean="0"/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</p:txBody>
      </p:sp>
      <p:pic>
        <p:nvPicPr>
          <p:cNvPr id="17412" name="Afbeelding 3" descr="PeterDoorn-240x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0500"/>
            <a:ext cx="2286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e toelichting 4"/>
          <p:cNvSpPr/>
          <p:nvPr/>
        </p:nvSpPr>
        <p:spPr>
          <a:xfrm>
            <a:off x="2051050" y="1412875"/>
            <a:ext cx="6913563" cy="2663825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(…) the breach between the demographer and the census was complete… Is the role of censuses for historical demographers … over? The census seems to have become less </a:t>
            </a:r>
            <a:r>
              <a:rPr lang="en-US" i="1">
                <a:solidFill>
                  <a:srgbClr val="FFFFFF"/>
                </a:solidFill>
              </a:rPr>
              <a:t>en </a:t>
            </a:r>
            <a:r>
              <a:rPr lang="en-US">
                <a:solidFill>
                  <a:srgbClr val="FFFFFF"/>
                </a:solidFill>
              </a:rPr>
              <a:t>vogue as a source of demographic research.</a:t>
            </a:r>
            <a:endParaRPr lang="nl-NL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Research challenges </a:t>
            </a:r>
          </a:p>
        </p:txBody>
      </p:sp>
      <p:sp>
        <p:nvSpPr>
          <p:cNvPr id="18435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smtClean="0"/>
          </a:p>
          <a:p>
            <a:r>
              <a:rPr lang="nl-NL" smtClean="0"/>
              <a:t>Completing demographic history of the Netherlands</a:t>
            </a:r>
          </a:p>
          <a:p>
            <a:r>
              <a:rPr lang="nl-NL" smtClean="0"/>
              <a:t>Understanding demographic processes</a:t>
            </a:r>
          </a:p>
          <a:p>
            <a:r>
              <a:rPr lang="nl-NL" smtClean="0"/>
              <a:t>Understanding global trends</a:t>
            </a:r>
          </a:p>
          <a:p>
            <a:endParaRPr lang="nl-NL" smtClean="0"/>
          </a:p>
          <a:p>
            <a:endParaRPr lang="nl-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Demographic history of the Netherlands</a:t>
            </a:r>
          </a:p>
        </p:txBody>
      </p:sp>
      <p:sp>
        <p:nvSpPr>
          <p:cNvPr id="19459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Relation demographic to socio-economic change</a:t>
            </a:r>
          </a:p>
          <a:p>
            <a:r>
              <a:rPr lang="nl-NL" smtClean="0"/>
              <a:t>From provinces to regional clusters</a:t>
            </a:r>
          </a:p>
        </p:txBody>
      </p:sp>
      <p:pic>
        <p:nvPicPr>
          <p:cNvPr id="19460" name="Afbeelding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150" y="3860800"/>
            <a:ext cx="1363663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908050"/>
            <a:ext cx="4924425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Afbeelding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850" y="771525"/>
            <a:ext cx="46101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Infrastructural wish: Reboot the Gis-tool!</a:t>
            </a:r>
          </a:p>
        </p:txBody>
      </p:sp>
      <p:pic>
        <p:nvPicPr>
          <p:cNvPr id="21507" name="Tijdelijke aanduiding voor inhoud 3" descr="nlgis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989138"/>
            <a:ext cx="9036050" cy="345598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Understanding demographic processes</a:t>
            </a:r>
          </a:p>
        </p:txBody>
      </p:sp>
      <p:sp>
        <p:nvSpPr>
          <p:cNvPr id="22531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By adding more context to life courses</a:t>
            </a:r>
          </a:p>
          <a:p>
            <a:pPr>
              <a:buFont typeface="Wingdings 2" pitchFamily="18" charset="2"/>
              <a:buNone/>
            </a:pPr>
            <a:r>
              <a:rPr lang="nl-NL" smtClean="0"/>
              <a:t>e.g.</a:t>
            </a:r>
          </a:p>
          <a:p>
            <a:pPr>
              <a:buFont typeface="Wingdings 2" pitchFamily="18" charset="2"/>
              <a:buNone/>
            </a:pPr>
            <a:r>
              <a:rPr lang="nl-NL" sz="2000" b="1" smtClean="0"/>
              <a:t>Chance and timing of marriage</a:t>
            </a:r>
          </a:p>
          <a:p>
            <a:pPr>
              <a:buFont typeface="Wingdings 2" pitchFamily="18" charset="2"/>
              <a:buNone/>
            </a:pPr>
            <a:r>
              <a:rPr lang="nl-NL" sz="2000" smtClean="0"/>
              <a:t>Marriage market conditions </a:t>
            </a:r>
          </a:p>
          <a:p>
            <a:pPr>
              <a:buFont typeface="Wingdings 2" pitchFamily="18" charset="2"/>
              <a:buNone/>
            </a:pPr>
            <a:r>
              <a:rPr lang="nl-NL" sz="2000" smtClean="0"/>
              <a:t>(sex ratios and religion in area </a:t>
            </a:r>
          </a:p>
          <a:p>
            <a:pPr>
              <a:buFont typeface="Wingdings 2" pitchFamily="18" charset="2"/>
              <a:buNone/>
            </a:pPr>
            <a:r>
              <a:rPr lang="nl-NL" sz="2000" smtClean="0"/>
              <a:t>around place of residence)</a:t>
            </a:r>
          </a:p>
          <a:p>
            <a:pPr>
              <a:buFont typeface="Wingdings 2" pitchFamily="18" charset="2"/>
              <a:buNone/>
            </a:pPr>
            <a:r>
              <a:rPr lang="nl-NL" sz="2000" b="1" smtClean="0"/>
              <a:t>Likelihood of outmigration</a:t>
            </a:r>
          </a:p>
          <a:p>
            <a:pPr>
              <a:buFont typeface="Wingdings 2" pitchFamily="18" charset="2"/>
              <a:buNone/>
            </a:pPr>
            <a:r>
              <a:rPr lang="nl-NL" sz="2000" smtClean="0"/>
              <a:t>Employment opportunities within</a:t>
            </a:r>
          </a:p>
          <a:p>
            <a:pPr>
              <a:buFont typeface="Wingdings 2" pitchFamily="18" charset="2"/>
              <a:buNone/>
            </a:pPr>
            <a:r>
              <a:rPr lang="nl-NL" sz="2000" smtClean="0"/>
              <a:t>commuting distance</a:t>
            </a:r>
          </a:p>
          <a:p>
            <a:pPr>
              <a:buFont typeface="Wingdings 2" pitchFamily="18" charset="2"/>
              <a:buNone/>
            </a:pPr>
            <a:endParaRPr lang="nl-NL" sz="2000" smtClean="0"/>
          </a:p>
          <a:p>
            <a:pPr>
              <a:buFont typeface="Wingdings 2" pitchFamily="18" charset="2"/>
              <a:buNone/>
            </a:pPr>
            <a:endParaRPr lang="nl-NL" sz="2000" smtClean="0"/>
          </a:p>
        </p:txBody>
      </p:sp>
      <p:pic>
        <p:nvPicPr>
          <p:cNvPr id="22532" name="Picture 2" descr="D:\Doc\Artikel\Lifecourse\fig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565400"/>
            <a:ext cx="5137150" cy="414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ABM: simulations to bridge micro-macro gap</a:t>
            </a:r>
          </a:p>
        </p:txBody>
      </p:sp>
      <p:pic>
        <p:nvPicPr>
          <p:cNvPr id="23555" name="Tijdelijke aanduiding voor inhoud 5" descr="abm1.jpg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422400"/>
            <a:ext cx="4191000" cy="5435600"/>
          </a:xfrm>
        </p:spPr>
      </p:pic>
      <p:pic>
        <p:nvPicPr>
          <p:cNvPr id="23556" name="Tijdelijke aanduiding voor inhoud 6" descr="abm2.jpg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428750"/>
            <a:ext cx="4684713" cy="52927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Infrastructural wish: integrated community level variables</a:t>
            </a:r>
          </a:p>
        </p:txBody>
      </p:sp>
      <p:sp>
        <p:nvSpPr>
          <p:cNvPr id="24579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Census</a:t>
            </a:r>
          </a:p>
          <a:p>
            <a:r>
              <a:rPr lang="nl-NL" smtClean="0"/>
              <a:t>Hofstee data and HED</a:t>
            </a:r>
          </a:p>
          <a:p>
            <a:r>
              <a:rPr lang="nl-NL" smtClean="0"/>
              <a:t>Causes-of –death by municipality</a:t>
            </a:r>
          </a:p>
          <a:p>
            <a:r>
              <a:rPr lang="nl-NL" smtClean="0"/>
              <a:t>Infrastructure and communication</a:t>
            </a:r>
          </a:p>
          <a:p>
            <a:r>
              <a:rPr lang="nl-NL" smtClean="0"/>
              <a:t>Reports of municipalities/provinces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Global trends:  revolution in the family</a:t>
            </a:r>
          </a:p>
        </p:txBody>
      </p:sp>
      <p:sp>
        <p:nvSpPr>
          <p:cNvPr id="2560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Postponement of marriaged&amp;first birth</a:t>
            </a:r>
          </a:p>
          <a:p>
            <a:r>
              <a:rPr lang="nl-NL" smtClean="0"/>
              <a:t>Increase in single living</a:t>
            </a:r>
          </a:p>
          <a:p>
            <a:r>
              <a:rPr lang="nl-NL" smtClean="0"/>
              <a:t>Increase in cohabitation and extramarital births</a:t>
            </a:r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Afbeelding 1" descr="28-2-2013 15-31-4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9115425" cy="576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Global trends:  revolution in the family</a:t>
            </a:r>
          </a:p>
        </p:txBody>
      </p:sp>
      <p:sp>
        <p:nvSpPr>
          <p:cNvPr id="27651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Postponement of marriaged&amp;first birth</a:t>
            </a:r>
          </a:p>
          <a:p>
            <a:r>
              <a:rPr lang="nl-NL" smtClean="0"/>
              <a:t>Increase in single living</a:t>
            </a:r>
          </a:p>
          <a:p>
            <a:r>
              <a:rPr lang="nl-NL" smtClean="0"/>
              <a:t>Increase in cohabitation and extramarital births</a:t>
            </a:r>
          </a:p>
          <a:p>
            <a:r>
              <a:rPr lang="en-US" smtClean="0"/>
              <a:t>Increase in divorce</a:t>
            </a:r>
          </a:p>
          <a:p>
            <a:r>
              <a:rPr lang="en-US" smtClean="0"/>
              <a:t>Fertility below replacement</a:t>
            </a:r>
          </a:p>
          <a:p>
            <a:r>
              <a:rPr lang="en-US" smtClean="0"/>
              <a:t>Decline kin co-residence</a:t>
            </a:r>
          </a:p>
          <a:p>
            <a:r>
              <a:rPr lang="nl-NL" smtClean="0"/>
              <a:t>Need for a long term perspective on changes in family roles, household composition</a:t>
            </a:r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  <a:p>
            <a:endParaRPr lang="nl-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Afbeelding 1" descr="28-2-2013 15-36-1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423988"/>
            <a:ext cx="89154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kstvak 2"/>
          <p:cNvSpPr txBox="1">
            <a:spLocks noChangeArrowheads="1"/>
          </p:cNvSpPr>
          <p:nvPr/>
        </p:nvSpPr>
        <p:spPr bwMode="auto">
          <a:xfrm>
            <a:off x="395288" y="5949950"/>
            <a:ext cx="34559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nl-NL"/>
              <a:t>Ruggles 2012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Quantifying patriarchy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251520" y="1052736"/>
          <a:ext cx="8352928" cy="594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700" name="Tekstvak 3"/>
          <p:cNvSpPr txBox="1">
            <a:spLocks noChangeArrowheads="1"/>
          </p:cNvSpPr>
          <p:nvPr/>
        </p:nvSpPr>
        <p:spPr bwMode="auto">
          <a:xfrm>
            <a:off x="611188" y="6092825"/>
            <a:ext cx="3097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nl-NL"/>
              <a:t>Szoltysek and Gruber 2012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Afbeelding 1" descr="28-2-2013 15-42-4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8913"/>
            <a:ext cx="7543800" cy="648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kstvak 2"/>
          <p:cNvSpPr txBox="1">
            <a:spLocks noChangeArrowheads="1"/>
          </p:cNvSpPr>
          <p:nvPr/>
        </p:nvSpPr>
        <p:spPr bwMode="auto">
          <a:xfrm>
            <a:off x="5292725" y="6308725"/>
            <a:ext cx="2663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nl-NL"/>
              <a:t>Ruggles 2009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en-US" smtClean="0"/>
              <a:t>Convergence  toward small families-Scandinavian model?</a:t>
            </a:r>
            <a:endParaRPr lang="nl-NL" smtClean="0"/>
          </a:p>
        </p:txBody>
      </p:sp>
      <p:sp>
        <p:nvSpPr>
          <p:cNvPr id="31747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Because of economic and demographic trends?</a:t>
            </a:r>
          </a:p>
          <a:p>
            <a:r>
              <a:rPr lang="en-US" smtClean="0"/>
              <a:t>Because the spread of individualism in inevitable?</a:t>
            </a:r>
          </a:p>
          <a:p>
            <a:r>
              <a:rPr lang="en-US" smtClean="0"/>
              <a:t>Or lasting differences-  not detectable through co-residence (e.g. longevity Southern Europe)</a:t>
            </a:r>
            <a:endParaRPr lang="nl-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en-US" smtClean="0">
                <a:solidFill>
                  <a:srgbClr val="FFFF00"/>
                </a:solidFill>
              </a:rPr>
              <a:t>Infrastructural wish: harmonizing across countries</a:t>
            </a:r>
            <a:endParaRPr lang="nl-NL" smtClean="0">
              <a:solidFill>
                <a:srgbClr val="FFFF00"/>
              </a:solidFill>
            </a:endParaRPr>
          </a:p>
        </p:txBody>
      </p:sp>
      <p:sp>
        <p:nvSpPr>
          <p:cNvPr id="32771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Reconstruct 1% sample?</a:t>
            </a:r>
            <a:endParaRPr lang="nl-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el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r>
              <a:rPr lang="nl-NL" smtClean="0">
                <a:solidFill>
                  <a:srgbClr val="FFFF00"/>
                </a:solidFill>
              </a:rPr>
              <a:t>Summing up</a:t>
            </a:r>
          </a:p>
        </p:txBody>
      </p:sp>
      <p:sp>
        <p:nvSpPr>
          <p:cNvPr id="33795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mtClean="0"/>
              <a:t>Lots </a:t>
            </a:r>
            <a:r>
              <a:rPr lang="nl-NL" dirty="0" smtClean="0"/>
              <a:t>of </a:t>
            </a:r>
            <a:r>
              <a:rPr lang="nl-NL" dirty="0" err="1" smtClean="0"/>
              <a:t>use</a:t>
            </a:r>
            <a:r>
              <a:rPr lang="nl-NL" dirty="0" smtClean="0"/>
              <a:t> </a:t>
            </a:r>
            <a:r>
              <a:rPr lang="nl-NL" dirty="0" err="1" smtClean="0"/>
              <a:t>for</a:t>
            </a:r>
            <a:r>
              <a:rPr lang="nl-NL" dirty="0" smtClean="0"/>
              <a:t> </a:t>
            </a:r>
            <a:r>
              <a:rPr lang="nl-NL" dirty="0" err="1" smtClean="0"/>
              <a:t>properly</a:t>
            </a:r>
            <a:r>
              <a:rPr lang="nl-NL" dirty="0" smtClean="0"/>
              <a:t> </a:t>
            </a:r>
            <a:r>
              <a:rPr lang="nl-NL" dirty="0" err="1" smtClean="0"/>
              <a:t>documented</a:t>
            </a:r>
            <a:r>
              <a:rPr lang="nl-NL" dirty="0" smtClean="0"/>
              <a:t> </a:t>
            </a:r>
            <a:r>
              <a:rPr lang="nl-NL" dirty="0" err="1" smtClean="0"/>
              <a:t>and</a:t>
            </a:r>
            <a:r>
              <a:rPr lang="nl-NL" dirty="0" smtClean="0"/>
              <a:t> </a:t>
            </a:r>
            <a:r>
              <a:rPr lang="nl-NL" dirty="0" err="1" smtClean="0"/>
              <a:t>harmonized</a:t>
            </a:r>
            <a:r>
              <a:rPr lang="nl-NL" dirty="0" smtClean="0"/>
              <a:t> census variables</a:t>
            </a:r>
          </a:p>
          <a:p>
            <a:r>
              <a:rPr lang="nl-NL" dirty="0" err="1" smtClean="0"/>
              <a:t>Preferably</a:t>
            </a:r>
            <a:r>
              <a:rPr lang="nl-NL" dirty="0" smtClean="0"/>
              <a:t> in </a:t>
            </a:r>
            <a:r>
              <a:rPr lang="nl-NL" dirty="0" err="1" smtClean="0"/>
              <a:t>interactive</a:t>
            </a:r>
            <a:r>
              <a:rPr lang="nl-NL" dirty="0" smtClean="0"/>
              <a:t> tools (</a:t>
            </a:r>
            <a:r>
              <a:rPr lang="nl-NL" dirty="0" err="1" smtClean="0"/>
              <a:t>incl</a:t>
            </a:r>
            <a:r>
              <a:rPr lang="nl-NL" dirty="0" smtClean="0"/>
              <a:t> GIS)</a:t>
            </a:r>
          </a:p>
          <a:p>
            <a:r>
              <a:rPr lang="nl-NL" dirty="0" err="1" smtClean="0"/>
              <a:t>Enriched</a:t>
            </a:r>
            <a:r>
              <a:rPr lang="nl-NL" dirty="0" smtClean="0"/>
              <a:t> </a:t>
            </a:r>
            <a:r>
              <a:rPr lang="nl-NL" dirty="0" err="1" smtClean="0"/>
              <a:t>with</a:t>
            </a:r>
            <a:r>
              <a:rPr lang="nl-NL" dirty="0" smtClean="0"/>
              <a:t> </a:t>
            </a:r>
            <a:r>
              <a:rPr lang="nl-NL" dirty="0" err="1" smtClean="0"/>
              <a:t>other</a:t>
            </a:r>
            <a:r>
              <a:rPr lang="nl-NL" dirty="0" smtClean="0"/>
              <a:t> </a:t>
            </a:r>
            <a:r>
              <a:rPr lang="nl-NL" dirty="0" err="1" smtClean="0"/>
              <a:t>meso</a:t>
            </a:r>
            <a:r>
              <a:rPr lang="nl-NL" dirty="0" smtClean="0"/>
              <a:t>-level data</a:t>
            </a:r>
          </a:p>
          <a:p>
            <a:r>
              <a:rPr lang="nl-NL" dirty="0" smtClean="0"/>
              <a:t>Ready-made </a:t>
            </a:r>
            <a:r>
              <a:rPr lang="nl-NL" dirty="0" err="1" smtClean="0"/>
              <a:t>for</a:t>
            </a:r>
            <a:r>
              <a:rPr lang="nl-NL" dirty="0" smtClean="0"/>
              <a:t> </a:t>
            </a:r>
            <a:r>
              <a:rPr lang="nl-NL" dirty="0" err="1" smtClean="0"/>
              <a:t>international</a:t>
            </a:r>
            <a:r>
              <a:rPr lang="nl-NL" dirty="0" smtClean="0"/>
              <a:t> </a:t>
            </a:r>
            <a:r>
              <a:rPr lang="nl-NL" dirty="0" err="1" smtClean="0"/>
              <a:t>comparisons</a:t>
            </a:r>
            <a:endParaRPr lang="nl-NL" dirty="0" smtClean="0"/>
          </a:p>
          <a:p>
            <a:endParaRPr lang="nl-N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1460</TotalTime>
  <Words>594</Words>
  <Application>Microsoft Office PowerPoint</Application>
  <PresentationFormat>Diavoorstelling (4:3)</PresentationFormat>
  <Paragraphs>108</Paragraphs>
  <Slides>26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26</vt:i4>
      </vt:variant>
    </vt:vector>
  </HeadingPairs>
  <TitlesOfParts>
    <vt:vector size="33" baseType="lpstr">
      <vt:lpstr>Arial</vt:lpstr>
      <vt:lpstr>Corbel</vt:lpstr>
      <vt:lpstr>Wingdings 2</vt:lpstr>
      <vt:lpstr>Wingdings</vt:lpstr>
      <vt:lpstr>Wingdings 3</vt:lpstr>
      <vt:lpstr>Calibri</vt:lpstr>
      <vt:lpstr>Module</vt:lpstr>
      <vt:lpstr>Harmonized censuses: research prospects</vt:lpstr>
      <vt:lpstr>Contents</vt:lpstr>
      <vt:lpstr>PowerPoint-presentatie</vt:lpstr>
      <vt:lpstr>PowerPoint-presentatie</vt:lpstr>
      <vt:lpstr>PowerPoint-presentatie</vt:lpstr>
      <vt:lpstr>PowerPoint-presentatie</vt:lpstr>
      <vt:lpstr>PowerPoint-presentatie</vt:lpstr>
      <vt:lpstr>Scholarly misgivings</vt:lpstr>
      <vt:lpstr>PowerPoint-presentatie</vt:lpstr>
      <vt:lpstr>Research challenges </vt:lpstr>
      <vt:lpstr>Research challenges </vt:lpstr>
      <vt:lpstr>Demographic history of the Netherlands</vt:lpstr>
      <vt:lpstr>PowerPoint-presentatie</vt:lpstr>
      <vt:lpstr>Infrastructural wish: Reboot the Gis-tool!</vt:lpstr>
      <vt:lpstr>Understanding demographic processes</vt:lpstr>
      <vt:lpstr>ABM: simulations to bridge micro-macro gap</vt:lpstr>
      <vt:lpstr>Infrastructural wish: integrated community level variables</vt:lpstr>
      <vt:lpstr>Global trends:  revolution in the family</vt:lpstr>
      <vt:lpstr>PowerPoint-presentatie</vt:lpstr>
      <vt:lpstr>Global trends:  revolution in the family</vt:lpstr>
      <vt:lpstr>PowerPoint-presentatie</vt:lpstr>
      <vt:lpstr>Quantifying patriarchy</vt:lpstr>
      <vt:lpstr>PowerPoint-presentatie</vt:lpstr>
      <vt:lpstr>Convergence  toward small families-Scandinavian model?</vt:lpstr>
      <vt:lpstr>Infrastructural wish: harmonizing across countries</vt:lpstr>
      <vt:lpstr>Summing up</vt:lpstr>
    </vt:vector>
  </TitlesOfParts>
  <Company>Your Company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Ceylonese thombos as a source for family history</dc:title>
  <dc:creator>Ref</dc:creator>
  <cp:lastModifiedBy>Jan Kok</cp:lastModifiedBy>
  <cp:revision>81</cp:revision>
  <dcterms:created xsi:type="dcterms:W3CDTF">2010-08-31T13:35:13Z</dcterms:created>
  <dcterms:modified xsi:type="dcterms:W3CDTF">2013-02-28T18:57:48Z</dcterms:modified>
</cp:coreProperties>
</file>