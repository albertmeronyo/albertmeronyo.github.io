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86" r:id="rId3"/>
    <p:sldId id="291" r:id="rId4"/>
    <p:sldId id="287" r:id="rId5"/>
    <p:sldId id="264" r:id="rId6"/>
    <p:sldId id="265" r:id="rId7"/>
    <p:sldId id="266" r:id="rId8"/>
    <p:sldId id="267" r:id="rId9"/>
    <p:sldId id="268" r:id="rId10"/>
    <p:sldId id="261" r:id="rId11"/>
    <p:sldId id="262" r:id="rId12"/>
    <p:sldId id="263" r:id="rId13"/>
    <p:sldId id="269" r:id="rId14"/>
    <p:sldId id="270" r:id="rId15"/>
    <p:sldId id="271" r:id="rId16"/>
    <p:sldId id="272" r:id="rId17"/>
    <p:sldId id="273" r:id="rId18"/>
    <p:sldId id="290" r:id="rId19"/>
    <p:sldId id="308" r:id="rId20"/>
    <p:sldId id="309" r:id="rId21"/>
    <p:sldId id="310" r:id="rId22"/>
    <p:sldId id="292" r:id="rId23"/>
    <p:sldId id="293" r:id="rId24"/>
    <p:sldId id="294" r:id="rId25"/>
    <p:sldId id="295" r:id="rId26"/>
    <p:sldId id="300" r:id="rId27"/>
    <p:sldId id="301" r:id="rId28"/>
    <p:sldId id="302" r:id="rId29"/>
    <p:sldId id="303" r:id="rId30"/>
    <p:sldId id="304" r:id="rId31"/>
    <p:sldId id="305" r:id="rId32"/>
    <p:sldId id="306" r:id="rId33"/>
    <p:sldId id="307" r:id="rId34"/>
    <p:sldId id="289" r:id="rId35"/>
  </p:sldIdLst>
  <p:sldSz cx="9144000" cy="6858000" type="screen4x3"/>
  <p:notesSz cx="6858000" cy="9144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DF0"/>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84897" autoAdjust="0"/>
  </p:normalViewPr>
  <p:slideViewPr>
    <p:cSldViewPr snapToGrid="0" snapToObjects="1">
      <p:cViewPr varScale="1">
        <p:scale>
          <a:sx n="63" d="100"/>
          <a:sy n="63" d="100"/>
        </p:scale>
        <p:origin x="-1596"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028317-7D34-ED41-8AF6-A290262D83E3}" type="datetimeFigureOut">
              <a:rPr lang="nl-NL" smtClean="0"/>
              <a:t>1-3-2013</a:t>
            </a:fld>
            <a:endParaRPr lang="nl-NL"/>
          </a:p>
        </p:txBody>
      </p:sp>
      <p:sp>
        <p:nvSpPr>
          <p:cNvPr id="4" name="Tijdelijke aanduiding voor dia-afbeelding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smtClean="0"/>
              <a:t>Klik om de tekststijl van het model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DC815A-B5A3-E64B-A287-C2B2486DC83D}" type="slidenum">
              <a:rPr lang="nl-NL" smtClean="0"/>
              <a:t>‹#›</a:t>
            </a:fld>
            <a:endParaRPr lang="nl-NL"/>
          </a:p>
        </p:txBody>
      </p:sp>
    </p:spTree>
    <p:extLst>
      <p:ext uri="{BB962C8B-B14F-4D97-AF65-F5344CB8AC3E}">
        <p14:creationId xmlns:p14="http://schemas.microsoft.com/office/powerpoint/2010/main" val="7751424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Different levels</a:t>
            </a:r>
            <a:r>
              <a:rPr lang="nl-NL" baseline="0" dirty="0" smtClean="0"/>
              <a:t> of detail in the applicability, but each workpackage has something</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4</a:t>
            </a:fld>
            <a:endParaRPr lang="nl-NL"/>
          </a:p>
        </p:txBody>
      </p:sp>
    </p:spTree>
    <p:extLst>
      <p:ext uri="{BB962C8B-B14F-4D97-AF65-F5344CB8AC3E}">
        <p14:creationId xmlns:p14="http://schemas.microsoft.com/office/powerpoint/2010/main" val="3544671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Linking,</a:t>
            </a:r>
            <a:r>
              <a:rPr lang="nl-NL" baseline="0" dirty="0" smtClean="0"/>
              <a:t> linking, linking. Adding, adding, adding. Using relatively ‘dumb’ strategies</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5</a:t>
            </a:fld>
            <a:endParaRPr lang="nl-NL"/>
          </a:p>
        </p:txBody>
      </p:sp>
    </p:spTree>
    <p:extLst>
      <p:ext uri="{BB962C8B-B14F-4D97-AF65-F5344CB8AC3E}">
        <p14:creationId xmlns:p14="http://schemas.microsoft.com/office/powerpoint/2010/main" val="3274448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Tool to</a:t>
            </a:r>
            <a:r>
              <a:rPr lang="nl-NL" baseline="0" dirty="0" smtClean="0"/>
              <a:t> automatically track the provenance of research pipelines, to make us all better researchers.</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6</a:t>
            </a:fld>
            <a:endParaRPr lang="nl-NL"/>
          </a:p>
        </p:txBody>
      </p:sp>
    </p:spTree>
    <p:extLst>
      <p:ext uri="{BB962C8B-B14F-4D97-AF65-F5344CB8AC3E}">
        <p14:creationId xmlns:p14="http://schemas.microsoft.com/office/powerpoint/2010/main" val="2295116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Manual annotation</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7</a:t>
            </a:fld>
            <a:endParaRPr lang="nl-NL"/>
          </a:p>
        </p:txBody>
      </p:sp>
    </p:spTree>
    <p:extLst>
      <p:ext uri="{BB962C8B-B14F-4D97-AF65-F5344CB8AC3E}">
        <p14:creationId xmlns:p14="http://schemas.microsoft.com/office/powerpoint/2010/main" val="1115931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Linkitup</a:t>
            </a:r>
            <a:r>
              <a:rPr lang="nl-NL" baseline="0" dirty="0" smtClean="0"/>
              <a:t> is a tool to link stuff in figshare to other stuff and publish it back into figshare</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8</a:t>
            </a:fld>
            <a:endParaRPr lang="nl-NL"/>
          </a:p>
        </p:txBody>
      </p:sp>
    </p:spTree>
    <p:extLst>
      <p:ext uri="{BB962C8B-B14F-4D97-AF65-F5344CB8AC3E}">
        <p14:creationId xmlns:p14="http://schemas.microsoft.com/office/powerpoint/2010/main" val="2230785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Most</a:t>
            </a:r>
            <a:r>
              <a:rPr lang="nl-NL" baseline="0" dirty="0" smtClean="0"/>
              <a:t> concrete applications for DANS</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9</a:t>
            </a:fld>
            <a:endParaRPr lang="nl-NL"/>
          </a:p>
        </p:txBody>
      </p:sp>
    </p:spTree>
    <p:extLst>
      <p:ext uri="{BB962C8B-B14F-4D97-AF65-F5344CB8AC3E}">
        <p14:creationId xmlns:p14="http://schemas.microsoft.com/office/powerpoint/2010/main" val="873630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Provenance</a:t>
            </a:r>
            <a:r>
              <a:rPr lang="nl-NL" baseline="0" dirty="0" smtClean="0"/>
              <a:t> for a shared documents folder</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10</a:t>
            </a:fld>
            <a:endParaRPr lang="nl-NL"/>
          </a:p>
        </p:txBody>
      </p:sp>
    </p:spTree>
    <p:extLst>
      <p:ext uri="{BB962C8B-B14F-4D97-AF65-F5344CB8AC3E}">
        <p14:creationId xmlns:p14="http://schemas.microsoft.com/office/powerpoint/2010/main" val="3600063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Prototype</a:t>
            </a:r>
            <a:r>
              <a:rPr lang="nl-NL" baseline="0" dirty="0" smtClean="0"/>
              <a:t> based on a bunch of similarities</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11</a:t>
            </a:fld>
            <a:endParaRPr lang="nl-NL"/>
          </a:p>
        </p:txBody>
      </p:sp>
    </p:spTree>
    <p:extLst>
      <p:ext uri="{BB962C8B-B14F-4D97-AF65-F5344CB8AC3E}">
        <p14:creationId xmlns:p14="http://schemas.microsoft.com/office/powerpoint/2010/main" val="3982306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Provenance reconstruction on the census files, relatively</a:t>
            </a:r>
            <a:r>
              <a:rPr lang="nl-NL" baseline="0" dirty="0" smtClean="0"/>
              <a:t> straightforward</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12</a:t>
            </a:fld>
            <a:endParaRPr lang="nl-NL"/>
          </a:p>
        </p:txBody>
      </p:sp>
    </p:spTree>
    <p:extLst>
      <p:ext uri="{BB962C8B-B14F-4D97-AF65-F5344CB8AC3E}">
        <p14:creationId xmlns:p14="http://schemas.microsoft.com/office/powerpoint/2010/main" val="917911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solidFill>
            <a:srgbClr val="CFE7F5"/>
          </a:solidFill>
          <a:ln w="25400">
            <a:solidFill>
              <a:srgbClr val="808080"/>
            </a:solidFill>
            <a:miter lim="800000"/>
            <a:headEnd/>
            <a:tailEnd/>
          </a:ln>
        </p:spPr>
      </p:sp>
      <p:sp>
        <p:nvSpPr>
          <p:cNvPr id="8195" name="Notes Placeholder 2"/>
          <p:cNvSpPr txBox="1">
            <a:spLocks noGrp="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a:spcBef>
                <a:spcPct val="0"/>
              </a:spcBef>
            </a:pPr>
            <a:r>
              <a:rPr lang="nl-NL" dirty="0" smtClean="0"/>
              <a:t>Er ligt belangrijke wetenschappelijke kennis over onderzoeksprojecten opgesloten in computational models (in onze case study zijn dat de spreadsheets): welke concepten zijn belangrijk en hoe hangen deze samen, hoe worden resultaten berekend. Deze kennis is vaak niet toegankelijk voor anderen dan de ontwikkelaars. Wij willen het modelleer proces begrijpen en transparanter maken.</a:t>
            </a:r>
            <a:endParaRPr dirty="0" smtClean="0">
              <a:solidFill>
                <a:srgbClr val="000000"/>
              </a:solidFill>
              <a:latin typeface="Liberatio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Onze case study gaat over een spreadsheet model dat gebruikt wordt om de NL regering te adviseren over energie beleid. We hebben de spreadsheets deels handmatig, deels automatisch geanalyseerd.</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14</a:t>
            </a:fld>
            <a:endParaRPr lang="nl-NL"/>
          </a:p>
        </p:txBody>
      </p:sp>
    </p:spTree>
    <p:extLst>
      <p:ext uri="{BB962C8B-B14F-4D97-AF65-F5344CB8AC3E}">
        <p14:creationId xmlns:p14="http://schemas.microsoft.com/office/powerpoint/2010/main" val="994489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solidFill>
            <a:srgbClr val="CFE7F5"/>
          </a:solidFill>
          <a:ln w="25400">
            <a:solidFill>
              <a:srgbClr val="808080"/>
            </a:solidFill>
            <a:miter lim="800000"/>
            <a:headEnd/>
            <a:tailEnd/>
          </a:ln>
        </p:spPr>
      </p:sp>
      <p:sp>
        <p:nvSpPr>
          <p:cNvPr id="9219" name="Notes Placeholder 2"/>
          <p:cNvSpPr txBox="1">
            <a:spLocks noGrp="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a:spcBef>
                <a:spcPct val="0"/>
              </a:spcBef>
            </a:pPr>
            <a:r>
              <a:rPr lang="nl-NL" dirty="0" smtClean="0"/>
              <a:t>We hebben handmatig een ontologie gereconstrueerd van een paar spreadsheets. De opbouw/opmaak van de tabellen in spreadsheets geeft veel informatie over de aard en relaties van de gebruikte concepten.</a:t>
            </a:r>
            <a:endParaRPr dirty="0" smtClean="0">
              <a:solidFill>
                <a:srgbClr val="000000"/>
              </a:solidFill>
              <a:latin typeface="Liberatio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solidFill>
            <a:srgbClr val="CFE7F5"/>
          </a:solidFill>
          <a:ln w="25400">
            <a:solidFill>
              <a:srgbClr val="808080"/>
            </a:solidFill>
            <a:miter lim="800000"/>
            <a:headEnd/>
            <a:tailEnd/>
          </a:ln>
        </p:spPr>
      </p:sp>
      <p:sp>
        <p:nvSpPr>
          <p:cNvPr id="10243" name="Notes Placeholder 2"/>
          <p:cNvSpPr txBox="1">
            <a:spLocks noGrp="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a:spcBef>
                <a:spcPct val="0"/>
              </a:spcBef>
            </a:pPr>
            <a:r>
              <a:rPr lang="nl-NL" dirty="0" smtClean="0"/>
              <a:t>We hebben automatisch de afhankelijkheden tussen spreadsheet cellen in kaart gebracht door de formules na te lopen. Het plaatje laat zien hoe </a:t>
            </a:r>
            <a:r>
              <a:rPr lang="nl-NL" sz="1200" dirty="0" smtClean="0">
                <a:effectLst/>
              </a:rPr>
              <a:t>een van de model resultaten (broeikasgassen uitgestoten door gebouwde omgeving) wordt berekend uit 1800 ! andere spreadsheetcellen. Netwerk analyse laat zien welke cellen een belangrijke positie hebben in het netwerk en dus belangrijke variabelen zijn in de calculation workflow.</a:t>
            </a:r>
            <a:endParaRPr dirty="0" smtClean="0">
              <a:solidFill>
                <a:srgbClr val="000000"/>
              </a:solidFill>
              <a:latin typeface="Liberatio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a:solidFill>
            <a:srgbClr val="CFE7F5"/>
          </a:solidFill>
          <a:ln w="25400">
            <a:solidFill>
              <a:srgbClr val="808080"/>
            </a:solidFill>
            <a:miter lim="800000"/>
            <a:headEnd/>
            <a:tailEnd/>
          </a:ln>
        </p:spPr>
      </p:sp>
      <p:sp>
        <p:nvSpPr>
          <p:cNvPr id="11267" name="Notes Placeholder 2"/>
          <p:cNvSpPr txBox="1">
            <a:spLocks noGrp="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r>
              <a:rPr lang="nl-NL" sz="1200" dirty="0" smtClean="0">
                <a:effectLst/>
              </a:rPr>
              <a:t>De netwerk graaf van het vorige plaatje laat alleen de spreadsheet cellen zien, niet wat deze voorstellen. We hebben de belangrijkste variabelen genomen en handmatig bijbehorende labels opgezocht in de spreadsheets; zo konden we een versimpeld workflow schema reconstrueren. </a:t>
            </a:r>
            <a:endParaRPr lang="nl-NL"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Optimal unit of change:</a:t>
            </a:r>
            <a:r>
              <a:rPr lang="en-US" baseline="0" dirty="0" smtClean="0"/>
              <a:t> when we’ve created a replica of a graph, how do we sync any changes between both? Using hashes (e.g. </a:t>
            </a:r>
            <a:r>
              <a:rPr lang="en-US" baseline="0" dirty="0" err="1" smtClean="0"/>
              <a:t>rsync</a:t>
            </a:r>
            <a:r>
              <a:rPr lang="en-US" baseline="0" dirty="0" smtClean="0"/>
              <a:t> style), or triples, or copy the same graph again, or a combination of these? </a:t>
            </a:r>
            <a:endParaRPr lang="en-US" dirty="0" smtClean="0"/>
          </a:p>
          <a:p>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19</a:t>
            </a:fld>
            <a:endParaRPr lang="nl-NL"/>
          </a:p>
        </p:txBody>
      </p:sp>
    </p:spTree>
    <p:extLst>
      <p:ext uri="{BB962C8B-B14F-4D97-AF65-F5344CB8AC3E}">
        <p14:creationId xmlns:p14="http://schemas.microsoft.com/office/powerpoint/2010/main" val="4114047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How to select</a:t>
            </a:r>
            <a:r>
              <a:rPr lang="nl-NL" baseline="0" dirty="0" smtClean="0"/>
              <a:t> subgraphs for very large graphs in general. How to use rankings to induce relevant subgraphs.</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20</a:t>
            </a:fld>
            <a:endParaRPr lang="nl-NL"/>
          </a:p>
        </p:txBody>
      </p:sp>
    </p:spTree>
    <p:extLst>
      <p:ext uri="{BB962C8B-B14F-4D97-AF65-F5344CB8AC3E}">
        <p14:creationId xmlns:p14="http://schemas.microsoft.com/office/powerpoint/2010/main" val="412732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Selection</a:t>
            </a:r>
            <a:r>
              <a:rPr lang="en-US" baseline="0" dirty="0" smtClean="0"/>
              <a:t> of </a:t>
            </a:r>
            <a:r>
              <a:rPr lang="en-US" baseline="0" dirty="0" err="1" smtClean="0"/>
              <a:t>subgraph</a:t>
            </a:r>
            <a:r>
              <a:rPr lang="en-US" baseline="0" dirty="0" smtClean="0"/>
              <a:t> might be useful for offline purposes: annotating the census spreadsheets locally, without needing to copy the complete </a:t>
            </a:r>
            <a:r>
              <a:rPr lang="en-US" baseline="0" dirty="0" err="1" smtClean="0"/>
              <a:t>rdf</a:t>
            </a:r>
            <a:r>
              <a:rPr lang="en-US" baseline="0" dirty="0" smtClean="0"/>
              <a:t> to your computer.</a:t>
            </a:r>
            <a:endParaRPr lang="en-US" dirty="0"/>
          </a:p>
        </p:txBody>
      </p:sp>
      <p:sp>
        <p:nvSpPr>
          <p:cNvPr id="4" name="Slide Number Placeholder 3"/>
          <p:cNvSpPr>
            <a:spLocks noGrp="1"/>
          </p:cNvSpPr>
          <p:nvPr>
            <p:ph type="sldNum" sz="quarter" idx="10"/>
          </p:nvPr>
        </p:nvSpPr>
        <p:spPr/>
        <p:txBody>
          <a:bodyPr/>
          <a:lstStyle/>
          <a:p>
            <a:fld id="{AEC00428-765A-4708-ADE2-3AAB557AF17C}" type="slidenum">
              <a:rPr lang="en-US" smtClean="0"/>
              <a:pPr/>
              <a:t>21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Two</a:t>
            </a:r>
            <a:r>
              <a:rPr lang="nl-NL" baseline="0" dirty="0" smtClean="0"/>
              <a:t> tasks</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22</a:t>
            </a:fld>
            <a:endParaRPr lang="nl-NL"/>
          </a:p>
        </p:txBody>
      </p:sp>
    </p:spTree>
    <p:extLst>
      <p:ext uri="{BB962C8B-B14F-4D97-AF65-F5344CB8AC3E}">
        <p14:creationId xmlns:p14="http://schemas.microsoft.com/office/powerpoint/2010/main" val="9700901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Learning from graphs, with</a:t>
            </a:r>
            <a:r>
              <a:rPr lang="nl-NL" baseline="0" dirty="0" smtClean="0"/>
              <a:t> a complementary approach to WP1</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23</a:t>
            </a:fld>
            <a:endParaRPr lang="nl-NL"/>
          </a:p>
        </p:txBody>
      </p:sp>
    </p:spTree>
    <p:extLst>
      <p:ext uri="{BB962C8B-B14F-4D97-AF65-F5344CB8AC3E}">
        <p14:creationId xmlns:p14="http://schemas.microsoft.com/office/powerpoint/2010/main" val="29293963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Lots</a:t>
            </a:r>
            <a:r>
              <a:rPr lang="nl-NL" baseline="0" dirty="0" smtClean="0"/>
              <a:t> of things to investigate</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24</a:t>
            </a:fld>
            <a:endParaRPr lang="nl-NL"/>
          </a:p>
        </p:txBody>
      </p:sp>
    </p:spTree>
    <p:extLst>
      <p:ext uri="{BB962C8B-B14F-4D97-AF65-F5344CB8AC3E}">
        <p14:creationId xmlns:p14="http://schemas.microsoft.com/office/powerpoint/2010/main" val="36845871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smtClean="0"/>
              <a:t>Machine</a:t>
            </a:r>
            <a:r>
              <a:rPr lang="nl-NL" baseline="0" dirty="0" smtClean="0"/>
              <a:t> learning can be applied in all kinds of settings, these are just examples. </a:t>
            </a:r>
            <a:endParaRPr lang="nl-NL" dirty="0"/>
          </a:p>
        </p:txBody>
      </p:sp>
      <p:sp>
        <p:nvSpPr>
          <p:cNvPr id="4" name="Slide Number Placeholder 3"/>
          <p:cNvSpPr>
            <a:spLocks noGrp="1"/>
          </p:cNvSpPr>
          <p:nvPr>
            <p:ph type="sldNum" sz="quarter" idx="10"/>
          </p:nvPr>
        </p:nvSpPr>
        <p:spPr/>
        <p:txBody>
          <a:bodyPr/>
          <a:lstStyle/>
          <a:p>
            <a:fld id="{57DC815A-B5A3-E64B-A287-C2B2486DC83D}" type="slidenum">
              <a:rPr lang="nl-NL" smtClean="0"/>
              <a:t>25</a:t>
            </a:fld>
            <a:endParaRPr lang="nl-NL"/>
          </a:p>
        </p:txBody>
      </p:sp>
    </p:spTree>
    <p:extLst>
      <p:ext uri="{BB962C8B-B14F-4D97-AF65-F5344CB8AC3E}">
        <p14:creationId xmlns:p14="http://schemas.microsoft.com/office/powerpoint/2010/main" val="31878080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r>
              <a:rPr lang="nl-NL" dirty="0" smtClean="0"/>
              <a:t>Complexity</a:t>
            </a:r>
            <a:r>
              <a:rPr lang="nl-NL" baseline="0" dirty="0" smtClean="0"/>
              <a:t> of data, large networks such as rdf graphs</a:t>
            </a:r>
            <a:endParaRPr lang="x-non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800" y="4343400"/>
            <a:ext cx="5486400" cy="276999"/>
          </a:xfrm>
        </p:spPr>
        <p:txBody>
          <a:bodyPr>
            <a:spAutoFit/>
          </a:bodyPr>
          <a:lstStyle/>
          <a:p>
            <a:r>
              <a:rPr lang="nl-NL" dirty="0" smtClean="0"/>
              <a:t>One method to estimate</a:t>
            </a:r>
            <a:r>
              <a:rPr lang="nl-NL" baseline="0" dirty="0" smtClean="0"/>
              <a:t> complexity is by compression, which you can also use for learning.</a:t>
            </a:r>
          </a:p>
          <a:p>
            <a:r>
              <a:rPr lang="nl-NL" baseline="0" dirty="0" smtClean="0"/>
              <a:t>Example is a clustering of musical pieces by compression their midi files.</a:t>
            </a:r>
            <a:endParaRPr lang="x-non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r>
              <a:rPr lang="nl-NL" dirty="0" smtClean="0"/>
              <a:t>Compression</a:t>
            </a:r>
            <a:r>
              <a:rPr lang="nl-NL" baseline="0" dirty="0" smtClean="0"/>
              <a:t> for RDF graphs.</a:t>
            </a:r>
            <a:endParaRPr lang="x-non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r>
              <a:rPr lang="nl-NL" dirty="0" smtClean="0"/>
              <a:t>CFG grammar</a:t>
            </a:r>
            <a:r>
              <a:rPr lang="nl-NL" baseline="0" dirty="0" smtClean="0"/>
              <a:t> as in language but for graphs</a:t>
            </a:r>
            <a:endParaRPr lang="x-non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endParaRPr lang="x-non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r>
              <a:rPr lang="nl-NL" dirty="0" smtClean="0"/>
              <a:t>Next</a:t>
            </a:r>
            <a:r>
              <a:rPr lang="nl-NL" baseline="0" dirty="0" smtClean="0"/>
              <a:t> to using it for compression, might be useful for visualization</a:t>
            </a:r>
            <a:endParaRPr lang="x-non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p>
            <a:r>
              <a:rPr lang="nl-NL" dirty="0" smtClean="0"/>
              <a:t>Tons of e-humanities applications</a:t>
            </a:r>
            <a:endParaRPr lang="x-non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 wit">
    <p:bg>
      <p:bgPr>
        <a:solidFill>
          <a:schemeClr val="bg1"/>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1112342" y="1345129"/>
            <a:ext cx="7229800" cy="2959585"/>
          </a:xfrm>
          <a:prstGeom prst="rect">
            <a:avLst/>
          </a:prstGeom>
        </p:spPr>
        <p:txBody>
          <a:bodyPr lIns="0" tIns="0" rIns="0" bIns="0"/>
          <a:lstStyle>
            <a:lvl1pPr algn="l">
              <a:lnSpc>
                <a:spcPts val="4400"/>
              </a:lnSpc>
              <a:defRPr kern="1200" cap="all" spc="100" baseline="0">
                <a:latin typeface="COMMIT"/>
              </a:defRPr>
            </a:lvl1pPr>
          </a:lstStyle>
          <a:p>
            <a:r>
              <a:rPr lang="en-US" dirty="0" smtClean="0"/>
              <a:t>title</a:t>
            </a:r>
            <a:endParaRPr lang="nl-NL" dirty="0"/>
          </a:p>
        </p:txBody>
      </p:sp>
      <p:sp>
        <p:nvSpPr>
          <p:cNvPr id="3" name="Subtitel 2"/>
          <p:cNvSpPr>
            <a:spLocks noGrp="1"/>
          </p:cNvSpPr>
          <p:nvPr>
            <p:ph type="subTitle" idx="1" hasCustomPrompt="1"/>
          </p:nvPr>
        </p:nvSpPr>
        <p:spPr>
          <a:xfrm>
            <a:off x="1112342" y="4393021"/>
            <a:ext cx="3449498" cy="1522443"/>
          </a:xfrm>
          <a:prstGeom prst="rect">
            <a:avLst/>
          </a:prstGeom>
        </p:spPr>
        <p:txBody>
          <a:bodyPr lIns="0" tIns="0" rIns="0" bIns="0"/>
          <a:lstStyle>
            <a:lvl1pPr marL="0" marR="0" indent="0" algn="l" defTabSz="457200" rtl="0" eaLnBrk="1" fontAlgn="auto" latinLnBrk="0" hangingPunct="1">
              <a:lnSpc>
                <a:spcPct val="100000"/>
              </a:lnSpc>
              <a:spcBef>
                <a:spcPts val="0"/>
              </a:spcBef>
              <a:spcAft>
                <a:spcPts val="0"/>
              </a:spcAft>
              <a:buClrTx/>
              <a:buSzTx/>
              <a:buFont typeface="Arial"/>
              <a:buNone/>
              <a:tabLst/>
              <a:defRPr sz="2800" baseline="0">
                <a:solidFill>
                  <a:schemeClr val="tx1"/>
                </a:solidFill>
                <a:latin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dirty="0" smtClean="0"/>
              <a:t>Author 1</a:t>
            </a:r>
          </a:p>
          <a:p>
            <a:endParaRPr lang="nl-NL" dirty="0"/>
          </a:p>
        </p:txBody>
      </p:sp>
      <p:sp>
        <p:nvSpPr>
          <p:cNvPr id="7" name="Tekstvak 6"/>
          <p:cNvSpPr txBox="1"/>
          <p:nvPr userDrawn="1"/>
        </p:nvSpPr>
        <p:spPr>
          <a:xfrm>
            <a:off x="348988" y="164815"/>
            <a:ext cx="5798464" cy="707886"/>
          </a:xfrm>
          <a:prstGeom prst="rect">
            <a:avLst/>
          </a:prstGeom>
          <a:noFill/>
        </p:spPr>
        <p:txBody>
          <a:bodyPr wrap="square" lIns="0" tIns="0" rIns="0" bIns="0" rtlCol="0" anchor="t" anchorCtr="0">
            <a:noAutofit/>
          </a:bodyPr>
          <a:lstStyle/>
          <a:p>
            <a:r>
              <a:rPr lang="nl-NL" sz="4600" cap="all" spc="100" baseline="0" dirty="0" smtClean="0">
                <a:latin typeface="COMMIT"/>
              </a:rPr>
              <a:t>Commit/ DATA2SEmantics/</a:t>
            </a:r>
            <a:endParaRPr lang="nl-NL" sz="4600" cap="all" spc="100" baseline="0" dirty="0">
              <a:latin typeface="COMMIT"/>
            </a:endParaRPr>
          </a:p>
        </p:txBody>
      </p:sp>
      <p:sp>
        <p:nvSpPr>
          <p:cNvPr id="5" name="Picture Placeholder 2"/>
          <p:cNvSpPr>
            <a:spLocks noGrp="1"/>
          </p:cNvSpPr>
          <p:nvPr>
            <p:ph type="pic" idx="4294967295"/>
          </p:nvPr>
        </p:nvSpPr>
        <p:spPr>
          <a:xfrm>
            <a:off x="1112342" y="5999680"/>
            <a:ext cx="1080000" cy="5400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lIns="0" tIns="0" rIns="0" bIns="0"/>
          <a:lstStyle>
            <a:lvl1pPr marL="0" indent="0" algn="ctr">
              <a:spcBef>
                <a:spcPts val="0"/>
              </a:spcBef>
              <a:buNone/>
              <a:defRPr sz="800" kern="1200" baseline="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lnSpc>
                <a:spcPts val="900"/>
              </a:lnSpc>
            </a:pPr>
            <a:r>
              <a:rPr lang="en-US" sz="900" noProof="0" smtClean="0">
                <a:latin typeface="+mj-lt"/>
              </a:rPr>
              <a:t>Click icon to add picture</a:t>
            </a:r>
            <a:endParaRPr lang="en-US" sz="900" noProof="0" dirty="0" smtClean="0">
              <a:latin typeface="+mj-lt"/>
            </a:endParaRPr>
          </a:p>
        </p:txBody>
      </p:sp>
      <p:sp>
        <p:nvSpPr>
          <p:cNvPr id="6" name="Picture Placeholder 2"/>
          <p:cNvSpPr>
            <a:spLocks noGrp="1"/>
          </p:cNvSpPr>
          <p:nvPr>
            <p:ph type="pic" idx="4294967295"/>
          </p:nvPr>
        </p:nvSpPr>
        <p:spPr>
          <a:xfrm>
            <a:off x="2393980" y="5999680"/>
            <a:ext cx="1080000" cy="5400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lIns="0" tIns="0" rIns="0" bIns="0"/>
          <a:lstStyle>
            <a:lvl1pPr marL="0" indent="0" algn="ctr">
              <a:spcBef>
                <a:spcPts val="0"/>
              </a:spcBef>
              <a:buNone/>
              <a:defRPr sz="800" kern="1200" baseline="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lnSpc>
                <a:spcPts val="900"/>
              </a:lnSpc>
            </a:pPr>
            <a:r>
              <a:rPr lang="en-US" sz="900" noProof="0" smtClean="0">
                <a:latin typeface="+mj-lt"/>
              </a:rPr>
              <a:t>Click icon to add picture</a:t>
            </a:r>
            <a:endParaRPr lang="en-US" sz="900" noProof="0" dirty="0" smtClean="0">
              <a:latin typeface="+mj-lt"/>
            </a:endParaRPr>
          </a:p>
        </p:txBody>
      </p:sp>
      <p:sp>
        <p:nvSpPr>
          <p:cNvPr id="8" name="Picture Placeholder 2"/>
          <p:cNvSpPr>
            <a:spLocks noGrp="1"/>
          </p:cNvSpPr>
          <p:nvPr>
            <p:ph type="pic" idx="4294967295"/>
          </p:nvPr>
        </p:nvSpPr>
        <p:spPr>
          <a:xfrm>
            <a:off x="3633414" y="5999680"/>
            <a:ext cx="1080000" cy="5400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lIns="0" tIns="0" rIns="0" bIns="0"/>
          <a:lstStyle>
            <a:lvl1pPr marL="0" indent="0" algn="ctr">
              <a:spcBef>
                <a:spcPts val="0"/>
              </a:spcBef>
              <a:buNone/>
              <a:defRPr sz="800" kern="1200" baseline="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lnSpc>
                <a:spcPts val="900"/>
              </a:lnSpc>
            </a:pPr>
            <a:r>
              <a:rPr lang="en-US" sz="900" noProof="0" smtClean="0">
                <a:latin typeface="+mj-lt"/>
              </a:rPr>
              <a:t>Click icon to add picture</a:t>
            </a:r>
            <a:endParaRPr lang="en-US" sz="900" noProof="0" dirty="0" smtClean="0">
              <a:latin typeface="+mj-lt"/>
            </a:endParaRPr>
          </a:p>
        </p:txBody>
      </p:sp>
      <p:sp>
        <p:nvSpPr>
          <p:cNvPr id="9" name="Subtitel 2"/>
          <p:cNvSpPr txBox="1">
            <a:spLocks/>
          </p:cNvSpPr>
          <p:nvPr userDrawn="1"/>
        </p:nvSpPr>
        <p:spPr>
          <a:xfrm>
            <a:off x="4892644" y="4393021"/>
            <a:ext cx="3449498" cy="1522443"/>
          </a:xfrm>
          <a:prstGeom prst="rect">
            <a:avLst/>
          </a:prstGeom>
        </p:spPr>
        <p:txBody>
          <a:bodyPr lIns="0" tIns="0" rIns="0" bIns="0"/>
          <a:lstStyle>
            <a:lvl1pPr marL="0" marR="0" indent="0" algn="l" defTabSz="457200" rtl="0" eaLnBrk="1" fontAlgn="auto" latinLnBrk="0" hangingPunct="1">
              <a:lnSpc>
                <a:spcPct val="100000"/>
              </a:lnSpc>
              <a:spcBef>
                <a:spcPts val="0"/>
              </a:spcBef>
              <a:spcAft>
                <a:spcPts val="0"/>
              </a:spcAft>
              <a:buClrTx/>
              <a:buSzTx/>
              <a:buFont typeface="Arial"/>
              <a:buNone/>
              <a:tabLst/>
              <a:defRPr sz="2800" kern="1200" baseline="0">
                <a:solidFill>
                  <a:schemeClr val="tx1"/>
                </a:solidFill>
                <a:latin typeface="Arial"/>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nl-NL" dirty="0"/>
          </a:p>
        </p:txBody>
      </p:sp>
      <p:sp>
        <p:nvSpPr>
          <p:cNvPr id="12" name="Picture Placeholder 2"/>
          <p:cNvSpPr>
            <a:spLocks noGrp="1"/>
          </p:cNvSpPr>
          <p:nvPr>
            <p:ph type="pic" idx="4294967295"/>
          </p:nvPr>
        </p:nvSpPr>
        <p:spPr>
          <a:xfrm>
            <a:off x="4908018" y="6009840"/>
            <a:ext cx="1080000" cy="5400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lIns="0" tIns="0" rIns="0" bIns="0"/>
          <a:lstStyle>
            <a:lvl1pPr marL="0" indent="0" algn="ctr">
              <a:spcBef>
                <a:spcPts val="0"/>
              </a:spcBef>
              <a:buNone/>
              <a:defRPr sz="800" kern="1200" baseline="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lnSpc>
                <a:spcPts val="900"/>
              </a:lnSpc>
            </a:pPr>
            <a:r>
              <a:rPr lang="en-US" sz="900" noProof="0" smtClean="0">
                <a:latin typeface="+mj-lt"/>
              </a:rPr>
              <a:t>Click icon to add picture</a:t>
            </a:r>
            <a:endParaRPr lang="en-US" sz="900" noProof="0" dirty="0" smtClean="0">
              <a:latin typeface="+mj-lt"/>
            </a:endParaRPr>
          </a:p>
        </p:txBody>
      </p:sp>
      <p:sp>
        <p:nvSpPr>
          <p:cNvPr id="13" name="Picture Placeholder 2"/>
          <p:cNvSpPr>
            <a:spLocks noGrp="1"/>
          </p:cNvSpPr>
          <p:nvPr>
            <p:ph type="pic" idx="4294967295"/>
          </p:nvPr>
        </p:nvSpPr>
        <p:spPr>
          <a:xfrm>
            <a:off x="6147452" y="6009840"/>
            <a:ext cx="1080000" cy="5400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lIns="0" tIns="0" rIns="0" bIns="0"/>
          <a:lstStyle>
            <a:lvl1pPr marL="0" indent="0" algn="ctr">
              <a:spcBef>
                <a:spcPts val="0"/>
              </a:spcBef>
              <a:buNone/>
              <a:defRPr sz="800" kern="1200" baseline="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lnSpc>
                <a:spcPts val="900"/>
              </a:lnSpc>
            </a:pPr>
            <a:r>
              <a:rPr lang="en-US" sz="900" noProof="0" smtClean="0">
                <a:latin typeface="+mj-lt"/>
              </a:rPr>
              <a:t>Click icon to add picture</a:t>
            </a:r>
            <a:endParaRPr lang="en-US" sz="900" noProof="0" dirty="0" smtClean="0">
              <a:latin typeface="+mj-lt"/>
            </a:endParaRPr>
          </a:p>
        </p:txBody>
      </p:sp>
      <p:sp>
        <p:nvSpPr>
          <p:cNvPr id="14" name="Picture Placeholder 2"/>
          <p:cNvSpPr>
            <a:spLocks noGrp="1"/>
          </p:cNvSpPr>
          <p:nvPr>
            <p:ph type="pic" idx="4294967295"/>
          </p:nvPr>
        </p:nvSpPr>
        <p:spPr>
          <a:xfrm>
            <a:off x="7386972" y="6020000"/>
            <a:ext cx="1080000" cy="54000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lIns="0" tIns="0" rIns="0" bIns="0"/>
          <a:lstStyle>
            <a:lvl1pPr marL="0" indent="0" algn="ctr">
              <a:spcBef>
                <a:spcPts val="0"/>
              </a:spcBef>
              <a:buNone/>
              <a:defRPr sz="800" kern="1200" baseline="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lnSpc>
                <a:spcPts val="900"/>
              </a:lnSpc>
            </a:pPr>
            <a:r>
              <a:rPr lang="en-US" sz="900" noProof="0" smtClean="0">
                <a:latin typeface="+mj-lt"/>
              </a:rPr>
              <a:t>Click icon to add picture</a:t>
            </a:r>
            <a:endParaRPr lang="en-US" sz="900" noProof="0" dirty="0" smtClean="0">
              <a:latin typeface="+mj-lt"/>
            </a:endParaRPr>
          </a:p>
        </p:txBody>
      </p:sp>
    </p:spTree>
    <p:extLst>
      <p:ext uri="{BB962C8B-B14F-4D97-AF65-F5344CB8AC3E}">
        <p14:creationId xmlns:p14="http://schemas.microsoft.com/office/powerpoint/2010/main" val="93951260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Koloms / wit">
    <p:bg>
      <p:bgPr>
        <a:solidFill>
          <a:schemeClr val="bg1"/>
        </a:solidFill>
        <a:effectLst/>
      </p:bgPr>
    </p:bg>
    <p:spTree>
      <p:nvGrpSpPr>
        <p:cNvPr id="1" name=""/>
        <p:cNvGrpSpPr/>
        <p:nvPr/>
      </p:nvGrpSpPr>
      <p:grpSpPr>
        <a:xfrm>
          <a:off x="0" y="0"/>
          <a:ext cx="0" cy="0"/>
          <a:chOff x="0" y="0"/>
          <a:chExt cx="0" cy="0"/>
        </a:xfrm>
      </p:grpSpPr>
      <p:sp>
        <p:nvSpPr>
          <p:cNvPr id="3" name="Tijdelijke aanduiding voor tekst 2"/>
          <p:cNvSpPr>
            <a:spLocks noGrp="1"/>
          </p:cNvSpPr>
          <p:nvPr>
            <p:ph type="body" idx="1" hasCustomPrompt="1"/>
          </p:nvPr>
        </p:nvSpPr>
        <p:spPr>
          <a:xfrm>
            <a:off x="1174567" y="581608"/>
            <a:ext cx="7737314" cy="720000"/>
          </a:xfrm>
          <a:prstGeom prst="rect">
            <a:avLst/>
          </a:prstGeom>
        </p:spPr>
        <p:txBody>
          <a:bodyPr lIns="0" tIns="0" rIns="0" bIns="0" anchor="b"/>
          <a:lstStyle>
            <a:lvl1pPr marL="0" indent="0">
              <a:lnSpc>
                <a:spcPct val="100000"/>
              </a:lnSpc>
              <a:spcBef>
                <a:spcPts val="0"/>
              </a:spcBef>
              <a:buNone/>
              <a:defRPr sz="4600" b="0" i="0" kern="1200" cap="all" spc="100">
                <a:latin typeface="COMMI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smtClean="0"/>
              <a:t>SliDE</a:t>
            </a:r>
            <a:r>
              <a:rPr lang="en-US" dirty="0" smtClean="0"/>
              <a:t> TITLE</a:t>
            </a:r>
          </a:p>
        </p:txBody>
      </p:sp>
      <p:sp>
        <p:nvSpPr>
          <p:cNvPr id="10" name="Tekstvak 9"/>
          <p:cNvSpPr txBox="1"/>
          <p:nvPr userDrawn="1"/>
        </p:nvSpPr>
        <p:spPr>
          <a:xfrm>
            <a:off x="115158" y="130475"/>
            <a:ext cx="3550534" cy="360000"/>
          </a:xfrm>
          <a:prstGeom prst="rect">
            <a:avLst/>
          </a:prstGeom>
          <a:noFill/>
        </p:spPr>
        <p:txBody>
          <a:bodyPr wrap="square" lIns="0" tIns="0" rIns="0" bIns="0" rtlCol="0">
            <a:noAutofit/>
          </a:bodyPr>
          <a:lstStyle/>
          <a:p>
            <a:r>
              <a:rPr lang="nl-NL" sz="2400" cap="all" spc="50" baseline="0" dirty="0" smtClean="0">
                <a:latin typeface="COMMIT"/>
              </a:rPr>
              <a:t>commit/ DATA2SEMANTICS/</a:t>
            </a:r>
            <a:endParaRPr lang="nl-NL" sz="2400" cap="all" spc="50" baseline="0" dirty="0">
              <a:latin typeface="COMMIT"/>
            </a:endParaRPr>
          </a:p>
        </p:txBody>
      </p:sp>
      <p:sp>
        <p:nvSpPr>
          <p:cNvPr id="6" name="Text Placeholder 5"/>
          <p:cNvSpPr>
            <a:spLocks noGrp="1"/>
          </p:cNvSpPr>
          <p:nvPr>
            <p:ph type="body" sz="quarter" idx="10"/>
          </p:nvPr>
        </p:nvSpPr>
        <p:spPr>
          <a:xfrm>
            <a:off x="1174567" y="1468277"/>
            <a:ext cx="7737314" cy="5192582"/>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nl-NL" dirty="0"/>
          </a:p>
        </p:txBody>
      </p:sp>
      <p:pic>
        <p:nvPicPr>
          <p:cNvPr id="3074" name="Picture 2" descr="C:\Users\Gerben\Dropbox\Data2Semantics\Images\Logos\D2S\logo-no-text-150dpi-small.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5836" y="6082018"/>
            <a:ext cx="601516" cy="637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340802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Koloms / wit">
    <p:spTree>
      <p:nvGrpSpPr>
        <p:cNvPr id="1" name=""/>
        <p:cNvGrpSpPr/>
        <p:nvPr/>
      </p:nvGrpSpPr>
      <p:grpSpPr>
        <a:xfrm>
          <a:off x="0" y="0"/>
          <a:ext cx="0" cy="0"/>
          <a:chOff x="0" y="0"/>
          <a:chExt cx="0" cy="0"/>
        </a:xfrm>
      </p:grpSpPr>
      <p:sp>
        <p:nvSpPr>
          <p:cNvPr id="6" name="Tijdelijke aanduiding voor inhoud 5"/>
          <p:cNvSpPr>
            <a:spLocks noGrp="1"/>
          </p:cNvSpPr>
          <p:nvPr>
            <p:ph sz="quarter" idx="4" hasCustomPrompt="1"/>
          </p:nvPr>
        </p:nvSpPr>
        <p:spPr>
          <a:xfrm>
            <a:off x="5191200" y="1497600"/>
            <a:ext cx="3722400" cy="5155200"/>
          </a:xfrm>
          <a:prstGeom prst="rect">
            <a:avLst/>
          </a:prstGeom>
        </p:spPr>
        <p:txBody>
          <a:bodyPr lIns="0" tIns="0" rIns="0" bIns="0"/>
          <a:lstStyle>
            <a:lvl1pPr marL="0" indent="0">
              <a:lnSpc>
                <a:spcPct val="100000"/>
              </a:lnSpc>
              <a:spcBef>
                <a:spcPts val="0"/>
              </a:spcBef>
              <a:buFontTx/>
              <a:buNone/>
              <a:defRPr sz="2400" baseline="0">
                <a:latin typeface="Arial"/>
              </a:defRPr>
            </a:lvl1pPr>
            <a:lvl2pPr marL="0" indent="0">
              <a:lnSpc>
                <a:spcPts val="1800"/>
              </a:lnSpc>
              <a:spcBef>
                <a:spcPts val="0"/>
              </a:spcBef>
              <a:buFontTx/>
              <a:buNone/>
              <a:defRPr sz="1600" baseline="0">
                <a:latin typeface="Arial"/>
              </a:defRPr>
            </a:lvl2pPr>
            <a:lvl3pPr marL="0" indent="0">
              <a:lnSpc>
                <a:spcPts val="1800"/>
              </a:lnSpc>
              <a:spcBef>
                <a:spcPts val="0"/>
              </a:spcBef>
              <a:buFontTx/>
              <a:buNone/>
              <a:defRPr sz="1600" baseline="0">
                <a:latin typeface="Arial"/>
              </a:defRPr>
            </a:lvl3pPr>
            <a:lvl4pPr marL="0" indent="0">
              <a:lnSpc>
                <a:spcPts val="1800"/>
              </a:lnSpc>
              <a:spcBef>
                <a:spcPts val="0"/>
              </a:spcBef>
              <a:buFontTx/>
              <a:buNone/>
              <a:defRPr sz="1600" baseline="0">
                <a:latin typeface="Arial"/>
              </a:defRPr>
            </a:lvl4pPr>
            <a:lvl5pPr marL="0" indent="0">
              <a:lnSpc>
                <a:spcPts val="1800"/>
              </a:lnSpc>
              <a:spcBef>
                <a:spcPts val="0"/>
              </a:spcBef>
              <a:buFontTx/>
              <a:buNone/>
              <a:defRPr sz="1600" baseline="0">
                <a:latin typeface="Arial"/>
              </a:defRPr>
            </a:lvl5pPr>
            <a:lvl6pPr>
              <a:defRPr sz="1600"/>
            </a:lvl6pPr>
            <a:lvl7pPr>
              <a:defRPr sz="1600"/>
            </a:lvl7pPr>
            <a:lvl8pPr>
              <a:defRPr sz="1600"/>
            </a:lvl8pPr>
            <a:lvl9pPr>
              <a:defRPr sz="1600"/>
            </a:lvl9pPr>
          </a:lstStyle>
          <a:p>
            <a:pPr lvl="0"/>
            <a:r>
              <a:rPr lang="en-US" dirty="0" smtClean="0"/>
              <a:t>Text or picture</a:t>
            </a:r>
          </a:p>
        </p:txBody>
      </p:sp>
      <p:sp>
        <p:nvSpPr>
          <p:cNvPr id="7" name="Tekstvak 9"/>
          <p:cNvSpPr txBox="1"/>
          <p:nvPr userDrawn="1"/>
        </p:nvSpPr>
        <p:spPr>
          <a:xfrm>
            <a:off x="115158" y="130475"/>
            <a:ext cx="2514754" cy="360000"/>
          </a:xfrm>
          <a:prstGeom prst="rect">
            <a:avLst/>
          </a:prstGeom>
          <a:noFill/>
        </p:spPr>
        <p:txBody>
          <a:bodyPr wrap="square" lIns="0" tIns="0" rIns="0" bIns="0" rtlCol="0">
            <a:noAutofit/>
          </a:bodyPr>
          <a:lstStyle/>
          <a:p>
            <a:r>
              <a:rPr lang="nl-NL" sz="2400" cap="all" spc="50" baseline="0" dirty="0" smtClean="0">
                <a:latin typeface="COMMIT"/>
              </a:rPr>
              <a:t>commit/ DATA2SEMANTICS/</a:t>
            </a:r>
            <a:endParaRPr lang="nl-NL" sz="2400" cap="all" spc="50" baseline="0" dirty="0">
              <a:latin typeface="COMMIT"/>
            </a:endParaRPr>
          </a:p>
        </p:txBody>
      </p:sp>
      <p:sp>
        <p:nvSpPr>
          <p:cNvPr id="12" name="Tijdelijke aanduiding voor inhoud 5"/>
          <p:cNvSpPr>
            <a:spLocks noGrp="1"/>
          </p:cNvSpPr>
          <p:nvPr>
            <p:ph sz="quarter" idx="10" hasCustomPrompt="1"/>
          </p:nvPr>
        </p:nvSpPr>
        <p:spPr>
          <a:xfrm>
            <a:off x="1174567" y="1497600"/>
            <a:ext cx="3722400" cy="5155200"/>
          </a:xfrm>
          <a:prstGeom prst="rect">
            <a:avLst/>
          </a:prstGeom>
        </p:spPr>
        <p:txBody>
          <a:bodyPr lIns="0" tIns="0" rIns="0" bIns="0"/>
          <a:lstStyle>
            <a:lvl1pPr marL="0" indent="0">
              <a:lnSpc>
                <a:spcPct val="100000"/>
              </a:lnSpc>
              <a:spcBef>
                <a:spcPts val="0"/>
              </a:spcBef>
              <a:buFontTx/>
              <a:buNone/>
              <a:defRPr sz="2400" baseline="0">
                <a:latin typeface="Arial"/>
              </a:defRPr>
            </a:lvl1pPr>
            <a:lvl2pPr marL="0" indent="0">
              <a:lnSpc>
                <a:spcPts val="1800"/>
              </a:lnSpc>
              <a:spcBef>
                <a:spcPts val="0"/>
              </a:spcBef>
              <a:buFontTx/>
              <a:buNone/>
              <a:defRPr sz="1600" baseline="0">
                <a:latin typeface="Arial"/>
              </a:defRPr>
            </a:lvl2pPr>
            <a:lvl3pPr marL="0" indent="0">
              <a:lnSpc>
                <a:spcPts val="1800"/>
              </a:lnSpc>
              <a:spcBef>
                <a:spcPts val="0"/>
              </a:spcBef>
              <a:buFontTx/>
              <a:buNone/>
              <a:defRPr sz="1600" baseline="0">
                <a:latin typeface="Arial"/>
              </a:defRPr>
            </a:lvl3pPr>
            <a:lvl4pPr marL="0" indent="0">
              <a:lnSpc>
                <a:spcPts val="1800"/>
              </a:lnSpc>
              <a:spcBef>
                <a:spcPts val="0"/>
              </a:spcBef>
              <a:buFontTx/>
              <a:buNone/>
              <a:defRPr sz="1600" baseline="0">
                <a:latin typeface="Arial"/>
              </a:defRPr>
            </a:lvl4pPr>
            <a:lvl5pPr marL="0" indent="0">
              <a:lnSpc>
                <a:spcPts val="1800"/>
              </a:lnSpc>
              <a:spcBef>
                <a:spcPts val="0"/>
              </a:spcBef>
              <a:buFontTx/>
              <a:buNone/>
              <a:defRPr sz="1600" baseline="0">
                <a:latin typeface="Arial"/>
              </a:defRPr>
            </a:lvl5pPr>
            <a:lvl6pPr>
              <a:defRPr sz="1600"/>
            </a:lvl6pPr>
            <a:lvl7pPr>
              <a:defRPr sz="1600"/>
            </a:lvl7pPr>
            <a:lvl8pPr>
              <a:defRPr sz="1600"/>
            </a:lvl8pPr>
            <a:lvl9pPr>
              <a:defRPr sz="1600"/>
            </a:lvl9pPr>
          </a:lstStyle>
          <a:p>
            <a:pPr lvl="0"/>
            <a:r>
              <a:rPr lang="en-US" dirty="0" smtClean="0"/>
              <a:t>Text or picture</a:t>
            </a:r>
          </a:p>
        </p:txBody>
      </p:sp>
      <p:sp>
        <p:nvSpPr>
          <p:cNvPr id="14" name="Tijdelijke aanduiding voor tekst 2"/>
          <p:cNvSpPr>
            <a:spLocks noGrp="1"/>
          </p:cNvSpPr>
          <p:nvPr>
            <p:ph type="body" idx="1" hasCustomPrompt="1"/>
          </p:nvPr>
        </p:nvSpPr>
        <p:spPr>
          <a:xfrm>
            <a:off x="1174567" y="581608"/>
            <a:ext cx="7737314" cy="720000"/>
          </a:xfrm>
          <a:prstGeom prst="rect">
            <a:avLst/>
          </a:prstGeom>
        </p:spPr>
        <p:txBody>
          <a:bodyPr lIns="0" tIns="0" rIns="0" bIns="0" anchor="b"/>
          <a:lstStyle>
            <a:lvl1pPr marL="0" indent="0">
              <a:lnSpc>
                <a:spcPts val="4600"/>
              </a:lnSpc>
              <a:spcBef>
                <a:spcPts val="0"/>
              </a:spcBef>
              <a:buNone/>
              <a:defRPr sz="4600" b="0" i="0" kern="1200" cap="all" spc="100">
                <a:latin typeface="COMMI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smtClean="0"/>
              <a:t>SliDE</a:t>
            </a:r>
            <a:r>
              <a:rPr lang="en-US" dirty="0" smtClean="0"/>
              <a:t> TITLE</a:t>
            </a:r>
          </a:p>
        </p:txBody>
      </p:sp>
    </p:spTree>
    <p:extLst>
      <p:ext uri="{BB962C8B-B14F-4D97-AF65-F5344CB8AC3E}">
        <p14:creationId xmlns:p14="http://schemas.microsoft.com/office/powerpoint/2010/main" val="5516566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atin typeface="Graublau Web Bold" pitchFamily="50"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defRPr>
                <a:latin typeface="Calibri" pitchFamily="34" charset="0"/>
                <a:cs typeface="Calibri" pitchFamily="34" charset="0"/>
              </a:defRPr>
            </a:lvl1pPr>
            <a:lvl2pPr>
              <a:defRPr>
                <a:latin typeface="Calibri" pitchFamily="34" charset="0"/>
                <a:cs typeface="Calibri" pitchFamily="34" charset="0"/>
              </a:defRPr>
            </a:lvl2pPr>
            <a:lvl3pPr>
              <a:defRPr>
                <a:latin typeface="Calibri" pitchFamily="34" charset="0"/>
                <a:cs typeface="Calibri" pitchFamily="34" charset="0"/>
              </a:defRPr>
            </a:lvl3pPr>
            <a:lvl4pPr>
              <a:defRPr>
                <a:latin typeface="Calibri" pitchFamily="34" charset="0"/>
                <a:cs typeface="Calibri" pitchFamily="34" charset="0"/>
              </a:defRPr>
            </a:lvl4pPr>
            <a:lvl5pPr>
              <a:defRPr>
                <a:latin typeface="Calibri" pitchFamily="34" charset="0"/>
                <a:cs typeface="Calibri"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450803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txBox="1">
            <a:spLocks noGrp="1"/>
          </p:cNvSpPr>
          <p:nvPr>
            <p:ph type="dt" sz="half" idx="10"/>
          </p:nvPr>
        </p:nvSpPr>
        <p:spPr>
          <a:xfrm>
            <a:off x="456480" y="6247376"/>
            <a:ext cx="2131200" cy="473810"/>
          </a:xfrm>
          <a:prstGeom prst="rect">
            <a:avLst/>
          </a:prstGeom>
          <a:ln/>
        </p:spPr>
        <p:txBody>
          <a:bodyPr lIns="82945" tIns="41473" rIns="82945" bIns="41473"/>
          <a:lstStyle>
            <a:lvl1pPr>
              <a:defRPr/>
            </a:lvl1pPr>
          </a:lstStyle>
          <a:p>
            <a:pPr>
              <a:defRPr/>
            </a:pPr>
            <a:endParaRPr/>
          </a:p>
        </p:txBody>
      </p:sp>
      <p:sp>
        <p:nvSpPr>
          <p:cNvPr id="3" name="Footer Placeholder 4"/>
          <p:cNvSpPr txBox="1">
            <a:spLocks noGrp="1"/>
          </p:cNvSpPr>
          <p:nvPr>
            <p:ph type="ftr" sz="quarter" idx="11"/>
          </p:nvPr>
        </p:nvSpPr>
        <p:spPr>
          <a:xfrm>
            <a:off x="3127680" y="6247376"/>
            <a:ext cx="2897280" cy="473810"/>
          </a:xfrm>
          <a:prstGeom prst="rect">
            <a:avLst/>
          </a:prstGeom>
          <a:ln/>
        </p:spPr>
        <p:txBody>
          <a:bodyPr lIns="82945" tIns="41473" rIns="82945" bIns="41473"/>
          <a:lstStyle>
            <a:lvl1pPr>
              <a:defRPr/>
            </a:lvl1pPr>
          </a:lstStyle>
          <a:p>
            <a:pPr>
              <a:defRPr/>
            </a:pPr>
            <a:endParaRPr/>
          </a:p>
        </p:txBody>
      </p:sp>
      <p:sp>
        <p:nvSpPr>
          <p:cNvPr id="4" name="Slide Number Placeholder 5"/>
          <p:cNvSpPr txBox="1">
            <a:spLocks noGrp="1"/>
          </p:cNvSpPr>
          <p:nvPr>
            <p:ph type="sldNum" sz="quarter" idx="12"/>
          </p:nvPr>
        </p:nvSpPr>
        <p:spPr>
          <a:xfrm>
            <a:off x="6554880" y="6247376"/>
            <a:ext cx="2131200" cy="473810"/>
          </a:xfrm>
          <a:prstGeom prst="rect">
            <a:avLst/>
          </a:prstGeom>
          <a:ln/>
        </p:spPr>
        <p:txBody>
          <a:bodyPr lIns="82945" tIns="41473" rIns="82945" bIns="41473"/>
          <a:lstStyle>
            <a:lvl1pPr>
              <a:defRPr/>
            </a:lvl1pPr>
          </a:lstStyle>
          <a:p>
            <a:pPr>
              <a:defRPr/>
            </a:pPr>
            <a:fld id="{CAF3E2C6-B584-4C43-835F-A13748BFEEF5}" type="slidenum">
              <a:rPr/>
              <a:pPr>
                <a:defRPr/>
              </a:pPr>
              <a:t>‹#›</a:t>
            </a:fld>
            <a:endParaRPr/>
          </a:p>
        </p:txBody>
      </p:sp>
    </p:spTree>
    <p:extLst>
      <p:ext uri="{BB962C8B-B14F-4D97-AF65-F5344CB8AC3E}">
        <p14:creationId xmlns:p14="http://schemas.microsoft.com/office/powerpoint/2010/main" val="1774913768"/>
      </p:ext>
    </p:extLst>
  </p:cSld>
  <p:clrMapOvr>
    <a:masterClrMapping/>
  </p:clrMapOvr>
  <p:transition/>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794445"/>
      </p:ext>
    </p:extLst>
  </p:cSld>
  <p:clrMap bg1="lt1" tx1="dk1" bg2="lt2" tx2="dk2" accent1="accent1" accent2="accent2" accent3="accent3" accent4="accent4" accent5="accent5" accent6="accent6" hlink="hlink" folHlink="folHlink"/>
  <p:sldLayoutIdLst>
    <p:sldLayoutId id="2147483649" r:id="rId1"/>
    <p:sldLayoutId id="2147483653" r:id="rId2"/>
    <p:sldLayoutId id="2147483659" r:id="rId3"/>
    <p:sldLayoutId id="2147483660" r:id="rId4"/>
    <p:sldLayoutId id="2147483661"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3.png"/><Relationship Id="rId7" Type="http://schemas.openxmlformats.org/officeDocument/2006/relationships/image" Target="../media/image7.wmf"/><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gif"/><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wmf"/><Relationship Id="rId7" Type="http://schemas.openxmlformats.org/officeDocument/2006/relationships/image" Target="../media/image17.w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wmf"/><Relationship Id="rId4" Type="http://schemas.openxmlformats.org/officeDocument/2006/relationships/image" Target="../media/image14.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www.data2semantics.org/"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p:cNvSpPr>
            <a:spLocks noGrp="1"/>
          </p:cNvSpPr>
          <p:nvPr>
            <p:ph type="ctrTitle"/>
          </p:nvPr>
        </p:nvSpPr>
        <p:spPr/>
        <p:txBody>
          <a:bodyPr/>
          <a:lstStyle/>
          <a:p>
            <a:r>
              <a:rPr lang="nl-NL" sz="5400" dirty="0" smtClean="0"/>
              <a:t>DATA2SeMANTICS </a:t>
            </a:r>
            <a:br>
              <a:rPr lang="nl-NL" sz="5400" dirty="0" smtClean="0"/>
            </a:br>
            <a:r>
              <a:rPr lang="nl-NL" sz="5400" dirty="0" smtClean="0"/>
              <a:t>meets </a:t>
            </a:r>
            <a:br>
              <a:rPr lang="nl-NL" sz="5400" dirty="0" smtClean="0"/>
            </a:br>
            <a:r>
              <a:rPr lang="nl-NL" sz="5400" dirty="0" smtClean="0"/>
              <a:t>CENSUS2SEmantics</a:t>
            </a:r>
            <a:r>
              <a:rPr lang="nl-NL" dirty="0" smtClean="0"/>
              <a:t/>
            </a:r>
            <a:br>
              <a:rPr lang="nl-NL" dirty="0" smtClean="0"/>
            </a:br>
            <a:r>
              <a:rPr lang="nl-NL" sz="3200" dirty="0"/>
              <a:t/>
            </a:r>
            <a:br>
              <a:rPr lang="nl-NL" sz="3200" dirty="0"/>
            </a:br>
            <a:r>
              <a:rPr lang="nl-NL" sz="3200" dirty="0" smtClean="0"/>
              <a:t>CEDAR</a:t>
            </a:r>
            <a:r>
              <a:rPr lang="nl-NL" sz="3200" dirty="0" smtClean="0"/>
              <a:t> MINI-symposium/ </a:t>
            </a:r>
            <a:r>
              <a:rPr lang="nl-NL" sz="3200" dirty="0" smtClean="0"/>
              <a:t>1-3-2013</a:t>
            </a:r>
            <a:endParaRPr lang="nl-NL" sz="3200" dirty="0"/>
          </a:p>
        </p:txBody>
      </p:sp>
      <p:sp>
        <p:nvSpPr>
          <p:cNvPr id="11" name="Subtitel 10"/>
          <p:cNvSpPr>
            <a:spLocks noGrp="1"/>
          </p:cNvSpPr>
          <p:nvPr>
            <p:ph type="subTitle" idx="1"/>
          </p:nvPr>
        </p:nvSpPr>
        <p:spPr>
          <a:xfrm>
            <a:off x="1112342" y="4393021"/>
            <a:ext cx="6539288" cy="1522443"/>
          </a:xfrm>
        </p:spPr>
        <p:txBody>
          <a:bodyPr/>
          <a:lstStyle/>
          <a:p>
            <a:r>
              <a:rPr lang="nl-NL" dirty="0" smtClean="0">
                <a:latin typeface="+mj-lt"/>
              </a:rPr>
              <a:t>Gerben de Vries</a:t>
            </a:r>
          </a:p>
          <a:p>
            <a:r>
              <a:rPr lang="nl-NL" dirty="0" smtClean="0">
                <a:latin typeface="+mj-lt"/>
              </a:rPr>
              <a:t>        -group, University of Amsterdam</a:t>
            </a:r>
            <a:endParaRPr lang="nl-NL" dirty="0">
              <a:latin typeface="+mj-l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9912" y="4886060"/>
            <a:ext cx="625965" cy="290346"/>
          </a:xfrm>
          <a:prstGeom prst="rect">
            <a:avLst/>
          </a:prstGeom>
        </p:spPr>
      </p:pic>
      <p:pic>
        <p:nvPicPr>
          <p:cNvPr id="2050" name="Picture 2" descr="C:\Users\Gerben\Dropbox\Data2Semantics\Images\Logos\D2S\elaborate-logo-150dp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43" y="5685031"/>
            <a:ext cx="5206621" cy="1054506"/>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Gerben\Dropbox\Data2Semantics\Images\Logos\uva.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4754" y="5662323"/>
            <a:ext cx="576617" cy="57661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Gerben\Dropbox\Data2Semantics\Images\Logos\VUlogo_EN_Wit_FC_tcm9-201388.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1515" y="5648913"/>
            <a:ext cx="1933575" cy="6000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15922" y="5674983"/>
            <a:ext cx="838415" cy="925993"/>
          </a:xfrm>
          <a:prstGeom prst="rect">
            <a:avLst/>
          </a:prstGeom>
        </p:spPr>
      </p:pic>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74802" y="6347616"/>
            <a:ext cx="1367456" cy="250339"/>
          </a:xfrm>
          <a:prstGeom prst="rect">
            <a:avLst/>
          </a:prstGeom>
        </p:spPr>
      </p:pic>
      <p:pic>
        <p:nvPicPr>
          <p:cNvPr id="6" name="Picture 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47185" y="6238940"/>
            <a:ext cx="1046912" cy="398823"/>
          </a:xfrm>
          <a:prstGeom prst="rect">
            <a:avLst/>
          </a:prstGeom>
        </p:spPr>
      </p:pic>
    </p:spTree>
    <p:extLst>
      <p:ext uri="{BB962C8B-B14F-4D97-AF65-F5344CB8AC3E}">
        <p14:creationId xmlns:p14="http://schemas.microsoft.com/office/powerpoint/2010/main" val="9502832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nl-NL" dirty="0" smtClean="0"/>
              <a:t>The PROJECT</a:t>
            </a:r>
            <a:endParaRPr lang="nl-NL" dirty="0"/>
          </a:p>
        </p:txBody>
      </p:sp>
      <p:sp>
        <p:nvSpPr>
          <p:cNvPr id="3" name="Text Placeholder 2"/>
          <p:cNvSpPr>
            <a:spLocks noGrp="1"/>
          </p:cNvSpPr>
          <p:nvPr>
            <p:ph type="body" sz="quarter" idx="10"/>
          </p:nvPr>
        </p:nvSpPr>
        <p:spPr/>
        <p:txBody>
          <a:bodyPr/>
          <a:lstStyle/>
          <a:p>
            <a:r>
              <a:rPr lang="nl-NL" dirty="0" smtClean="0"/>
              <a:t>Partners</a:t>
            </a:r>
          </a:p>
          <a:p>
            <a:pPr lvl="1"/>
            <a:r>
              <a:rPr lang="nl-NL" dirty="0" smtClean="0"/>
              <a:t>VU University Amsterdam &amp; University of Amsterdam</a:t>
            </a:r>
          </a:p>
          <a:p>
            <a:pPr lvl="1"/>
            <a:r>
              <a:rPr lang="nl-NL" dirty="0" smtClean="0"/>
              <a:t>Elsevier, DANS &amp; Philips</a:t>
            </a:r>
          </a:p>
          <a:p>
            <a:endParaRPr lang="nl-NL" dirty="0"/>
          </a:p>
          <a:p>
            <a:r>
              <a:rPr lang="nl-NL" dirty="0" smtClean="0"/>
              <a:t>Two main use-cases</a:t>
            </a:r>
          </a:p>
          <a:p>
            <a:pPr lvl="1"/>
            <a:r>
              <a:rPr lang="nl-NL" dirty="0" smtClean="0"/>
              <a:t>Enriching medical guidelines (Elsevier &amp; Philips)</a:t>
            </a:r>
          </a:p>
          <a:p>
            <a:pPr lvl="1"/>
            <a:r>
              <a:rPr lang="nl-NL" dirty="0" smtClean="0"/>
              <a:t>Census (DANS)</a:t>
            </a:r>
            <a:endParaRPr lang="nl-NL" dirty="0"/>
          </a:p>
        </p:txBody>
      </p:sp>
    </p:spTree>
    <p:extLst>
      <p:ext uri="{BB962C8B-B14F-4D97-AF65-F5344CB8AC3E}">
        <p14:creationId xmlns:p14="http://schemas.microsoft.com/office/powerpoint/2010/main" val="17554220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nl-NL" dirty="0" smtClean="0"/>
              <a:t>Project AIMS</a:t>
            </a:r>
            <a:endParaRPr lang="nl-NL" dirty="0"/>
          </a:p>
        </p:txBody>
      </p:sp>
      <p:sp>
        <p:nvSpPr>
          <p:cNvPr id="3" name="Text Placeholder 2"/>
          <p:cNvSpPr>
            <a:spLocks noGrp="1"/>
          </p:cNvSpPr>
          <p:nvPr>
            <p:ph type="body" sz="quarter" idx="10"/>
          </p:nvPr>
        </p:nvSpPr>
        <p:spPr/>
        <p:txBody>
          <a:bodyPr/>
          <a:lstStyle/>
          <a:p>
            <a:r>
              <a:rPr lang="nl-NL" dirty="0" smtClean="0"/>
              <a:t>Semantify (scientific) data</a:t>
            </a:r>
          </a:p>
          <a:p>
            <a:pPr lvl="1"/>
            <a:r>
              <a:rPr lang="nl-NL" dirty="0" smtClean="0"/>
              <a:t>Data: </a:t>
            </a:r>
          </a:p>
          <a:p>
            <a:pPr lvl="2"/>
            <a:r>
              <a:rPr lang="nl-NL" dirty="0" smtClean="0"/>
              <a:t>experimental datasets, </a:t>
            </a:r>
          </a:p>
          <a:p>
            <a:pPr lvl="2"/>
            <a:r>
              <a:rPr lang="nl-NL" dirty="0" smtClean="0"/>
              <a:t>papers, </a:t>
            </a:r>
          </a:p>
          <a:p>
            <a:pPr lvl="2"/>
            <a:r>
              <a:rPr lang="nl-NL" dirty="0" smtClean="0"/>
              <a:t>tables, </a:t>
            </a:r>
          </a:p>
          <a:p>
            <a:pPr lvl="2"/>
            <a:r>
              <a:rPr lang="nl-NL" dirty="0" smtClean="0"/>
              <a:t>figures</a:t>
            </a:r>
          </a:p>
          <a:p>
            <a:pPr lvl="1"/>
            <a:r>
              <a:rPr lang="nl-NL" dirty="0" smtClean="0"/>
              <a:t>Semantics: </a:t>
            </a:r>
          </a:p>
          <a:p>
            <a:pPr lvl="2"/>
            <a:r>
              <a:rPr lang="nl-NL" dirty="0" smtClean="0"/>
              <a:t>links between datasets, </a:t>
            </a:r>
          </a:p>
          <a:p>
            <a:pPr lvl="2"/>
            <a:r>
              <a:rPr lang="nl-NL" dirty="0" smtClean="0"/>
              <a:t>links to vocabularies/ontologies,</a:t>
            </a:r>
          </a:p>
          <a:p>
            <a:pPr lvl="2"/>
            <a:r>
              <a:rPr lang="nl-NL" dirty="0" smtClean="0"/>
              <a:t>provenance trail</a:t>
            </a:r>
          </a:p>
          <a:p>
            <a:pPr lvl="2"/>
            <a:r>
              <a:rPr lang="nl-NL" dirty="0" smtClean="0"/>
              <a:t>additional facts</a:t>
            </a:r>
            <a:endParaRPr lang="nl-NL" dirty="0"/>
          </a:p>
        </p:txBody>
      </p:sp>
    </p:spTree>
    <p:extLst>
      <p:ext uri="{BB962C8B-B14F-4D97-AF65-F5344CB8AC3E}">
        <p14:creationId xmlns:p14="http://schemas.microsoft.com/office/powerpoint/2010/main" val="1925114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nl-NL" dirty="0" smtClean="0"/>
              <a:t>PLAN for TODAY</a:t>
            </a:r>
            <a:endParaRPr lang="nl-NL" dirty="0"/>
          </a:p>
        </p:txBody>
      </p:sp>
      <p:sp>
        <p:nvSpPr>
          <p:cNvPr id="3" name="Text Placeholder 2"/>
          <p:cNvSpPr>
            <a:spLocks noGrp="1"/>
          </p:cNvSpPr>
          <p:nvPr>
            <p:ph type="body" sz="quarter" idx="10"/>
          </p:nvPr>
        </p:nvSpPr>
        <p:spPr/>
        <p:txBody>
          <a:bodyPr/>
          <a:lstStyle/>
          <a:p>
            <a:r>
              <a:rPr lang="nl-NL" dirty="0" smtClean="0"/>
              <a:t>Overview of the project by the </a:t>
            </a:r>
            <a:r>
              <a:rPr lang="nl-NL" dirty="0" smtClean="0"/>
              <a:t>workpackages: linking, provenance, scientific modeling, ranking, machine learning, complexity</a:t>
            </a:r>
            <a:endParaRPr lang="nl-NL" dirty="0" smtClean="0"/>
          </a:p>
          <a:p>
            <a:pPr lvl="1"/>
            <a:r>
              <a:rPr lang="nl-NL" dirty="0" smtClean="0"/>
              <a:t>WP aim</a:t>
            </a:r>
          </a:p>
          <a:p>
            <a:pPr lvl="1"/>
            <a:r>
              <a:rPr lang="nl-NL" dirty="0" smtClean="0"/>
              <a:t>Current research</a:t>
            </a:r>
          </a:p>
          <a:p>
            <a:pPr lvl="1"/>
            <a:r>
              <a:rPr lang="nl-NL" dirty="0" smtClean="0"/>
              <a:t>Application to E-Humanities</a:t>
            </a:r>
            <a:endParaRPr lang="nl-NL" dirty="0"/>
          </a:p>
        </p:txBody>
      </p:sp>
    </p:spTree>
    <p:extLst>
      <p:ext uri="{BB962C8B-B14F-4D97-AF65-F5344CB8AC3E}">
        <p14:creationId xmlns:p14="http://schemas.microsoft.com/office/powerpoint/2010/main" val="25804842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3000" dirty="0" smtClean="0"/>
              <a:t>WP4 - Information </a:t>
            </a:r>
            <a:r>
              <a:rPr lang="en-US" sz="3000" dirty="0"/>
              <a:t>Publication, Integration and Enhancement</a:t>
            </a:r>
            <a:endParaRPr lang="nl-NL" sz="3000" dirty="0"/>
          </a:p>
        </p:txBody>
      </p:sp>
      <p:sp>
        <p:nvSpPr>
          <p:cNvPr id="5" name="Content Placeholder 4"/>
          <p:cNvSpPr>
            <a:spLocks noGrp="1"/>
          </p:cNvSpPr>
          <p:nvPr>
            <p:ph sz="half" idx="4294967295"/>
          </p:nvPr>
        </p:nvSpPr>
        <p:spPr>
          <a:xfrm>
            <a:off x="1174566" y="1498800"/>
            <a:ext cx="7737315" cy="5211157"/>
          </a:xfrm>
          <a:prstGeom prst="rect">
            <a:avLst/>
          </a:prstGeom>
        </p:spPr>
        <p:txBody>
          <a:bodyPr/>
          <a:lstStyle/>
          <a:p>
            <a:r>
              <a:rPr lang="en-US" dirty="0" smtClean="0"/>
              <a:t>Methods, tools and strategies for:</a:t>
            </a:r>
          </a:p>
          <a:p>
            <a:pPr lvl="1"/>
            <a:r>
              <a:rPr lang="en-US" b="1" dirty="0" smtClean="0"/>
              <a:t>Publishing</a:t>
            </a:r>
            <a:r>
              <a:rPr lang="en-US" dirty="0" smtClean="0"/>
              <a:t> information in an accessible, machine interpretable form </a:t>
            </a:r>
          </a:p>
          <a:p>
            <a:pPr lvl="1"/>
            <a:r>
              <a:rPr lang="en-US" b="1" dirty="0" smtClean="0"/>
              <a:t>Integrating</a:t>
            </a:r>
            <a:r>
              <a:rPr lang="en-US" dirty="0" smtClean="0"/>
              <a:t> different types of information</a:t>
            </a:r>
            <a:br>
              <a:rPr lang="en-US" dirty="0" smtClean="0"/>
            </a:br>
            <a:r>
              <a:rPr lang="en-US" sz="2000" dirty="0" smtClean="0"/>
              <a:t>papers, spreadsheets, datasets, images, vocabularies</a:t>
            </a:r>
          </a:p>
          <a:p>
            <a:pPr lvl="1"/>
            <a:r>
              <a:rPr lang="en-US" b="1" dirty="0" smtClean="0"/>
              <a:t>Enhancing</a:t>
            </a:r>
            <a:r>
              <a:rPr lang="en-US" dirty="0" smtClean="0"/>
              <a:t> information by providing</a:t>
            </a:r>
          </a:p>
          <a:p>
            <a:pPr lvl="2"/>
            <a:r>
              <a:rPr lang="en-US" dirty="0" smtClean="0"/>
              <a:t>Annotations on contents and structure</a:t>
            </a:r>
          </a:p>
          <a:p>
            <a:pPr lvl="2"/>
            <a:r>
              <a:rPr lang="en-US" dirty="0" smtClean="0"/>
              <a:t>Linking across different information sources</a:t>
            </a:r>
          </a:p>
          <a:p>
            <a:pPr lvl="2"/>
            <a:r>
              <a:rPr lang="en-US" dirty="0" smtClean="0"/>
              <a:t>Mappings between alternative vocabularies</a:t>
            </a:r>
          </a:p>
          <a:p>
            <a:pPr lvl="1"/>
            <a:endParaRPr lang="en-US" dirty="0"/>
          </a:p>
        </p:txBody>
      </p:sp>
    </p:spTree>
    <p:extLst>
      <p:ext uri="{BB962C8B-B14F-4D97-AF65-F5344CB8AC3E}">
        <p14:creationId xmlns:p14="http://schemas.microsoft.com/office/powerpoint/2010/main" val="17239694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nl-NL" dirty="0" smtClean="0"/>
              <a:t>WP4 – PROV-O-MAtic</a:t>
            </a:r>
            <a:r>
              <a:rPr lang="nl-NL" baseline="30000" dirty="0" smtClean="0"/>
              <a:t>TM</a:t>
            </a:r>
            <a:endParaRPr lang="nl-NL" baseline="30000" dirty="0"/>
          </a:p>
        </p:txBody>
      </p:sp>
      <p:sp>
        <p:nvSpPr>
          <p:cNvPr id="3" name="Content Placeholder 2"/>
          <p:cNvSpPr>
            <a:spLocks noGrp="1"/>
          </p:cNvSpPr>
          <p:nvPr>
            <p:ph sz="half" idx="4294967295"/>
          </p:nvPr>
        </p:nvSpPr>
        <p:spPr>
          <a:xfrm>
            <a:off x="1174566" y="1498800"/>
            <a:ext cx="7737315" cy="5211157"/>
          </a:xfrm>
          <a:prstGeom prst="rect">
            <a:avLst/>
          </a:prstGeom>
        </p:spPr>
        <p:txBody>
          <a:bodyPr/>
          <a:lstStyle/>
          <a:p>
            <a:r>
              <a:rPr lang="en-US" dirty="0" smtClean="0"/>
              <a:t>Provenance tracing over shell &amp; Python scripts</a:t>
            </a:r>
          </a:p>
          <a:p>
            <a:r>
              <a:rPr lang="en-US" dirty="0" smtClean="0"/>
              <a:t>Software </a:t>
            </a:r>
            <a:br>
              <a:rPr lang="en-US" dirty="0" smtClean="0"/>
            </a:br>
            <a:r>
              <a:rPr lang="en-US" dirty="0" smtClean="0"/>
              <a:t>Carpentry </a:t>
            </a:r>
            <a:br>
              <a:rPr lang="en-US" dirty="0" smtClean="0"/>
            </a:br>
            <a:r>
              <a:rPr lang="en-US" dirty="0" err="1" smtClean="0"/>
              <a:t>Bootcamp</a:t>
            </a:r>
            <a:endParaRPr lang="en-US" dirty="0" smtClean="0"/>
          </a:p>
        </p:txBody>
      </p:sp>
      <p:pic>
        <p:nvPicPr>
          <p:cNvPr id="4" name="Picture 3" descr="Screen Shot 2013-02-28 at 09.18.0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5860" y="2307001"/>
            <a:ext cx="5981704" cy="4800133"/>
          </a:xfrm>
          <a:prstGeom prst="rect">
            <a:avLst/>
          </a:prstGeom>
        </p:spPr>
      </p:pic>
    </p:spTree>
    <p:extLst>
      <p:ext uri="{BB962C8B-B14F-4D97-AF65-F5344CB8AC3E}">
        <p14:creationId xmlns:p14="http://schemas.microsoft.com/office/powerpoint/2010/main" val="39640099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nl-NL" dirty="0" smtClean="0"/>
              <a:t>WP4 – LightWEight annotation</a:t>
            </a:r>
            <a:endParaRPr lang="nl-NL" dirty="0"/>
          </a:p>
        </p:txBody>
      </p:sp>
      <p:sp>
        <p:nvSpPr>
          <p:cNvPr id="3" name="Content Placeholder 2"/>
          <p:cNvSpPr>
            <a:spLocks noGrp="1"/>
          </p:cNvSpPr>
          <p:nvPr>
            <p:ph sz="half" idx="4294967295"/>
          </p:nvPr>
        </p:nvSpPr>
        <p:spPr>
          <a:xfrm>
            <a:off x="1174566" y="1498800"/>
            <a:ext cx="7737315" cy="5211157"/>
          </a:xfrm>
          <a:prstGeom prst="rect">
            <a:avLst/>
          </a:prstGeom>
        </p:spPr>
        <p:txBody>
          <a:bodyPr/>
          <a:lstStyle/>
          <a:p>
            <a:r>
              <a:rPr lang="en-US" dirty="0" smtClean="0"/>
              <a:t>Annotation of structure of Clinical Guidelines</a:t>
            </a:r>
          </a:p>
          <a:p>
            <a:r>
              <a:rPr lang="en-US" dirty="0" smtClean="0"/>
              <a:t>Trace from recommendation to underlying evidence</a:t>
            </a:r>
            <a:endParaRPr lang="en-US" dirty="0"/>
          </a:p>
        </p:txBody>
      </p:sp>
      <p:pic>
        <p:nvPicPr>
          <p:cNvPr id="4" name="Picture 3" descr="annotation-scheme-draft-v2.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6492" y="3557116"/>
            <a:ext cx="6207508" cy="3300884"/>
          </a:xfrm>
          <a:prstGeom prst="rect">
            <a:avLst/>
          </a:prstGeom>
        </p:spPr>
      </p:pic>
    </p:spTree>
    <p:extLst>
      <p:ext uri="{BB962C8B-B14F-4D97-AF65-F5344CB8AC3E}">
        <p14:creationId xmlns:p14="http://schemas.microsoft.com/office/powerpoint/2010/main" val="2859813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0" y="11649"/>
            <a:ext cx="9144000" cy="4899652"/>
          </a:xfrm>
          <a:prstGeom prst="rect">
            <a:avLst/>
          </a:prstGeom>
        </p:spPr>
      </p:pic>
      <p:sp>
        <p:nvSpPr>
          <p:cNvPr id="6" name="Content Placeholder 5"/>
          <p:cNvSpPr>
            <a:spLocks noGrp="1"/>
          </p:cNvSpPr>
          <p:nvPr>
            <p:ph sz="half" idx="4294967295"/>
          </p:nvPr>
        </p:nvSpPr>
        <p:spPr>
          <a:xfrm>
            <a:off x="1174566" y="4783016"/>
            <a:ext cx="7737315" cy="2095082"/>
          </a:xfrm>
          <a:prstGeom prst="rect">
            <a:avLst/>
          </a:prstGeom>
        </p:spPr>
        <p:txBody>
          <a:bodyPr>
            <a:normAutofit fontScale="92500" lnSpcReduction="10000"/>
          </a:bodyPr>
          <a:lstStyle/>
          <a:p>
            <a:r>
              <a:rPr lang="en-US" dirty="0" smtClean="0"/>
              <a:t>Link data and metadata in </a:t>
            </a:r>
            <a:r>
              <a:rPr lang="en-US" dirty="0" err="1" smtClean="0"/>
              <a:t>Figshare.com</a:t>
            </a:r>
            <a:r>
              <a:rPr lang="en-US" dirty="0" smtClean="0"/>
              <a:t> to LOD Cloud, ORCID, DBLP, Elsevier LDR</a:t>
            </a:r>
          </a:p>
          <a:p>
            <a:r>
              <a:rPr lang="en-US" dirty="0" smtClean="0"/>
              <a:t>Extract references from PDF, and obtain DOI</a:t>
            </a:r>
          </a:p>
          <a:p>
            <a:r>
              <a:rPr lang="en-US" dirty="0" smtClean="0"/>
              <a:t>Publish enriched metadata as RDF</a:t>
            </a:r>
            <a:endParaRPr lang="en-US" dirty="0"/>
          </a:p>
        </p:txBody>
      </p:sp>
    </p:spTree>
    <p:extLst>
      <p:ext uri="{BB962C8B-B14F-4D97-AF65-F5344CB8AC3E}">
        <p14:creationId xmlns:p14="http://schemas.microsoft.com/office/powerpoint/2010/main" val="28656682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r>
              <a:rPr lang="nl-NL" dirty="0" smtClean="0"/>
              <a:t>WP4 – E-HUMANITIES APPLications</a:t>
            </a:r>
            <a:endParaRPr lang="nl-NL" dirty="0"/>
          </a:p>
        </p:txBody>
      </p:sp>
      <p:sp>
        <p:nvSpPr>
          <p:cNvPr id="3" name="Content Placeholder 2"/>
          <p:cNvSpPr>
            <a:spLocks noGrp="1"/>
          </p:cNvSpPr>
          <p:nvPr>
            <p:ph sz="half" idx="4294967295"/>
          </p:nvPr>
        </p:nvSpPr>
        <p:spPr>
          <a:xfrm>
            <a:off x="1174566" y="1498800"/>
            <a:ext cx="7737315" cy="5211157"/>
          </a:xfrm>
          <a:prstGeom prst="rect">
            <a:avLst/>
          </a:prstGeom>
        </p:spPr>
        <p:txBody>
          <a:bodyPr>
            <a:normAutofit/>
          </a:bodyPr>
          <a:lstStyle/>
          <a:p>
            <a:r>
              <a:rPr lang="en-US" dirty="0" smtClean="0"/>
              <a:t>Integrate </a:t>
            </a:r>
            <a:r>
              <a:rPr lang="en-US" dirty="0" err="1" smtClean="0"/>
              <a:t>Linkitup</a:t>
            </a:r>
            <a:r>
              <a:rPr lang="en-US" dirty="0" smtClean="0"/>
              <a:t> with DANS EASY</a:t>
            </a:r>
          </a:p>
          <a:p>
            <a:pPr lvl="1"/>
            <a:r>
              <a:rPr lang="en-US" dirty="0" smtClean="0"/>
              <a:t>Requirement: new API to EASY</a:t>
            </a:r>
          </a:p>
          <a:p>
            <a:r>
              <a:rPr lang="en-US" dirty="0" smtClean="0"/>
              <a:t>Integrate </a:t>
            </a:r>
            <a:r>
              <a:rPr lang="en-US" dirty="0" err="1" smtClean="0"/>
              <a:t>TabLinker</a:t>
            </a:r>
            <a:r>
              <a:rPr lang="en-US" dirty="0" smtClean="0"/>
              <a:t> in </a:t>
            </a:r>
            <a:r>
              <a:rPr lang="en-US" dirty="0" err="1" smtClean="0"/>
              <a:t>Linkitup</a:t>
            </a:r>
            <a:endParaRPr lang="en-US" dirty="0" smtClean="0"/>
          </a:p>
          <a:p>
            <a:pPr lvl="1"/>
            <a:r>
              <a:rPr lang="en-US" dirty="0" smtClean="0"/>
              <a:t>Enrich and publish Census data from CEDAR as RDF</a:t>
            </a:r>
          </a:p>
          <a:p>
            <a:r>
              <a:rPr lang="en-US" dirty="0" smtClean="0"/>
              <a:t>Elaborate on Annotation Work to represent</a:t>
            </a:r>
          </a:p>
          <a:p>
            <a:pPr lvl="1"/>
            <a:r>
              <a:rPr lang="en-US" dirty="0" smtClean="0"/>
              <a:t>Alternate, possibly conflicting annotations</a:t>
            </a:r>
          </a:p>
          <a:p>
            <a:pPr lvl="1"/>
            <a:r>
              <a:rPr lang="en-US" dirty="0" smtClean="0"/>
              <a:t>… perhaps even </a:t>
            </a:r>
            <a:r>
              <a:rPr lang="en-US" b="1" dirty="0" smtClean="0"/>
              <a:t>reason</a:t>
            </a:r>
            <a:r>
              <a:rPr lang="en-US" dirty="0" smtClean="0"/>
              <a:t> across these contexts</a:t>
            </a:r>
            <a:br>
              <a:rPr lang="en-US" dirty="0" smtClean="0"/>
            </a:br>
            <a:r>
              <a:rPr lang="en-US" dirty="0" smtClean="0"/>
              <a:t>(</a:t>
            </a:r>
            <a:r>
              <a:rPr lang="en-US" dirty="0" err="1" smtClean="0"/>
              <a:t>Szymon</a:t>
            </a:r>
            <a:r>
              <a:rPr lang="en-US" dirty="0" smtClean="0"/>
              <a:t> </a:t>
            </a:r>
            <a:r>
              <a:rPr lang="en-US" dirty="0" err="1" smtClean="0"/>
              <a:t>Klarman’s</a:t>
            </a:r>
            <a:r>
              <a:rPr lang="en-US" dirty="0" smtClean="0"/>
              <a:t> PhD thesis)</a:t>
            </a:r>
            <a:endParaRPr lang="en-US" dirty="0"/>
          </a:p>
        </p:txBody>
      </p:sp>
    </p:spTree>
    <p:extLst>
      <p:ext uri="{BB962C8B-B14F-4D97-AF65-F5344CB8AC3E}">
        <p14:creationId xmlns:p14="http://schemas.microsoft.com/office/powerpoint/2010/main" val="17929951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r>
              <a:rPr lang="nl-NL" dirty="0" smtClean="0"/>
              <a:t>WP5 – PROVENANCE RECONSTRUCTION</a:t>
            </a:r>
            <a:endParaRPr lang="nl-NL" dirty="0"/>
          </a:p>
        </p:txBody>
      </p:sp>
      <p:sp>
        <p:nvSpPr>
          <p:cNvPr id="3" name="Content Placeholder 2"/>
          <p:cNvSpPr>
            <a:spLocks noGrp="1"/>
          </p:cNvSpPr>
          <p:nvPr>
            <p:ph sz="half" idx="4294967295"/>
          </p:nvPr>
        </p:nvSpPr>
        <p:spPr>
          <a:xfrm>
            <a:off x="1174566" y="1498800"/>
            <a:ext cx="7737315" cy="5211157"/>
          </a:xfrm>
          <a:prstGeom prst="rect">
            <a:avLst/>
          </a:prstGeom>
        </p:spPr>
        <p:txBody>
          <a:bodyPr>
            <a:normAutofit/>
          </a:bodyPr>
          <a:lstStyle/>
          <a:p>
            <a:r>
              <a:rPr lang="en-US" sz="2800" dirty="0" smtClean="0"/>
              <a:t>Data provenance is the </a:t>
            </a:r>
            <a:r>
              <a:rPr lang="en-US" sz="2800" b="1" dirty="0" smtClean="0"/>
              <a:t>history</a:t>
            </a:r>
            <a:r>
              <a:rPr lang="en-US" sz="2800" dirty="0" smtClean="0">
                <a:solidFill>
                  <a:schemeClr val="accent2"/>
                </a:solidFill>
              </a:rPr>
              <a:t> </a:t>
            </a:r>
            <a:r>
              <a:rPr lang="en-US" sz="2800" dirty="0" smtClean="0"/>
              <a:t>of a data item</a:t>
            </a:r>
          </a:p>
          <a:p>
            <a:pPr lvl="1"/>
            <a:r>
              <a:rPr lang="en-US" sz="2400" dirty="0"/>
              <a:t>W</a:t>
            </a:r>
            <a:r>
              <a:rPr lang="en-US" sz="2400" dirty="0" smtClean="0"/>
              <a:t>ho, when, how was the data item created?</a:t>
            </a:r>
          </a:p>
          <a:p>
            <a:pPr lvl="1"/>
            <a:r>
              <a:rPr lang="en-US" sz="2400" dirty="0" smtClean="0"/>
              <a:t>Which operations were performed on it?</a:t>
            </a:r>
            <a:endParaRPr lang="en-US" sz="2000" dirty="0"/>
          </a:p>
          <a:p>
            <a:r>
              <a:rPr lang="en-US" sz="2800" dirty="0" smtClean="0"/>
              <a:t>The goal of WP5 is to </a:t>
            </a:r>
            <a:r>
              <a:rPr lang="en-US" sz="2800" b="1" dirty="0" smtClean="0"/>
              <a:t>reconstruct a plausible provenance</a:t>
            </a:r>
            <a:r>
              <a:rPr lang="en-US" sz="2800" dirty="0" smtClean="0">
                <a:solidFill>
                  <a:srgbClr val="4F81BD"/>
                </a:solidFill>
              </a:rPr>
              <a:t> </a:t>
            </a:r>
            <a:r>
              <a:rPr lang="en-US" sz="2800" dirty="0" smtClean="0"/>
              <a:t>for documents in a shared folder based on available evidence</a:t>
            </a:r>
            <a:endParaRPr lang="en-US" sz="2800" dirty="0"/>
          </a:p>
          <a:p>
            <a:r>
              <a:rPr lang="en-US" sz="2800" dirty="0" smtClean="0"/>
              <a:t>In other words, we are trying to reconstruct a </a:t>
            </a:r>
            <a:r>
              <a:rPr lang="en-US" sz="2800" b="1" dirty="0" smtClean="0"/>
              <a:t>timeline of events and relationships between data</a:t>
            </a:r>
          </a:p>
        </p:txBody>
      </p:sp>
    </p:spTree>
    <p:extLst>
      <p:ext uri="{BB962C8B-B14F-4D97-AF65-F5344CB8AC3E}">
        <p14:creationId xmlns:p14="http://schemas.microsoft.com/office/powerpoint/2010/main" val="688505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nl-NL" dirty="0" smtClean="0"/>
              <a:t>WP5 – HOW?</a:t>
            </a:r>
            <a:endParaRPr lang="nl-NL" dirty="0"/>
          </a:p>
        </p:txBody>
      </p:sp>
      <p:sp>
        <p:nvSpPr>
          <p:cNvPr id="3" name="Content Placeholder 2"/>
          <p:cNvSpPr>
            <a:spLocks noGrp="1"/>
          </p:cNvSpPr>
          <p:nvPr>
            <p:ph sz="half" idx="4294967295"/>
          </p:nvPr>
        </p:nvSpPr>
        <p:spPr>
          <a:xfrm>
            <a:off x="1174566" y="1498800"/>
            <a:ext cx="7737315" cy="5211157"/>
          </a:xfrm>
          <a:prstGeom prst="rect">
            <a:avLst/>
          </a:prstGeom>
        </p:spPr>
        <p:txBody>
          <a:bodyPr>
            <a:normAutofit fontScale="92500" lnSpcReduction="10000"/>
          </a:bodyPr>
          <a:lstStyle/>
          <a:p>
            <a:r>
              <a:rPr lang="en-US" sz="2800" dirty="0" smtClean="0"/>
              <a:t>We propose a pipeline that collects </a:t>
            </a:r>
            <a:r>
              <a:rPr lang="en-US" sz="2800" b="1" dirty="0" smtClean="0"/>
              <a:t>evidence</a:t>
            </a:r>
            <a:r>
              <a:rPr lang="en-US" sz="2800" dirty="0" smtClean="0"/>
              <a:t>, generates </a:t>
            </a:r>
            <a:r>
              <a:rPr lang="en-US" sz="2800" b="1" dirty="0" smtClean="0"/>
              <a:t>hypotheses</a:t>
            </a:r>
            <a:r>
              <a:rPr lang="en-US" sz="2800" dirty="0" smtClean="0"/>
              <a:t> and ranks them by </a:t>
            </a:r>
            <a:r>
              <a:rPr lang="en-US" sz="2800" b="1" dirty="0" smtClean="0"/>
              <a:t>plausibility</a:t>
            </a:r>
            <a:endParaRPr lang="en-US" sz="2800" dirty="0"/>
          </a:p>
          <a:p>
            <a:r>
              <a:rPr lang="en-US" sz="2800" dirty="0" smtClean="0"/>
              <a:t>First prototype based on </a:t>
            </a:r>
            <a:r>
              <a:rPr lang="en-US" sz="2800" b="1" dirty="0" smtClean="0"/>
              <a:t>similarity</a:t>
            </a:r>
            <a:r>
              <a:rPr lang="en-US" sz="2800" dirty="0" smtClean="0"/>
              <a:t> measures:</a:t>
            </a:r>
          </a:p>
          <a:p>
            <a:endParaRPr lang="en-US" sz="2800" dirty="0"/>
          </a:p>
          <a:p>
            <a:endParaRPr lang="en-US" sz="2800" dirty="0" smtClean="0"/>
          </a:p>
          <a:p>
            <a:endParaRPr lang="en-US" sz="2800" dirty="0"/>
          </a:p>
          <a:p>
            <a:endParaRPr lang="en-US" sz="2800" dirty="0" smtClean="0"/>
          </a:p>
          <a:p>
            <a:endParaRPr lang="en-US" sz="2800" dirty="0"/>
          </a:p>
          <a:p>
            <a:endParaRPr lang="en-US" sz="2800" dirty="0" smtClean="0"/>
          </a:p>
          <a:p>
            <a:endParaRPr lang="en-US" sz="2800" dirty="0" smtClean="0"/>
          </a:p>
          <a:p>
            <a:r>
              <a:rPr lang="en-US" sz="2800" dirty="0" smtClean="0"/>
              <a:t>Good performance on test dataset:</a:t>
            </a:r>
          </a:p>
          <a:p>
            <a:pPr lvl="1"/>
            <a:r>
              <a:rPr lang="en-US" sz="2400" dirty="0" smtClean="0"/>
              <a:t>Collection of biomedical publications</a:t>
            </a:r>
          </a:p>
        </p:txBody>
      </p:sp>
      <p:pic>
        <p:nvPicPr>
          <p:cNvPr id="1026" name="Picture 2" descr="C:\Users\Gerben\AppData\Local\Temp\architectu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643" y="2911718"/>
            <a:ext cx="8210634" cy="2541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3718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r>
              <a:rPr lang="nl-NL" dirty="0" smtClean="0"/>
              <a:t>WP5 – E-HUMANITIES APPLICATIONS</a:t>
            </a:r>
            <a:endParaRPr lang="nl-NL" dirty="0"/>
          </a:p>
        </p:txBody>
      </p:sp>
      <p:sp>
        <p:nvSpPr>
          <p:cNvPr id="3" name="Content Placeholder 2"/>
          <p:cNvSpPr>
            <a:spLocks noGrp="1"/>
          </p:cNvSpPr>
          <p:nvPr>
            <p:ph sz="half" idx="4294967295"/>
          </p:nvPr>
        </p:nvSpPr>
        <p:spPr>
          <a:xfrm>
            <a:off x="1174566" y="1498800"/>
            <a:ext cx="7737315" cy="5211157"/>
          </a:xfrm>
          <a:prstGeom prst="rect">
            <a:avLst/>
          </a:prstGeom>
        </p:spPr>
        <p:txBody>
          <a:bodyPr>
            <a:normAutofit fontScale="85000" lnSpcReduction="20000"/>
          </a:bodyPr>
          <a:lstStyle/>
          <a:p>
            <a:r>
              <a:rPr lang="en-US" dirty="0" smtClean="0"/>
              <a:t>The CEDAR dataset contains </a:t>
            </a:r>
            <a:r>
              <a:rPr lang="en-US" b="1" dirty="0" smtClean="0"/>
              <a:t>several versions of Excel</a:t>
            </a:r>
            <a:r>
              <a:rPr lang="en-US" dirty="0" smtClean="0">
                <a:solidFill>
                  <a:srgbClr val="4F81BD"/>
                </a:solidFill>
              </a:rPr>
              <a:t> </a:t>
            </a:r>
            <a:r>
              <a:rPr lang="en-US" dirty="0" smtClean="0"/>
              <a:t>sheets, PDFs and images related to census data</a:t>
            </a:r>
            <a:endParaRPr lang="en-US" dirty="0"/>
          </a:p>
          <a:p>
            <a:r>
              <a:rPr lang="en-US" dirty="0" smtClean="0"/>
              <a:t>Moreover, there are </a:t>
            </a:r>
            <a:r>
              <a:rPr lang="en-US" b="1" dirty="0" smtClean="0"/>
              <a:t>books and other publications </a:t>
            </a:r>
            <a:r>
              <a:rPr lang="en-US" dirty="0" smtClean="0"/>
              <a:t>that describe and analyze these data </a:t>
            </a:r>
            <a:endParaRPr lang="en-US" sz="3100" dirty="0"/>
          </a:p>
          <a:p>
            <a:pPr lvl="1"/>
            <a:r>
              <a:rPr lang="en-US" sz="2700" dirty="0" smtClean="0"/>
              <a:t>e.g. Twee </a:t>
            </a:r>
            <a:r>
              <a:rPr lang="en-US" sz="2700" dirty="0" err="1" smtClean="0"/>
              <a:t>eeuwen</a:t>
            </a:r>
            <a:r>
              <a:rPr lang="en-US" sz="2700" dirty="0" smtClean="0"/>
              <a:t> Nederland </a:t>
            </a:r>
            <a:r>
              <a:rPr lang="en-US" sz="2700" dirty="0" err="1" smtClean="0"/>
              <a:t>geteld</a:t>
            </a:r>
            <a:endParaRPr lang="en-US" dirty="0" smtClean="0"/>
          </a:p>
          <a:p>
            <a:r>
              <a:rPr lang="en-US" dirty="0" smtClean="0"/>
              <a:t>We can apply our provenance reconstruction pipeline to:</a:t>
            </a:r>
          </a:p>
          <a:p>
            <a:pPr lvl="1"/>
            <a:r>
              <a:rPr lang="en-US" dirty="0" smtClean="0"/>
              <a:t>Reconstruct the </a:t>
            </a:r>
            <a:r>
              <a:rPr lang="en-US" b="1" dirty="0" smtClean="0"/>
              <a:t>relationships between the Excel </a:t>
            </a:r>
            <a:r>
              <a:rPr lang="en-US" dirty="0" smtClean="0"/>
              <a:t>sheets and the </a:t>
            </a:r>
            <a:r>
              <a:rPr lang="en-US" b="1" dirty="0" smtClean="0"/>
              <a:t>publications/books</a:t>
            </a:r>
            <a:r>
              <a:rPr lang="en-US" dirty="0" smtClean="0">
                <a:solidFill>
                  <a:srgbClr val="4F81BD"/>
                </a:solidFill>
              </a:rPr>
              <a:t> </a:t>
            </a:r>
            <a:r>
              <a:rPr lang="en-US" dirty="0" smtClean="0"/>
              <a:t>that talk about them</a:t>
            </a:r>
          </a:p>
          <a:p>
            <a:pPr lvl="1"/>
            <a:r>
              <a:rPr lang="en-US" dirty="0" smtClean="0"/>
              <a:t>Infer </a:t>
            </a:r>
            <a:r>
              <a:rPr lang="en-US" b="1" dirty="0" smtClean="0"/>
              <a:t>semantic relationships between different versions </a:t>
            </a:r>
            <a:r>
              <a:rPr lang="en-US" dirty="0" smtClean="0"/>
              <a:t>of a sheet or different sheets (connection with WP6)</a:t>
            </a:r>
          </a:p>
          <a:p>
            <a:endParaRPr lang="en-US" dirty="0"/>
          </a:p>
          <a:p>
            <a:pPr marL="0" indent="0">
              <a:buNone/>
            </a:pPr>
            <a:endParaRPr lang="en-US" dirty="0"/>
          </a:p>
        </p:txBody>
      </p:sp>
    </p:spTree>
    <p:extLst>
      <p:ext uri="{BB962C8B-B14F-4D97-AF65-F5344CB8AC3E}">
        <p14:creationId xmlns:p14="http://schemas.microsoft.com/office/powerpoint/2010/main" val="5496414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0" name="Group 28"/>
          <p:cNvGrpSpPr>
            <a:grpSpLocks/>
          </p:cNvGrpSpPr>
          <p:nvPr/>
        </p:nvGrpSpPr>
        <p:grpSpPr bwMode="auto">
          <a:xfrm>
            <a:off x="2100960" y="1387231"/>
            <a:ext cx="5676672" cy="5315939"/>
            <a:chOff x="1223888" y="539477"/>
            <a:chExt cx="7200800" cy="6743655"/>
          </a:xfrm>
        </p:grpSpPr>
        <p:grpSp>
          <p:nvGrpSpPr>
            <p:cNvPr id="2052" name="Group 40"/>
            <p:cNvGrpSpPr>
              <a:grpSpLocks/>
            </p:cNvGrpSpPr>
            <p:nvPr/>
          </p:nvGrpSpPr>
          <p:grpSpPr bwMode="auto">
            <a:xfrm>
              <a:off x="7246779" y="3890177"/>
              <a:ext cx="1177909" cy="1459077"/>
              <a:chOff x="6994451" y="3963600"/>
              <a:chExt cx="1177909" cy="1459077"/>
            </a:xfrm>
          </p:grpSpPr>
          <p:pic>
            <p:nvPicPr>
              <p:cNvPr id="2069" name="Picture 5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34120" y="3963600"/>
                <a:ext cx="1038240" cy="1032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arrow" w="med" len="med"/>
                  </a14:hiddenLine>
                </a:ext>
              </a:extLst>
            </p:spPr>
          </p:pic>
          <p:sp>
            <p:nvSpPr>
              <p:cNvPr id="4" name="Text Box 59"/>
              <p:cNvSpPr/>
              <p:nvPr/>
            </p:nvSpPr>
            <p:spPr>
              <a:xfrm>
                <a:off x="6994451" y="5007787"/>
                <a:ext cx="937073" cy="41489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tailEnd type="arrow"/>
              </a:ln>
            </p:spPr>
            <p:txBody>
              <a:bodyPr wrap="none" lIns="90000" tIns="46800" rIns="90000" bIns="4680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defRPr/>
                </a:pPr>
                <a:r>
                  <a:rPr lang="en-US" dirty="0">
                    <a:ea typeface="Droid Sans Fallback" pitchFamily="2"/>
                  </a:rPr>
                  <a:t>Results</a:t>
                </a:r>
              </a:p>
            </p:txBody>
          </p:sp>
        </p:grpSp>
        <p:grpSp>
          <p:nvGrpSpPr>
            <p:cNvPr id="2053" name="Group 43"/>
            <p:cNvGrpSpPr>
              <a:grpSpLocks/>
            </p:cNvGrpSpPr>
            <p:nvPr/>
          </p:nvGrpSpPr>
          <p:grpSpPr bwMode="auto">
            <a:xfrm>
              <a:off x="1223888" y="3851845"/>
              <a:ext cx="1252800" cy="1680000"/>
              <a:chOff x="960120" y="3369960"/>
              <a:chExt cx="1252800" cy="1680000"/>
            </a:xfrm>
          </p:grpSpPr>
          <p:pic>
            <p:nvPicPr>
              <p:cNvPr id="2067" name="Picture 6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20680" y="3369960"/>
                <a:ext cx="1092240" cy="1203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arrow" w="med" len="med"/>
                  </a14:hiddenLine>
                </a:ext>
              </a:extLst>
            </p:spPr>
          </p:pic>
          <p:sp>
            <p:nvSpPr>
              <p:cNvPr id="7" name="Text Box 69"/>
              <p:cNvSpPr/>
              <p:nvPr/>
            </p:nvSpPr>
            <p:spPr>
              <a:xfrm>
                <a:off x="960120" y="4635070"/>
                <a:ext cx="1072579" cy="41489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tailEnd type="arrow"/>
              </a:ln>
            </p:spPr>
            <p:txBody>
              <a:bodyPr wrap="none" lIns="90000" tIns="46800" rIns="90000" bIns="4680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defRPr/>
                </a:pPr>
                <a:r>
                  <a:rPr lang="en-US" dirty="0">
                    <a:ea typeface="Droid Sans Fallback" pitchFamily="2"/>
                  </a:rPr>
                  <a:t>Problem</a:t>
                </a:r>
              </a:p>
            </p:txBody>
          </p:sp>
        </p:grpSp>
        <p:grpSp>
          <p:nvGrpSpPr>
            <p:cNvPr id="2054" name="Group 44"/>
            <p:cNvGrpSpPr>
              <a:grpSpLocks/>
            </p:cNvGrpSpPr>
            <p:nvPr/>
          </p:nvGrpSpPr>
          <p:grpSpPr bwMode="auto">
            <a:xfrm>
              <a:off x="2160500" y="539477"/>
              <a:ext cx="2083475" cy="2118542"/>
              <a:chOff x="2361748" y="1083960"/>
              <a:chExt cx="2083475" cy="2118542"/>
            </a:xfrm>
          </p:grpSpPr>
          <p:pic>
            <p:nvPicPr>
              <p:cNvPr id="2065" name="Picture 3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097439" y="1083960"/>
                <a:ext cx="1129320" cy="176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arrow" w="med" len="med"/>
                  </a14:hiddenLine>
                </a:ext>
              </a:extLst>
            </p:spPr>
          </p:pic>
          <p:sp>
            <p:nvSpPr>
              <p:cNvPr id="10" name="Text Box 69"/>
              <p:cNvSpPr/>
              <p:nvPr/>
            </p:nvSpPr>
            <p:spPr>
              <a:xfrm>
                <a:off x="2361748" y="2787612"/>
                <a:ext cx="2083475" cy="41489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tailEnd type="arrow"/>
              </a:ln>
            </p:spPr>
            <p:txBody>
              <a:bodyPr wrap="none" lIns="90000" tIns="46800" rIns="90000" bIns="4680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defRPr/>
                </a:pPr>
                <a:r>
                  <a:rPr lang="en-US" dirty="0">
                    <a:ea typeface="Droid Sans Fallback" pitchFamily="2"/>
                  </a:rPr>
                  <a:t>Conceptual model</a:t>
                </a:r>
              </a:p>
            </p:txBody>
          </p:sp>
        </p:grpSp>
        <p:grpSp>
          <p:nvGrpSpPr>
            <p:cNvPr id="2055" name="Group 42"/>
            <p:cNvGrpSpPr>
              <a:grpSpLocks/>
            </p:cNvGrpSpPr>
            <p:nvPr/>
          </p:nvGrpSpPr>
          <p:grpSpPr bwMode="auto">
            <a:xfrm>
              <a:off x="5551353" y="1218805"/>
              <a:ext cx="2447936" cy="1512251"/>
              <a:chOff x="5523259" y="1742760"/>
              <a:chExt cx="2447936" cy="1512251"/>
            </a:xfrm>
          </p:grpSpPr>
          <p:pic>
            <p:nvPicPr>
              <p:cNvPr id="2063" name="Picture 6"/>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927759" y="1742760"/>
                <a:ext cx="1114200" cy="1112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arrow" w="med" len="med"/>
                  </a14:hiddenLine>
                </a:ext>
              </a:extLst>
            </p:spPr>
          </p:pic>
          <p:sp>
            <p:nvSpPr>
              <p:cNvPr id="13" name="Text Box 59"/>
              <p:cNvSpPr/>
              <p:nvPr/>
            </p:nvSpPr>
            <p:spPr>
              <a:xfrm>
                <a:off x="5523259" y="2840121"/>
                <a:ext cx="2447936" cy="41489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tailEnd type="arrow"/>
              </a:ln>
            </p:spPr>
            <p:txBody>
              <a:bodyPr wrap="none" lIns="90000" tIns="46800" rIns="90000" bIns="4680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defRPr/>
                </a:pPr>
                <a:r>
                  <a:rPr lang="en-US" dirty="0">
                    <a:ea typeface="Droid Sans Fallback" pitchFamily="2"/>
                  </a:rPr>
                  <a:t>Computational model</a:t>
                </a:r>
              </a:p>
            </p:txBody>
          </p:sp>
        </p:grpSp>
        <p:grpSp>
          <p:nvGrpSpPr>
            <p:cNvPr id="2056" name="Group 41"/>
            <p:cNvGrpSpPr>
              <a:grpSpLocks/>
            </p:cNvGrpSpPr>
            <p:nvPr/>
          </p:nvGrpSpPr>
          <p:grpSpPr bwMode="auto">
            <a:xfrm>
              <a:off x="4700465" y="5724053"/>
              <a:ext cx="1352428" cy="1559079"/>
              <a:chOff x="3778084" y="4747427"/>
              <a:chExt cx="1352428" cy="1559079"/>
            </a:xfrm>
          </p:grpSpPr>
          <p:sp>
            <p:nvSpPr>
              <p:cNvPr id="15" name="Text Box 62"/>
              <p:cNvSpPr/>
              <p:nvPr/>
            </p:nvSpPr>
            <p:spPr>
              <a:xfrm>
                <a:off x="3778084" y="5891616"/>
                <a:ext cx="1352428" cy="41489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tailEnd type="arrow"/>
              </a:ln>
            </p:spPr>
            <p:txBody>
              <a:bodyPr wrap="none" lIns="90000" tIns="46800" rIns="90000" bIns="4680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defRPr/>
                </a:pPr>
                <a:r>
                  <a:rPr lang="en-US">
                    <a:ea typeface="Droid Sans Fallback" pitchFamily="2"/>
                  </a:rPr>
                  <a:t>Publication</a:t>
                </a:r>
              </a:p>
            </p:txBody>
          </p:sp>
          <p:pic>
            <p:nvPicPr>
              <p:cNvPr id="2062" name="Picture 61"/>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053600" y="4747427"/>
                <a:ext cx="1038959" cy="116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arrow" w="med" len="med"/>
                  </a14:hiddenLine>
                </a:ext>
              </a:extLst>
            </p:spPr>
          </p:pic>
        </p:grpSp>
        <p:sp>
          <p:nvSpPr>
            <p:cNvPr id="17" name="Arc 45"/>
            <p:cNvSpPr/>
            <p:nvPr/>
          </p:nvSpPr>
          <p:spPr>
            <a:xfrm rot="183000">
              <a:off x="3112987" y="1280955"/>
              <a:ext cx="3441652" cy="3456529"/>
            </a:xfrm>
            <a:custGeom>
              <a:avLst/>
              <a:gdLst>
                <a:gd name="f0" fmla="val 10800000"/>
                <a:gd name="f1" fmla="val 5400000"/>
                <a:gd name="f2" fmla="val 180"/>
                <a:gd name="f3" fmla="val w"/>
                <a:gd name="f4" fmla="val h"/>
                <a:gd name="f5" fmla="val 1207392"/>
                <a:gd name="f6" fmla="val 78820"/>
                <a:gd name="f7" fmla="val 1503300"/>
                <a:gd name="f8" fmla="val -14197"/>
                <a:gd name="f9" fmla="val 1818703"/>
                <a:gd name="f10" fmla="val -25103"/>
                <a:gd name="f11" fmla="val 2120267"/>
                <a:gd name="f12" fmla="val 47255"/>
                <a:gd name="f13" fmla="val 1720850"/>
                <a:gd name="f14" fmla="val 1730375"/>
                <a:gd name="f15" fmla="+- 0 0 0"/>
                <a:gd name="f16" fmla="*/ f3 1 3441700"/>
                <a:gd name="f17" fmla="*/ f4 1 3460750"/>
                <a:gd name="f18" fmla="*/ f15 f0 1"/>
                <a:gd name="f19" fmla="*/ 1207392 f16 1"/>
                <a:gd name="f20" fmla="*/ 78820 f17 1"/>
                <a:gd name="f21" fmla="*/ f18 1 f2"/>
                <a:gd name="f22" fmla="*/ 2120267 f16 1"/>
                <a:gd name="f23" fmla="*/ 47255 f17 1"/>
                <a:gd name="f24" fmla="+- f21 0 f1"/>
              </a:gdLst>
              <a:ahLst/>
              <a:cxnLst>
                <a:cxn ang="3cd4">
                  <a:pos x="hc" y="t"/>
                </a:cxn>
                <a:cxn ang="0">
                  <a:pos x="r" y="vc"/>
                </a:cxn>
                <a:cxn ang="cd4">
                  <a:pos x="hc" y="b"/>
                </a:cxn>
                <a:cxn ang="cd2">
                  <a:pos x="l" y="vc"/>
                </a:cxn>
                <a:cxn ang="f24">
                  <a:pos x="f19" y="f20"/>
                </a:cxn>
                <a:cxn ang="f24">
                  <a:pos x="f22" y="f23"/>
                </a:cxn>
              </a:cxnLst>
              <a:rect l="l" t="t" r="r" b="b"/>
              <a:pathLst>
                <a:path w="3441700" h="3460750" stroke="0">
                  <a:moveTo>
                    <a:pt x="f5" y="f6"/>
                  </a:moveTo>
                  <a:cubicBezTo>
                    <a:pt x="f7" y="f8"/>
                    <a:pt x="f9" y="f10"/>
                    <a:pt x="f11" y="f12"/>
                  </a:cubicBezTo>
                  <a:lnTo>
                    <a:pt x="f13" y="f14"/>
                  </a:lnTo>
                  <a:lnTo>
                    <a:pt x="f5" y="f6"/>
                  </a:lnTo>
                  <a:close/>
                </a:path>
                <a:path w="3441700" h="3460750" fill="none">
                  <a:moveTo>
                    <a:pt x="f5" y="f6"/>
                  </a:moveTo>
                  <a:cubicBezTo>
                    <a:pt x="f7" y="f8"/>
                    <a:pt x="f9" y="f10"/>
                    <a:pt x="f11" y="f12"/>
                  </a:cubicBezTo>
                </a:path>
              </a:pathLst>
            </a:custGeom>
            <a:noFill/>
            <a:ln w="25560">
              <a:solidFill>
                <a:srgbClr val="000000"/>
              </a:solidFill>
              <a:prstDash val="solid"/>
              <a:round/>
              <a:tailEnd type="arrow"/>
            </a:ln>
          </p:spPr>
          <p:txBody>
            <a:bodyPr lIns="90000" tIns="46800" rIns="90000" bIns="46800"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latin typeface="Liberation Sans" pitchFamily="18"/>
                <a:ea typeface="Droid Sans Fallback" pitchFamily="2"/>
                <a:cs typeface="Lohit Hindi" pitchFamily="2"/>
              </a:endParaRPr>
            </a:p>
          </p:txBody>
        </p:sp>
        <p:sp>
          <p:nvSpPr>
            <p:cNvPr id="18" name="Arc 27"/>
            <p:cNvSpPr/>
            <p:nvPr/>
          </p:nvSpPr>
          <p:spPr>
            <a:xfrm rot="8282105">
              <a:off x="3055838" y="2073242"/>
              <a:ext cx="4295715" cy="4325027"/>
            </a:xfrm>
            <a:custGeom>
              <a:avLst/>
              <a:gdLst>
                <a:gd name="f0" fmla="val 10800000"/>
                <a:gd name="f1" fmla="val 5400000"/>
                <a:gd name="f2" fmla="val 180"/>
                <a:gd name="f3" fmla="val w"/>
                <a:gd name="f4" fmla="val h"/>
                <a:gd name="f5" fmla="val 1598754"/>
                <a:gd name="f6" fmla="val 72514"/>
                <a:gd name="f7" fmla="val 1963764"/>
                <a:gd name="f8" fmla="val -24994"/>
                <a:gd name="f9" fmla="val 2347872"/>
                <a:gd name="f10" fmla="val -24150"/>
                <a:gd name="f11" fmla="val 2712455"/>
                <a:gd name="f12" fmla="val 74962"/>
                <a:gd name="f13" fmla="val 2151063"/>
                <a:gd name="f14" fmla="val 2162969"/>
                <a:gd name="f15" fmla="+- 0 0 0"/>
                <a:gd name="f16" fmla="*/ f3 1 4302125"/>
                <a:gd name="f17" fmla="*/ f4 1 4325937"/>
                <a:gd name="f18" fmla="*/ f15 f0 1"/>
                <a:gd name="f19" fmla="*/ 1598754 f16 1"/>
                <a:gd name="f20" fmla="*/ 72514 f17 1"/>
                <a:gd name="f21" fmla="*/ f18 1 f2"/>
                <a:gd name="f22" fmla="*/ 2712455 f16 1"/>
                <a:gd name="f23" fmla="*/ 74962 f17 1"/>
                <a:gd name="f24" fmla="+- f21 0 f1"/>
              </a:gdLst>
              <a:ahLst/>
              <a:cxnLst>
                <a:cxn ang="3cd4">
                  <a:pos x="hc" y="t"/>
                </a:cxn>
                <a:cxn ang="0">
                  <a:pos x="r" y="vc"/>
                </a:cxn>
                <a:cxn ang="cd4">
                  <a:pos x="hc" y="b"/>
                </a:cxn>
                <a:cxn ang="cd2">
                  <a:pos x="l" y="vc"/>
                </a:cxn>
                <a:cxn ang="f24">
                  <a:pos x="f19" y="f20"/>
                </a:cxn>
                <a:cxn ang="f24">
                  <a:pos x="f22" y="f23"/>
                </a:cxn>
              </a:cxnLst>
              <a:rect l="l" t="t" r="r" b="b"/>
              <a:pathLst>
                <a:path w="4302125" h="4325937" stroke="0">
                  <a:moveTo>
                    <a:pt x="f5" y="f6"/>
                  </a:moveTo>
                  <a:cubicBezTo>
                    <a:pt x="f7" y="f8"/>
                    <a:pt x="f9" y="f10"/>
                    <a:pt x="f11" y="f12"/>
                  </a:cubicBezTo>
                  <a:lnTo>
                    <a:pt x="f13" y="f14"/>
                  </a:lnTo>
                  <a:lnTo>
                    <a:pt x="f5" y="f6"/>
                  </a:lnTo>
                  <a:close/>
                </a:path>
                <a:path w="4302125" h="4325937" fill="none">
                  <a:moveTo>
                    <a:pt x="f5" y="f6"/>
                  </a:moveTo>
                  <a:cubicBezTo>
                    <a:pt x="f7" y="f8"/>
                    <a:pt x="f9" y="f10"/>
                    <a:pt x="f11" y="f12"/>
                  </a:cubicBezTo>
                </a:path>
              </a:pathLst>
            </a:custGeom>
            <a:noFill/>
            <a:ln w="25560">
              <a:solidFill>
                <a:srgbClr val="000000"/>
              </a:solidFill>
              <a:prstDash val="solid"/>
              <a:round/>
              <a:tailEnd type="arrow"/>
            </a:ln>
          </p:spPr>
          <p:txBody>
            <a:bodyPr lIns="90000" tIns="46800" rIns="90000" bIns="46800"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latin typeface="Liberation Sans" pitchFamily="18"/>
                <a:ea typeface="Droid Sans Fallback" pitchFamily="2"/>
                <a:cs typeface="Lohit Hindi" pitchFamily="2"/>
              </a:endParaRPr>
            </a:p>
          </p:txBody>
        </p:sp>
        <p:sp>
          <p:nvSpPr>
            <p:cNvPr id="19" name="Arc 47"/>
            <p:cNvSpPr/>
            <p:nvPr/>
          </p:nvSpPr>
          <p:spPr>
            <a:xfrm rot="6928164" flipH="1" flipV="1">
              <a:off x="1879944" y="1899752"/>
              <a:ext cx="4296447" cy="4325877"/>
            </a:xfrm>
            <a:custGeom>
              <a:avLst/>
              <a:gdLst>
                <a:gd name="f0" fmla="val 10800000"/>
                <a:gd name="f1" fmla="val 5400000"/>
                <a:gd name="f2" fmla="val 180"/>
                <a:gd name="f3" fmla="val w"/>
                <a:gd name="f4" fmla="val h"/>
                <a:gd name="f5" fmla="val 1517643"/>
                <a:gd name="f6" fmla="val 95903"/>
                <a:gd name="f7" fmla="val 1881992"/>
                <a:gd name="f8" fmla="val -16985"/>
                <a:gd name="f9" fmla="val 2269633"/>
                <a:gd name="f10" fmla="val -30473"/>
                <a:gd name="f11" fmla="val 2640871"/>
                <a:gd name="f12" fmla="val 56820"/>
                <a:gd name="f13" fmla="val 2151063"/>
                <a:gd name="f14" fmla="val 2162969"/>
                <a:gd name="f15" fmla="+- 0 0 0"/>
                <a:gd name="f16" fmla="*/ f3 1 4302125"/>
                <a:gd name="f17" fmla="*/ f4 1 4325937"/>
                <a:gd name="f18" fmla="*/ f15 f0 1"/>
                <a:gd name="f19" fmla="*/ 1517643 f16 1"/>
                <a:gd name="f20" fmla="*/ 95903 f17 1"/>
                <a:gd name="f21" fmla="*/ f18 1 f2"/>
                <a:gd name="f22" fmla="*/ 2640871 f16 1"/>
                <a:gd name="f23" fmla="*/ 56820 f17 1"/>
                <a:gd name="f24" fmla="+- f21 0 f1"/>
              </a:gdLst>
              <a:ahLst/>
              <a:cxnLst>
                <a:cxn ang="3cd4">
                  <a:pos x="hc" y="t"/>
                </a:cxn>
                <a:cxn ang="0">
                  <a:pos x="r" y="vc"/>
                </a:cxn>
                <a:cxn ang="cd4">
                  <a:pos x="hc" y="b"/>
                </a:cxn>
                <a:cxn ang="cd2">
                  <a:pos x="l" y="vc"/>
                </a:cxn>
                <a:cxn ang="f24">
                  <a:pos x="f19" y="f20"/>
                </a:cxn>
                <a:cxn ang="f24">
                  <a:pos x="f22" y="f23"/>
                </a:cxn>
              </a:cxnLst>
              <a:rect l="l" t="t" r="r" b="b"/>
              <a:pathLst>
                <a:path w="4302125" h="4325937" stroke="0">
                  <a:moveTo>
                    <a:pt x="f5" y="f6"/>
                  </a:moveTo>
                  <a:cubicBezTo>
                    <a:pt x="f7" y="f8"/>
                    <a:pt x="f9" y="f10"/>
                    <a:pt x="f11" y="f12"/>
                  </a:cubicBezTo>
                  <a:lnTo>
                    <a:pt x="f13" y="f14"/>
                  </a:lnTo>
                  <a:lnTo>
                    <a:pt x="f5" y="f6"/>
                  </a:lnTo>
                  <a:close/>
                </a:path>
                <a:path w="4302125" h="4325937" fill="none">
                  <a:moveTo>
                    <a:pt x="f5" y="f6"/>
                  </a:moveTo>
                  <a:cubicBezTo>
                    <a:pt x="f7" y="f8"/>
                    <a:pt x="f9" y="f10"/>
                    <a:pt x="f11" y="f12"/>
                  </a:cubicBezTo>
                </a:path>
              </a:pathLst>
            </a:custGeom>
            <a:noFill/>
            <a:ln w="25560">
              <a:solidFill>
                <a:srgbClr val="000000"/>
              </a:solidFill>
              <a:prstDash val="solid"/>
              <a:round/>
              <a:tailEnd type="arrow"/>
            </a:ln>
          </p:spPr>
          <p:txBody>
            <a:bodyPr lIns="90000" tIns="46800" rIns="90000" bIns="46800"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latin typeface="Liberation Sans" pitchFamily="18"/>
                <a:ea typeface="Droid Sans Fallback" pitchFamily="2"/>
                <a:cs typeface="Lohit Hindi" pitchFamily="2"/>
              </a:endParaRPr>
            </a:p>
          </p:txBody>
        </p:sp>
        <p:sp>
          <p:nvSpPr>
            <p:cNvPr id="20" name="Arc 46"/>
            <p:cNvSpPr/>
            <p:nvPr/>
          </p:nvSpPr>
          <p:spPr>
            <a:xfrm rot="4289656">
              <a:off x="3132462" y="1840985"/>
              <a:ext cx="4331378" cy="4106806"/>
            </a:xfrm>
            <a:custGeom>
              <a:avLst/>
              <a:gdLst>
                <a:gd name="f0" fmla="val 10800000"/>
                <a:gd name="f1" fmla="val 5400000"/>
                <a:gd name="f2" fmla="val 180"/>
                <a:gd name="f3" fmla="val w"/>
                <a:gd name="f4" fmla="val h"/>
                <a:gd name="f5" fmla="val 1364772"/>
                <a:gd name="f6" fmla="val 36762"/>
                <a:gd name="f7" fmla="val 1628399"/>
                <a:gd name="f8" fmla="val -18274"/>
                <a:gd name="f9" fmla="val 1901436"/>
                <a:gd name="f10" fmla="val -11433"/>
                <a:gd name="f11" fmla="val 2161894"/>
                <a:gd name="f12" fmla="val 56736"/>
                <a:gd name="f13" fmla="val 1720850"/>
                <a:gd name="f14" fmla="val 1698625"/>
                <a:gd name="f15" fmla="+- 0 0 0"/>
                <a:gd name="f16" fmla="*/ f3 1 3441700"/>
                <a:gd name="f17" fmla="*/ f4 1 3397250"/>
                <a:gd name="f18" fmla="*/ f15 f0 1"/>
                <a:gd name="f19" fmla="*/ 1364772 f16 1"/>
                <a:gd name="f20" fmla="*/ 36762 f17 1"/>
                <a:gd name="f21" fmla="*/ f18 1 f2"/>
                <a:gd name="f22" fmla="*/ 2161894 f16 1"/>
                <a:gd name="f23" fmla="*/ 56736 f17 1"/>
                <a:gd name="f24" fmla="+- f21 0 f1"/>
              </a:gdLst>
              <a:ahLst/>
              <a:cxnLst>
                <a:cxn ang="3cd4">
                  <a:pos x="hc" y="t"/>
                </a:cxn>
                <a:cxn ang="0">
                  <a:pos x="r" y="vc"/>
                </a:cxn>
                <a:cxn ang="cd4">
                  <a:pos x="hc" y="b"/>
                </a:cxn>
                <a:cxn ang="cd2">
                  <a:pos x="l" y="vc"/>
                </a:cxn>
                <a:cxn ang="f24">
                  <a:pos x="f19" y="f20"/>
                </a:cxn>
                <a:cxn ang="f24">
                  <a:pos x="f22" y="f23"/>
                </a:cxn>
              </a:cxnLst>
              <a:rect l="l" t="t" r="r" b="b"/>
              <a:pathLst>
                <a:path w="3441700" h="3397250" stroke="0">
                  <a:moveTo>
                    <a:pt x="f5" y="f6"/>
                  </a:moveTo>
                  <a:cubicBezTo>
                    <a:pt x="f7" y="f8"/>
                    <a:pt x="f9" y="f10"/>
                    <a:pt x="f11" y="f12"/>
                  </a:cubicBezTo>
                  <a:lnTo>
                    <a:pt x="f13" y="f14"/>
                  </a:lnTo>
                  <a:lnTo>
                    <a:pt x="f5" y="f6"/>
                  </a:lnTo>
                  <a:close/>
                </a:path>
                <a:path w="3441700" h="3397250" fill="none">
                  <a:moveTo>
                    <a:pt x="f5" y="f6"/>
                  </a:moveTo>
                  <a:cubicBezTo>
                    <a:pt x="f7" y="f8"/>
                    <a:pt x="f9" y="f10"/>
                    <a:pt x="f11" y="f12"/>
                  </a:cubicBezTo>
                </a:path>
              </a:pathLst>
            </a:custGeom>
            <a:noFill/>
            <a:ln w="25560">
              <a:solidFill>
                <a:srgbClr val="000000"/>
              </a:solidFill>
              <a:prstDash val="solid"/>
              <a:round/>
              <a:tailEnd type="arrow"/>
            </a:ln>
          </p:spPr>
          <p:txBody>
            <a:bodyPr lIns="90000" tIns="46800" rIns="90000" bIns="46800"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latin typeface="Liberation Sans" pitchFamily="18"/>
                <a:ea typeface="Droid Sans Fallback" pitchFamily="2"/>
                <a:cs typeface="Lohit Hindi" pitchFamily="2"/>
              </a:endParaRPr>
            </a:p>
          </p:txBody>
        </p:sp>
      </p:grpSp>
      <p:sp>
        <p:nvSpPr>
          <p:cNvPr id="2" name="Text Placeholder 1"/>
          <p:cNvSpPr>
            <a:spLocks noGrp="1"/>
          </p:cNvSpPr>
          <p:nvPr>
            <p:ph type="body" idx="1"/>
          </p:nvPr>
        </p:nvSpPr>
        <p:spPr/>
        <p:txBody>
          <a:bodyPr/>
          <a:lstStyle/>
          <a:p>
            <a:r>
              <a:rPr lang="nl-NL" sz="3600" dirty="0" smtClean="0"/>
              <a:t>WP6 - </a:t>
            </a:r>
            <a:r>
              <a:rPr lang="nl-NL" sz="3600" dirty="0">
                <a:ea typeface="Droid Sans Fallback" pitchFamily="2"/>
              </a:rPr>
              <a:t>Understanding the scientific modeling process</a:t>
            </a:r>
          </a:p>
          <a:p>
            <a:endParaRPr lang="nl-NL" sz="100" dirty="0"/>
          </a:p>
        </p:txBody>
      </p:sp>
    </p:spTree>
    <p:extLst>
      <p:ext uri="{BB962C8B-B14F-4D97-AF65-F5344CB8AC3E}">
        <p14:creationId xmlns:p14="http://schemas.microsoft.com/office/powerpoint/2010/main" val="8611115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4294967295"/>
          </p:nvPr>
        </p:nvSpPr>
        <p:spPr>
          <a:xfrm>
            <a:off x="1174566" y="1498800"/>
            <a:ext cx="7737315" cy="5211157"/>
          </a:xfrm>
          <a:prstGeom prst="rect">
            <a:avLst/>
          </a:prstGeom>
        </p:spPr>
        <p:txBody>
          <a:bodyPr/>
          <a:lstStyle/>
          <a:p>
            <a:r>
              <a:rPr lang="nl-NL" dirty="0"/>
              <a:t>Computational model consisting of </a:t>
            </a:r>
            <a:r>
              <a:rPr lang="nl-NL" dirty="0" smtClean="0"/>
              <a:t>:</a:t>
            </a:r>
            <a:endParaRPr lang="nl-NL" dirty="0"/>
          </a:p>
          <a:p>
            <a:pPr lvl="1">
              <a:buFont typeface="Arial" pitchFamily="34" charset="0"/>
              <a:buChar char="•"/>
            </a:pPr>
            <a:r>
              <a:rPr lang="nl-NL" sz="2000" dirty="0" smtClean="0"/>
              <a:t>10s </a:t>
            </a:r>
            <a:r>
              <a:rPr lang="nl-NL" sz="2000" dirty="0"/>
              <a:t>of spreadsheets</a:t>
            </a:r>
          </a:p>
          <a:p>
            <a:pPr lvl="1">
              <a:buFont typeface="Arial" pitchFamily="34" charset="0"/>
              <a:buChar char="•"/>
            </a:pPr>
            <a:r>
              <a:rPr lang="nl-NL" sz="2000" dirty="0" smtClean="0"/>
              <a:t>100s </a:t>
            </a:r>
            <a:r>
              <a:rPr lang="nl-NL" sz="2000" dirty="0"/>
              <a:t>of tables</a:t>
            </a:r>
          </a:p>
          <a:p>
            <a:pPr lvl="1">
              <a:buFont typeface="Arial" pitchFamily="34" charset="0"/>
              <a:buChar char="•"/>
            </a:pPr>
            <a:r>
              <a:rPr lang="nl-NL" sz="2000" dirty="0" smtClean="0"/>
              <a:t>100s </a:t>
            </a:r>
            <a:r>
              <a:rPr lang="nl-NL" sz="2000" dirty="0"/>
              <a:t>of concepts</a:t>
            </a:r>
          </a:p>
          <a:p>
            <a:pPr lvl="1">
              <a:buFont typeface="Arial" pitchFamily="34" charset="0"/>
              <a:buChar char="•"/>
            </a:pPr>
            <a:r>
              <a:rPr lang="nl-NL" sz="2000" dirty="0" smtClean="0"/>
              <a:t>1000s </a:t>
            </a:r>
            <a:r>
              <a:rPr lang="nl-NL" sz="2000" dirty="0"/>
              <a:t>of </a:t>
            </a:r>
            <a:r>
              <a:rPr lang="nl-NL" sz="2000" dirty="0" smtClean="0"/>
              <a:t>formulas</a:t>
            </a:r>
          </a:p>
          <a:p>
            <a:pPr lvl="1">
              <a:buFont typeface="Arial" pitchFamily="34" charset="0"/>
              <a:buChar char="•"/>
            </a:pPr>
            <a:r>
              <a:rPr lang="nl-NL" dirty="0"/>
              <a:t>Example, part of spreadsheet table</a:t>
            </a:r>
            <a:r>
              <a:rPr lang="nl-NL" dirty="0" smtClean="0"/>
              <a:t>:</a:t>
            </a:r>
            <a:endParaRPr lang="nl-NL" dirty="0"/>
          </a:p>
          <a:p>
            <a:pPr lvl="2"/>
            <a:endParaRPr lang="nl-NL" dirty="0"/>
          </a:p>
        </p:txBody>
      </p:sp>
      <p:graphicFrame>
        <p:nvGraphicFramePr>
          <p:cNvPr id="2" name="Table 1"/>
          <p:cNvGraphicFramePr>
            <a:graphicFrameLocks noGrp="1"/>
          </p:cNvGraphicFramePr>
          <p:nvPr>
            <p:extLst>
              <p:ext uri="{D42A27DB-BD31-4B8C-83A1-F6EECF244321}">
                <p14:modId xmlns:p14="http://schemas.microsoft.com/office/powerpoint/2010/main" val="1497824044"/>
              </p:ext>
            </p:extLst>
          </p:nvPr>
        </p:nvGraphicFramePr>
        <p:xfrm>
          <a:off x="2076202" y="4212747"/>
          <a:ext cx="6835679" cy="2497210"/>
        </p:xfrm>
        <a:graphic>
          <a:graphicData uri="http://schemas.openxmlformats.org/drawingml/2006/table">
            <a:tbl>
              <a:tblPr firstRow="1" bandRow="1">
                <a:tableStyleId>{5C22544A-7EE6-4342-B048-85BDC9FD1C3A}</a:tableStyleId>
              </a:tblPr>
              <a:tblGrid>
                <a:gridCol w="1872083"/>
                <a:gridCol w="914347"/>
                <a:gridCol w="1371520"/>
                <a:gridCol w="1306209"/>
                <a:gridCol w="1371520"/>
              </a:tblGrid>
              <a:tr h="0">
                <a:tc>
                  <a:txBody>
                    <a:bodyPr/>
                    <a:lstStyle/>
                    <a:p>
                      <a:endParaRPr lang="nl-NL" sz="1600" dirty="0"/>
                    </a:p>
                  </a:txBody>
                  <a:tcPr marL="82935" marR="82935" marT="41481" marB="41481"/>
                </a:tc>
                <a:tc>
                  <a:txBody>
                    <a:bodyPr/>
                    <a:lstStyle/>
                    <a:p>
                      <a:endParaRPr lang="nl-NL" sz="1600"/>
                    </a:p>
                  </a:txBody>
                  <a:tcPr marL="82935" marR="82935" marT="41481" marB="41481"/>
                </a:tc>
                <a:tc>
                  <a:txBody>
                    <a:bodyPr/>
                    <a:lstStyle/>
                    <a:p>
                      <a:r>
                        <a:rPr lang="nl-NL" sz="1600" b="1" baseline="0" dirty="0" smtClean="0">
                          <a:solidFill>
                            <a:schemeClr val="lt1"/>
                          </a:solidFill>
                          <a:latin typeface="+mn-lt"/>
                          <a:ea typeface="+mn-ea"/>
                          <a:cs typeface="+mn-cs"/>
                        </a:rPr>
                        <a:t>Geothermal</a:t>
                      </a:r>
                    </a:p>
                    <a:p>
                      <a:r>
                        <a:rPr lang="nl-NL" sz="1600" b="1" baseline="0" dirty="0" smtClean="0">
                          <a:solidFill>
                            <a:schemeClr val="lt1"/>
                          </a:solidFill>
                          <a:latin typeface="+mn-lt"/>
                          <a:ea typeface="+mn-ea"/>
                          <a:cs typeface="+mn-cs"/>
                        </a:rPr>
                        <a:t>heating</a:t>
                      </a:r>
                    </a:p>
                  </a:txBody>
                  <a:tcPr marL="82935" marR="82935" marT="41481" marB="41481"/>
                </a:tc>
                <a:tc>
                  <a:txBody>
                    <a:bodyPr/>
                    <a:lstStyle/>
                    <a:p>
                      <a:r>
                        <a:rPr lang="nl-NL" sz="1600" b="1" baseline="0" dirty="0" smtClean="0">
                          <a:solidFill>
                            <a:schemeClr val="lt1"/>
                          </a:solidFill>
                          <a:latin typeface="+mn-lt"/>
                          <a:ea typeface="+mn-ea"/>
                          <a:cs typeface="+mn-cs"/>
                        </a:rPr>
                        <a:t>Solar </a:t>
                      </a:r>
                    </a:p>
                    <a:p>
                      <a:r>
                        <a:rPr lang="nl-NL" sz="1600" b="1" baseline="0" dirty="0" smtClean="0">
                          <a:solidFill>
                            <a:schemeClr val="lt1"/>
                          </a:solidFill>
                          <a:latin typeface="+mn-lt"/>
                          <a:ea typeface="+mn-ea"/>
                          <a:cs typeface="+mn-cs"/>
                        </a:rPr>
                        <a:t>boiler</a:t>
                      </a:r>
                    </a:p>
                  </a:txBody>
                  <a:tcPr marL="82935" marR="82935" marT="41481" marB="41481"/>
                </a:tc>
                <a:tc>
                  <a:txBody>
                    <a:bodyPr/>
                    <a:lstStyle/>
                    <a:p>
                      <a:r>
                        <a:rPr lang="nl-NL" sz="1600" b="1" baseline="0" dirty="0" smtClean="0">
                          <a:solidFill>
                            <a:schemeClr val="lt1"/>
                          </a:solidFill>
                          <a:latin typeface="+mn-lt"/>
                          <a:ea typeface="+mn-ea"/>
                          <a:cs typeface="+mn-cs"/>
                        </a:rPr>
                        <a:t>Hybrid </a:t>
                      </a:r>
                    </a:p>
                    <a:p>
                      <a:r>
                        <a:rPr lang="nl-NL" sz="1600" b="1" baseline="0" dirty="0" smtClean="0">
                          <a:solidFill>
                            <a:schemeClr val="lt1"/>
                          </a:solidFill>
                          <a:latin typeface="+mn-lt"/>
                          <a:ea typeface="+mn-ea"/>
                          <a:cs typeface="+mn-cs"/>
                        </a:rPr>
                        <a:t>heater</a:t>
                      </a:r>
                      <a:endParaRPr lang="nl-NL" sz="1600" dirty="0" smtClean="0"/>
                    </a:p>
                  </a:txBody>
                  <a:tcPr marL="82935" marR="82935" marT="41481" marB="41481"/>
                </a:tc>
              </a:tr>
              <a:tr h="580736">
                <a:tc>
                  <a:txBody>
                    <a:bodyPr/>
                    <a:lstStyle/>
                    <a:p>
                      <a:r>
                        <a:rPr lang="nl-NL" sz="1600" b="1" baseline="0" dirty="0" smtClean="0">
                          <a:solidFill>
                            <a:schemeClr val="dk1"/>
                          </a:solidFill>
                          <a:latin typeface="+mn-lt"/>
                          <a:ea typeface="+mn-ea"/>
                          <a:cs typeface="+mn-cs"/>
                        </a:rPr>
                        <a:t>CO2 emission</a:t>
                      </a:r>
                    </a:p>
                  </a:txBody>
                  <a:tcPr marL="82935" marR="82935" marT="41481" marB="41481"/>
                </a:tc>
                <a:tc>
                  <a:txBody>
                    <a:bodyPr/>
                    <a:lstStyle/>
                    <a:p>
                      <a:r>
                        <a:rPr lang="nl-NL" sz="1600" b="1" baseline="0" dirty="0" smtClean="0">
                          <a:solidFill>
                            <a:schemeClr val="dk1"/>
                          </a:solidFill>
                          <a:latin typeface="+mn-lt"/>
                          <a:ea typeface="+mn-ea"/>
                          <a:cs typeface="+mn-cs"/>
                        </a:rPr>
                        <a:t>Mton/PJ </a:t>
                      </a:r>
                      <a:endParaRPr lang="nl-NL" sz="1600" dirty="0"/>
                    </a:p>
                  </a:txBody>
                  <a:tcPr marL="82935" marR="82935" marT="41481" marB="41481"/>
                </a:tc>
                <a:tc>
                  <a:txBody>
                    <a:bodyPr/>
                    <a:lstStyle/>
                    <a:p>
                      <a:r>
                        <a:rPr lang="nl-NL" sz="1600" b="0" baseline="0" dirty="0" smtClean="0">
                          <a:solidFill>
                            <a:schemeClr val="dk1"/>
                          </a:solidFill>
                          <a:latin typeface="+mn-lt"/>
                          <a:ea typeface="+mn-ea"/>
                          <a:cs typeface="+mn-cs"/>
                        </a:rPr>
                        <a:t>0.01</a:t>
                      </a:r>
                      <a:endParaRPr lang="nl-NL" sz="1600" b="0" dirty="0"/>
                    </a:p>
                  </a:txBody>
                  <a:tcPr marL="82935" marR="82935" marT="41481" marB="41481"/>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nl-NL" sz="1600" b="0" baseline="0" dirty="0" smtClean="0">
                          <a:solidFill>
                            <a:schemeClr val="dk1"/>
                          </a:solidFill>
                          <a:latin typeface="+mn-lt"/>
                          <a:ea typeface="+mn-ea"/>
                          <a:cs typeface="+mn-cs"/>
                        </a:rPr>
                        <a:t>0</a:t>
                      </a:r>
                      <a:endParaRPr lang="nl-NL" sz="1600" b="0" dirty="0" smtClean="0"/>
                    </a:p>
                    <a:p>
                      <a:endParaRPr lang="nl-NL" sz="1600" b="0" dirty="0"/>
                    </a:p>
                  </a:txBody>
                  <a:tcPr marL="82935" marR="82935" marT="41481" marB="41481"/>
                </a:tc>
                <a:tc>
                  <a:txBody>
                    <a:bodyPr/>
                    <a:lstStyle/>
                    <a:p>
                      <a:r>
                        <a:rPr lang="nl-NL" sz="1600" b="0" baseline="0" dirty="0" smtClean="0">
                          <a:solidFill>
                            <a:schemeClr val="dk1"/>
                          </a:solidFill>
                          <a:latin typeface="+mn-lt"/>
                          <a:ea typeface="+mn-ea"/>
                          <a:cs typeface="+mn-cs"/>
                        </a:rPr>
                        <a:t> 0.01</a:t>
                      </a:r>
                      <a:endParaRPr lang="nl-NL" sz="1600" b="0" dirty="0"/>
                    </a:p>
                  </a:txBody>
                  <a:tcPr marL="82935" marR="82935" marT="41481" marB="41481"/>
                </a:tc>
              </a:tr>
              <a:tr h="336458">
                <a:tc>
                  <a:txBody>
                    <a:bodyPr/>
                    <a:lstStyle/>
                    <a:p>
                      <a:endParaRPr lang="nl-NL" sz="1600"/>
                    </a:p>
                  </a:txBody>
                  <a:tcPr marL="82935" marR="82935" marT="41481" marB="41481"/>
                </a:tc>
                <a:tc>
                  <a:txBody>
                    <a:bodyPr/>
                    <a:lstStyle/>
                    <a:p>
                      <a:endParaRPr lang="nl-NL" sz="1600" dirty="0"/>
                    </a:p>
                  </a:txBody>
                  <a:tcPr marL="82935" marR="82935" marT="41481" marB="41481"/>
                </a:tc>
                <a:tc>
                  <a:txBody>
                    <a:bodyPr/>
                    <a:lstStyle/>
                    <a:p>
                      <a:endParaRPr lang="nl-NL" sz="1600" b="0" dirty="0"/>
                    </a:p>
                  </a:txBody>
                  <a:tcPr marL="82935" marR="82935" marT="41481" marB="41481"/>
                </a:tc>
                <a:tc>
                  <a:txBody>
                    <a:bodyPr/>
                    <a:lstStyle/>
                    <a:p>
                      <a:endParaRPr lang="nl-NL" sz="1600" b="0" dirty="0"/>
                    </a:p>
                  </a:txBody>
                  <a:tcPr marL="82935" marR="82935" marT="41481" marB="41481"/>
                </a:tc>
                <a:tc>
                  <a:txBody>
                    <a:bodyPr/>
                    <a:lstStyle/>
                    <a:p>
                      <a:endParaRPr lang="nl-NL" sz="1600" b="0" dirty="0"/>
                    </a:p>
                  </a:txBody>
                  <a:tcPr marL="82935" marR="82935" marT="41481" marB="41481"/>
                </a:tc>
              </a:tr>
              <a:tr h="336458">
                <a:tc>
                  <a:txBody>
                    <a:bodyPr/>
                    <a:lstStyle/>
                    <a:p>
                      <a:r>
                        <a:rPr lang="en-US" sz="1600" b="1" baseline="0" dirty="0" smtClean="0">
                          <a:solidFill>
                            <a:schemeClr val="dk1"/>
                          </a:solidFill>
                          <a:latin typeface="+mn-lt"/>
                          <a:ea typeface="+mn-ea"/>
                          <a:cs typeface="+mn-cs"/>
                        </a:rPr>
                        <a:t>Roof area</a:t>
                      </a:r>
                    </a:p>
                  </a:txBody>
                  <a:tcPr marL="82935" marR="82935" marT="41481" marB="41481"/>
                </a:tc>
                <a:tc>
                  <a:txBody>
                    <a:bodyPr/>
                    <a:lstStyle/>
                    <a:p>
                      <a:r>
                        <a:rPr lang="en-US" sz="1600" b="1" baseline="0" dirty="0" smtClean="0">
                          <a:solidFill>
                            <a:schemeClr val="dk1"/>
                          </a:solidFill>
                          <a:latin typeface="+mn-lt"/>
                          <a:ea typeface="+mn-ea"/>
                          <a:cs typeface="+mn-cs"/>
                        </a:rPr>
                        <a:t>Mm2</a:t>
                      </a:r>
                      <a:endParaRPr lang="nl-NL" sz="1600" dirty="0"/>
                    </a:p>
                  </a:txBody>
                  <a:tcPr marL="82935" marR="82935" marT="41481" marB="41481"/>
                </a:tc>
                <a:tc>
                  <a:txBody>
                    <a:bodyPr/>
                    <a:lstStyle/>
                    <a:p>
                      <a:r>
                        <a:rPr lang="en-US" sz="1600" b="0" baseline="0" dirty="0" smtClean="0">
                          <a:solidFill>
                            <a:schemeClr val="dk1"/>
                          </a:solidFill>
                          <a:latin typeface="+mn-lt"/>
                          <a:ea typeface="+mn-ea"/>
                          <a:cs typeface="+mn-cs"/>
                        </a:rPr>
                        <a:t>0</a:t>
                      </a:r>
                      <a:endParaRPr lang="nl-NL" sz="1600" b="0" dirty="0"/>
                    </a:p>
                  </a:txBody>
                  <a:tcPr marL="82935" marR="82935" marT="41481" marB="41481"/>
                </a:tc>
                <a:tc>
                  <a:txBody>
                    <a:bodyPr/>
                    <a:lstStyle/>
                    <a:p>
                      <a:r>
                        <a:rPr lang="en-US" sz="1600" b="0" baseline="0" dirty="0" smtClean="0">
                          <a:solidFill>
                            <a:schemeClr val="dk1"/>
                          </a:solidFill>
                          <a:latin typeface="+mn-lt"/>
                          <a:ea typeface="+mn-ea"/>
                          <a:cs typeface="+mn-cs"/>
                        </a:rPr>
                        <a:t>0.40</a:t>
                      </a:r>
                      <a:endParaRPr lang="nl-NL" sz="1600" b="0" dirty="0"/>
                    </a:p>
                  </a:txBody>
                  <a:tcPr marL="82935" marR="82935" marT="41481" marB="41481"/>
                </a:tc>
                <a:tc>
                  <a:txBody>
                    <a:bodyPr/>
                    <a:lstStyle/>
                    <a:p>
                      <a:r>
                        <a:rPr lang="en-US" sz="1600" b="0" baseline="0" dirty="0" smtClean="0">
                          <a:solidFill>
                            <a:schemeClr val="dk1"/>
                          </a:solidFill>
                          <a:latin typeface="+mn-lt"/>
                          <a:ea typeface="+mn-ea"/>
                          <a:cs typeface="+mn-cs"/>
                        </a:rPr>
                        <a:t>0</a:t>
                      </a:r>
                      <a:endParaRPr lang="nl-NL" sz="1600" b="0" dirty="0"/>
                    </a:p>
                  </a:txBody>
                  <a:tcPr marL="82935" marR="82935" marT="41481" marB="41481"/>
                </a:tc>
              </a:tr>
              <a:tr h="336458">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600" b="1" baseline="0" dirty="0" smtClean="0">
                          <a:solidFill>
                            <a:schemeClr val="dk1"/>
                          </a:solidFill>
                          <a:latin typeface="+mn-lt"/>
                          <a:ea typeface="+mn-ea"/>
                          <a:cs typeface="+mn-cs"/>
                        </a:rPr>
                        <a:t>Geothermal energy</a:t>
                      </a:r>
                    </a:p>
                  </a:txBody>
                  <a:tcPr marL="82935" marR="82935" marT="41481" marB="41481"/>
                </a:tc>
                <a:tc>
                  <a:txBody>
                    <a:bodyPr/>
                    <a:lstStyle/>
                    <a:p>
                      <a:r>
                        <a:rPr lang="en-US" sz="1600" b="1" baseline="0" dirty="0" smtClean="0">
                          <a:solidFill>
                            <a:schemeClr val="dk1"/>
                          </a:solidFill>
                          <a:latin typeface="+mn-lt"/>
                          <a:ea typeface="+mn-ea"/>
                          <a:cs typeface="+mn-cs"/>
                        </a:rPr>
                        <a:t>PJ</a:t>
                      </a:r>
                      <a:endParaRPr lang="nl-NL" sz="1600" dirty="0"/>
                    </a:p>
                  </a:txBody>
                  <a:tcPr marL="82935" marR="82935" marT="41481" marB="41481"/>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600" b="0" baseline="0" dirty="0" smtClean="0">
                          <a:solidFill>
                            <a:schemeClr val="dk1"/>
                          </a:solidFill>
                          <a:latin typeface="+mn-lt"/>
                          <a:ea typeface="+mn-ea"/>
                          <a:cs typeface="+mn-cs"/>
                        </a:rPr>
                        <a:t>0.80</a:t>
                      </a:r>
                      <a:endParaRPr lang="nl-NL" sz="1600" b="0" dirty="0"/>
                    </a:p>
                  </a:txBody>
                  <a:tcPr marL="82935" marR="82935" marT="41481" marB="41481"/>
                </a:tc>
                <a:tc>
                  <a:txBody>
                    <a:bodyPr/>
                    <a:lstStyle/>
                    <a:p>
                      <a:r>
                        <a:rPr lang="en-US" sz="1600" b="0" baseline="0" dirty="0" smtClean="0">
                          <a:solidFill>
                            <a:schemeClr val="dk1"/>
                          </a:solidFill>
                          <a:latin typeface="+mn-lt"/>
                          <a:ea typeface="+mn-ea"/>
                          <a:cs typeface="+mn-cs"/>
                        </a:rPr>
                        <a:t>0</a:t>
                      </a:r>
                      <a:endParaRPr lang="nl-NL" sz="1600" b="0" dirty="0"/>
                    </a:p>
                  </a:txBody>
                  <a:tcPr marL="82935" marR="82935" marT="41481" marB="41481"/>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600" b="0" baseline="0" dirty="0" smtClean="0">
                          <a:solidFill>
                            <a:schemeClr val="dk1"/>
                          </a:solidFill>
                          <a:latin typeface="+mn-lt"/>
                          <a:ea typeface="+mn-ea"/>
                          <a:cs typeface="+mn-cs"/>
                        </a:rPr>
                        <a:t>0</a:t>
                      </a:r>
                      <a:endParaRPr lang="nl-NL" sz="1600" b="0" dirty="0"/>
                    </a:p>
                  </a:txBody>
                  <a:tcPr marL="82935" marR="82935" marT="41481" marB="41481"/>
                </a:tc>
              </a:tr>
              <a:tr h="336458">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pt-BR" sz="1600" b="1" baseline="0" dirty="0" smtClean="0">
                          <a:solidFill>
                            <a:schemeClr val="dk1"/>
                          </a:solidFill>
                          <a:latin typeface="+mn-lt"/>
                          <a:ea typeface="+mn-ea"/>
                          <a:cs typeface="+mn-cs"/>
                        </a:rPr>
                        <a:t>Methane gas</a:t>
                      </a:r>
                      <a:endParaRPr lang="nl-NL" sz="1600" dirty="0" smtClean="0"/>
                    </a:p>
                  </a:txBody>
                  <a:tcPr marL="82935" marR="82935" marT="41481" marB="41481"/>
                </a:tc>
                <a:tc>
                  <a:txBody>
                    <a:bodyPr/>
                    <a:lstStyle/>
                    <a:p>
                      <a:r>
                        <a:rPr lang="pt-BR" sz="1600" b="1" baseline="0" dirty="0" smtClean="0">
                          <a:solidFill>
                            <a:schemeClr val="dk1"/>
                          </a:solidFill>
                          <a:latin typeface="+mn-lt"/>
                          <a:ea typeface="+mn-ea"/>
                          <a:cs typeface="+mn-cs"/>
                        </a:rPr>
                        <a:t>PJ</a:t>
                      </a:r>
                      <a:endParaRPr lang="nl-NL" sz="1600" dirty="0"/>
                    </a:p>
                  </a:txBody>
                  <a:tcPr marL="82935" marR="82935" marT="41481" marB="41481"/>
                </a:tc>
                <a:tc>
                  <a:txBody>
                    <a:bodyPr/>
                    <a:lstStyle/>
                    <a:p>
                      <a:r>
                        <a:rPr lang="pt-BR" sz="1600" b="0" baseline="0" dirty="0" smtClean="0">
                          <a:solidFill>
                            <a:schemeClr val="dk1"/>
                          </a:solidFill>
                          <a:latin typeface="+mn-lt"/>
                          <a:ea typeface="+mn-ea"/>
                          <a:cs typeface="+mn-cs"/>
                        </a:rPr>
                        <a:t>0.20</a:t>
                      </a:r>
                      <a:endParaRPr lang="nl-NL" sz="1600" b="0" dirty="0"/>
                    </a:p>
                  </a:txBody>
                  <a:tcPr marL="82935" marR="82935" marT="41481" marB="41481"/>
                </a:tc>
                <a:tc>
                  <a:txBody>
                    <a:bodyPr/>
                    <a:lstStyle/>
                    <a:p>
                      <a:r>
                        <a:rPr lang="pt-BR" sz="1600" b="0" baseline="0" dirty="0" smtClean="0">
                          <a:solidFill>
                            <a:schemeClr val="dk1"/>
                          </a:solidFill>
                          <a:latin typeface="+mn-lt"/>
                          <a:ea typeface="+mn-ea"/>
                          <a:cs typeface="+mn-cs"/>
                        </a:rPr>
                        <a:t>0</a:t>
                      </a:r>
                      <a:endParaRPr lang="nl-NL" sz="1600" b="0" dirty="0"/>
                    </a:p>
                  </a:txBody>
                  <a:tcPr marL="82935" marR="82935" marT="41481" marB="41481"/>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pt-BR" sz="1600" b="0" baseline="0" dirty="0" smtClean="0">
                          <a:solidFill>
                            <a:schemeClr val="dk1"/>
                          </a:solidFill>
                          <a:latin typeface="+mn-lt"/>
                          <a:ea typeface="+mn-ea"/>
                          <a:cs typeface="+mn-cs"/>
                        </a:rPr>
                        <a:t>=M12/$H$39</a:t>
                      </a:r>
                      <a:endParaRPr lang="nl-NL" sz="1600" b="0" dirty="0"/>
                    </a:p>
                  </a:txBody>
                  <a:tcPr marL="82935" marR="82935" marT="41481" marB="41481"/>
                </a:tc>
              </a:tr>
            </a:tbl>
          </a:graphicData>
        </a:graphic>
      </p:graphicFrame>
      <p:sp>
        <p:nvSpPr>
          <p:cNvPr id="4" name="Text Placeholder 3"/>
          <p:cNvSpPr>
            <a:spLocks noGrp="1"/>
          </p:cNvSpPr>
          <p:nvPr>
            <p:ph type="body" idx="1"/>
          </p:nvPr>
        </p:nvSpPr>
        <p:spPr/>
        <p:txBody>
          <a:bodyPr/>
          <a:lstStyle/>
          <a:p>
            <a:r>
              <a:rPr lang="nl-NL" sz="3600" dirty="0" smtClean="0"/>
              <a:t>WP6 - </a:t>
            </a:r>
            <a:r>
              <a:rPr lang="nl-NL" sz="3600" dirty="0">
                <a:ea typeface="Droid Sans Fallback" pitchFamily="2"/>
              </a:rPr>
              <a:t>Case study on Dutch Energy System in </a:t>
            </a:r>
            <a:r>
              <a:rPr lang="nl-NL" sz="3600" dirty="0" smtClean="0">
                <a:ea typeface="Droid Sans Fallback" pitchFamily="2"/>
              </a:rPr>
              <a:t>2050</a:t>
            </a:r>
            <a:endParaRPr lang="nl-NL" sz="3600" dirty="0">
              <a:ea typeface="Droid Sans Fallback" pitchFamily="2"/>
            </a:endParaRPr>
          </a:p>
        </p:txBody>
      </p:sp>
    </p:spTree>
    <p:extLst>
      <p:ext uri="{BB962C8B-B14F-4D97-AF65-F5344CB8AC3E}">
        <p14:creationId xmlns:p14="http://schemas.microsoft.com/office/powerpoint/2010/main" val="41175863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p:cNvSpPr>
            <a:spLocks noGrp="1"/>
          </p:cNvSpPr>
          <p:nvPr>
            <p:ph sz="half" idx="4294967295"/>
          </p:nvPr>
        </p:nvSpPr>
        <p:spPr>
          <a:xfrm>
            <a:off x="1174566" y="1498800"/>
            <a:ext cx="7737315" cy="5211157"/>
          </a:xfrm>
          <a:prstGeom prst="rect">
            <a:avLst/>
          </a:prstGeom>
        </p:spPr>
        <p:txBody>
          <a:bodyPr/>
          <a:lstStyle/>
          <a:p>
            <a:r>
              <a:rPr lang="nl-NL" sz="2400" dirty="0">
                <a:ea typeface="Droid Sans Fallback" pitchFamily="2"/>
              </a:rPr>
              <a:t>Manual anlysis of concepts in </a:t>
            </a:r>
            <a:r>
              <a:rPr lang="nl-NL" sz="2400" dirty="0" smtClean="0">
                <a:ea typeface="Droid Sans Fallback" pitchFamily="2"/>
              </a:rPr>
              <a:t>spreadsheets</a:t>
            </a:r>
            <a:endParaRPr lang="nl-NL" sz="2400" dirty="0">
              <a:ea typeface="Droid Sans Fallback" pitchFamily="2"/>
            </a:endParaRPr>
          </a:p>
        </p:txBody>
      </p:sp>
      <p:sp>
        <p:nvSpPr>
          <p:cNvPr id="3" name="Rectangle 73"/>
          <p:cNvSpPr/>
          <p:nvPr/>
        </p:nvSpPr>
        <p:spPr>
          <a:xfrm>
            <a:off x="1899553" y="2102144"/>
            <a:ext cx="1391040" cy="68695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19080">
            <a:solidFill>
              <a:srgbClr val="000000"/>
            </a:solidFill>
            <a:prstDash val="solid"/>
            <a:miter/>
            <a:tailEnd type="arrow"/>
          </a:ln>
        </p:spPr>
        <p:txBody>
          <a:bodyPr lIns="81639" tIns="42452" rIns="81639" bIns="42452"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4" name="TextBox 170"/>
          <p:cNvSpPr/>
          <p:nvPr/>
        </p:nvSpPr>
        <p:spPr>
          <a:xfrm>
            <a:off x="3675072" y="3895132"/>
            <a:ext cx="324275" cy="36754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tailEnd type="arrow"/>
          </a:ln>
        </p:spPr>
        <p:txBody>
          <a:bodyPr wrap="none" lIns="81639" tIns="42452" rIns="81639" bIns="42452"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defRPr/>
            </a:pPr>
            <a:r>
              <a:rPr lang="nl-NL" dirty="0">
                <a:ea typeface="Droid Sans Fallback" pitchFamily="2"/>
              </a:rPr>
              <a:t>…</a:t>
            </a:r>
          </a:p>
        </p:txBody>
      </p:sp>
      <p:grpSp>
        <p:nvGrpSpPr>
          <p:cNvPr id="4101" name="Group 137"/>
          <p:cNvGrpSpPr>
            <a:grpSpLocks/>
          </p:cNvGrpSpPr>
          <p:nvPr/>
        </p:nvGrpSpPr>
        <p:grpSpPr bwMode="auto">
          <a:xfrm>
            <a:off x="2135712" y="2779015"/>
            <a:ext cx="230400" cy="643747"/>
            <a:chOff x="1922760" y="1907280"/>
            <a:chExt cx="254160" cy="709200"/>
          </a:xfrm>
        </p:grpSpPr>
        <p:sp>
          <p:nvSpPr>
            <p:cNvPr id="6" name="Isosceles Triangle 190"/>
            <p:cNvSpPr/>
            <p:nvPr/>
          </p:nvSpPr>
          <p:spPr>
            <a:xfrm>
              <a:off x="1922760" y="1907280"/>
              <a:ext cx="254160" cy="295104"/>
            </a:xfrm>
            <a:custGeom>
              <a:avLst>
                <a:gd name="f0" fmla="val 10800"/>
              </a:avLst>
              <a:gdLst>
                <a:gd name="f1" fmla="val 10800000"/>
                <a:gd name="f2" fmla="val 5400000"/>
                <a:gd name="f3" fmla="val 180"/>
                <a:gd name="f4" fmla="val w"/>
                <a:gd name="f5" fmla="val h"/>
                <a:gd name="f6" fmla="val 0"/>
                <a:gd name="f7" fmla="val 21600"/>
                <a:gd name="f8" fmla="val -2147483647"/>
                <a:gd name="f9" fmla="val 2147483647"/>
                <a:gd name="f10" fmla="+- 0 0 0"/>
                <a:gd name="f11" fmla="*/ f4 1 21600"/>
                <a:gd name="f12" fmla="*/ f5 1 21600"/>
                <a:gd name="f13" fmla="pin 0 f0 21600"/>
                <a:gd name="f14" fmla="*/ f10 f1 1"/>
                <a:gd name="f15" fmla="val f13"/>
                <a:gd name="f16" fmla="*/ f13 1 2"/>
                <a:gd name="f17" fmla="*/ f13 f11 1"/>
                <a:gd name="f18" fmla="*/ f6 f12 1"/>
                <a:gd name="f19" fmla="*/ 18000 f12 1"/>
                <a:gd name="f20" fmla="*/ 10800 f12 1"/>
                <a:gd name="f21" fmla="*/ 10800 f11 1"/>
                <a:gd name="f22" fmla="*/ 0 f12 1"/>
                <a:gd name="f23" fmla="*/ f14 1 f3"/>
                <a:gd name="f24" fmla="*/ 0 f11 1"/>
                <a:gd name="f25" fmla="*/ 21600 f12 1"/>
                <a:gd name="f26" fmla="*/ 21600 f11 1"/>
                <a:gd name="f27" fmla="+- f16 10800 0"/>
                <a:gd name="f28" fmla="+- 21600 0 f15"/>
                <a:gd name="f29" fmla="*/ f16 f11 1"/>
                <a:gd name="f30" fmla="+- f23 0 f2"/>
                <a:gd name="f31" fmla="*/ f28 1 2"/>
                <a:gd name="f32" fmla="*/ f27 f11 1"/>
                <a:gd name="f33" fmla="+- 21600 0 f31"/>
                <a:gd name="f34" fmla="*/ f33 f11 1"/>
              </a:gdLst>
              <a:ahLst>
                <a:ahXY gdRefX="f0" minX="f6" maxX="f7">
                  <a:pos x="f17" y="f18"/>
                </a:ahXY>
              </a:ahLst>
              <a:cxnLst>
                <a:cxn ang="3cd4">
                  <a:pos x="hc" y="t"/>
                </a:cxn>
                <a:cxn ang="0">
                  <a:pos x="r" y="vc"/>
                </a:cxn>
                <a:cxn ang="cd4">
                  <a:pos x="hc" y="b"/>
                </a:cxn>
                <a:cxn ang="cd2">
                  <a:pos x="l" y="vc"/>
                </a:cxn>
                <a:cxn ang="f30">
                  <a:pos x="f21" y="f22"/>
                </a:cxn>
                <a:cxn ang="f30">
                  <a:pos x="f29" y="f20"/>
                </a:cxn>
                <a:cxn ang="f30">
                  <a:pos x="f24" y="f25"/>
                </a:cxn>
                <a:cxn ang="f30">
                  <a:pos x="f21" y="f25"/>
                </a:cxn>
                <a:cxn ang="f30">
                  <a:pos x="f26" y="f25"/>
                </a:cxn>
                <a:cxn ang="f30">
                  <a:pos x="f34" y="f20"/>
                </a:cxn>
              </a:cxnLst>
              <a:rect l="f29" t="f20" r="f32" b="f19"/>
              <a:pathLst>
                <a:path w="21600" h="21600">
                  <a:moveTo>
                    <a:pt x="f15" y="f6"/>
                  </a:moveTo>
                  <a:lnTo>
                    <a:pt x="f7" y="f7"/>
                  </a:lnTo>
                  <a:lnTo>
                    <a:pt x="f6" y="f7"/>
                  </a:lnTo>
                  <a:close/>
                </a:path>
              </a:pathLst>
            </a:custGeom>
            <a:noFill/>
            <a:ln w="19080">
              <a:solidFill>
                <a:srgbClr val="000000"/>
              </a:solidFill>
              <a:prstDash val="solid"/>
              <a:miter/>
            </a:ln>
          </p:spPr>
          <p:txBody>
            <a:bodyPr lIns="90000" tIns="46800" rIns="90000" bIns="46800"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7" name="Straight Connector 191"/>
            <p:cNvSpPr/>
            <p:nvPr/>
          </p:nvSpPr>
          <p:spPr>
            <a:xfrm flipV="1">
              <a:off x="2049840" y="2202384"/>
              <a:ext cx="0" cy="414096"/>
            </a:xfrm>
            <a:prstGeom prst="line">
              <a:avLst/>
            </a:prstGeom>
            <a:noFill/>
            <a:ln w="19080">
              <a:solidFill>
                <a:srgbClr val="000000"/>
              </a:solidFill>
              <a:prstDash val="solid"/>
              <a:miter/>
            </a:ln>
          </p:spPr>
          <p:txBody>
            <a:bodyPr lIns="90000" tIns="46800" rIns="90000" bIns="46800"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grpSp>
      <p:sp>
        <p:nvSpPr>
          <p:cNvPr id="8" name="Straight Connector 186"/>
          <p:cNvSpPr/>
          <p:nvPr/>
        </p:nvSpPr>
        <p:spPr>
          <a:xfrm>
            <a:off x="1306272" y="3422762"/>
            <a:ext cx="0" cy="393162"/>
          </a:xfrm>
          <a:prstGeom prst="line">
            <a:avLst/>
          </a:prstGeom>
          <a:noFill/>
          <a:ln w="19080">
            <a:solidFill>
              <a:srgbClr val="000000"/>
            </a:solidFill>
            <a:prstDash val="solid"/>
            <a:miter/>
            <a:tailEnd type="arrow"/>
          </a:ln>
        </p:spPr>
        <p:txBody>
          <a:bodyPr lIns="81639" tIns="42452" rIns="81639" bIns="42452"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9" name="Straight Connector 187"/>
          <p:cNvSpPr/>
          <p:nvPr/>
        </p:nvSpPr>
        <p:spPr>
          <a:xfrm>
            <a:off x="2633952" y="3422762"/>
            <a:ext cx="0" cy="393162"/>
          </a:xfrm>
          <a:prstGeom prst="line">
            <a:avLst/>
          </a:prstGeom>
          <a:noFill/>
          <a:ln w="19080">
            <a:solidFill>
              <a:srgbClr val="000000"/>
            </a:solidFill>
            <a:prstDash val="solid"/>
            <a:miter/>
            <a:tailEnd type="arrow"/>
          </a:ln>
        </p:spPr>
        <p:txBody>
          <a:bodyPr lIns="81639" tIns="42452" rIns="81639" bIns="42452"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10" name="Straight Connector 188"/>
          <p:cNvSpPr/>
          <p:nvPr/>
        </p:nvSpPr>
        <p:spPr>
          <a:xfrm>
            <a:off x="1306272" y="3422762"/>
            <a:ext cx="2551680" cy="0"/>
          </a:xfrm>
          <a:prstGeom prst="line">
            <a:avLst/>
          </a:prstGeom>
          <a:noFill/>
          <a:ln w="19080">
            <a:solidFill>
              <a:srgbClr val="000000"/>
            </a:solidFill>
            <a:prstDash val="solid"/>
            <a:miter/>
          </a:ln>
        </p:spPr>
        <p:txBody>
          <a:bodyPr lIns="81639" tIns="42452" rIns="81639" bIns="42452"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11" name="Straight Connector 189"/>
          <p:cNvSpPr/>
          <p:nvPr/>
        </p:nvSpPr>
        <p:spPr>
          <a:xfrm>
            <a:off x="3857952" y="3422762"/>
            <a:ext cx="0" cy="393162"/>
          </a:xfrm>
          <a:prstGeom prst="line">
            <a:avLst/>
          </a:prstGeom>
          <a:noFill/>
          <a:ln w="19080">
            <a:solidFill>
              <a:srgbClr val="000000"/>
            </a:solidFill>
            <a:prstDash val="solid"/>
            <a:miter/>
            <a:tailEnd type="arrow"/>
          </a:ln>
        </p:spPr>
        <p:txBody>
          <a:bodyPr lIns="81639" tIns="42452" rIns="81639" bIns="42452"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12" name="TextBox 27"/>
          <p:cNvSpPr/>
          <p:nvPr/>
        </p:nvSpPr>
        <p:spPr>
          <a:xfrm>
            <a:off x="4294272" y="4844192"/>
            <a:ext cx="1221252" cy="36754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tailEnd type="arrow"/>
          </a:ln>
        </p:spPr>
        <p:txBody>
          <a:bodyPr wrap="none" lIns="81639" tIns="42452" rIns="81639" bIns="42452"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defRPr/>
            </a:pPr>
            <a:r>
              <a:rPr lang="nl-NL" dirty="0">
                <a:ea typeface="Droid Sans Fallback" pitchFamily="2"/>
              </a:rPr>
              <a:t>Technology</a:t>
            </a:r>
          </a:p>
        </p:txBody>
      </p:sp>
      <p:sp>
        <p:nvSpPr>
          <p:cNvPr id="13" name="Rectangle 70"/>
          <p:cNvSpPr/>
          <p:nvPr/>
        </p:nvSpPr>
        <p:spPr>
          <a:xfrm>
            <a:off x="4226592" y="4802427"/>
            <a:ext cx="1658880" cy="46660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19080">
            <a:solidFill>
              <a:srgbClr val="000000"/>
            </a:solidFill>
            <a:prstDash val="solid"/>
            <a:miter/>
            <a:tailEnd type="arrow"/>
          </a:ln>
        </p:spPr>
        <p:txBody>
          <a:bodyPr lIns="81639" tIns="42452" rIns="81639" bIns="42452"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14" name="TextBox 124"/>
          <p:cNvSpPr/>
          <p:nvPr/>
        </p:nvSpPr>
        <p:spPr>
          <a:xfrm rot="3320400">
            <a:off x="3534848" y="3227470"/>
            <a:ext cx="1543327" cy="36754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tailEnd type="arrow"/>
          </a:ln>
        </p:spPr>
        <p:txBody>
          <a:bodyPr wrap="none" lIns="81639" tIns="42452" rIns="81639" bIns="42452"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defRPr/>
            </a:pPr>
            <a:r>
              <a:rPr lang="nl-NL">
                <a:ea typeface="Droid Sans Fallback" pitchFamily="2"/>
              </a:rPr>
              <a:t>hasTechnology</a:t>
            </a:r>
          </a:p>
        </p:txBody>
      </p:sp>
      <p:grpSp>
        <p:nvGrpSpPr>
          <p:cNvPr id="4109" name="Group 14"/>
          <p:cNvGrpSpPr>
            <a:grpSpLocks/>
          </p:cNvGrpSpPr>
          <p:nvPr/>
        </p:nvGrpSpPr>
        <p:grpSpPr bwMode="auto">
          <a:xfrm>
            <a:off x="4027872" y="5247434"/>
            <a:ext cx="702720" cy="822326"/>
            <a:chOff x="4008959" y="4627256"/>
            <a:chExt cx="774069" cy="906304"/>
          </a:xfrm>
        </p:grpSpPr>
        <p:sp>
          <p:nvSpPr>
            <p:cNvPr id="16" name="Isosceles Triangle 48"/>
            <p:cNvSpPr/>
            <p:nvPr/>
          </p:nvSpPr>
          <p:spPr>
            <a:xfrm rot="2527200">
              <a:off x="4595856" y="4627256"/>
              <a:ext cx="187172" cy="195228"/>
            </a:xfrm>
            <a:custGeom>
              <a:avLst>
                <a:gd name="f0" fmla="val 10800"/>
              </a:avLst>
              <a:gdLst>
                <a:gd name="f1" fmla="val 10800000"/>
                <a:gd name="f2" fmla="val 5400000"/>
                <a:gd name="f3" fmla="val 180"/>
                <a:gd name="f4" fmla="val w"/>
                <a:gd name="f5" fmla="val h"/>
                <a:gd name="f6" fmla="val 0"/>
                <a:gd name="f7" fmla="val 21600"/>
                <a:gd name="f8" fmla="val -2147483647"/>
                <a:gd name="f9" fmla="val 2147483647"/>
                <a:gd name="f10" fmla="+- 0 0 0"/>
                <a:gd name="f11" fmla="*/ f4 1 21600"/>
                <a:gd name="f12" fmla="*/ f5 1 21600"/>
                <a:gd name="f13" fmla="pin 0 f0 21600"/>
                <a:gd name="f14" fmla="*/ f10 f1 1"/>
                <a:gd name="f15" fmla="val f13"/>
                <a:gd name="f16" fmla="*/ f13 1 2"/>
                <a:gd name="f17" fmla="*/ f13 f11 1"/>
                <a:gd name="f18" fmla="*/ f6 f12 1"/>
                <a:gd name="f19" fmla="*/ 18000 f12 1"/>
                <a:gd name="f20" fmla="*/ 10800 f12 1"/>
                <a:gd name="f21" fmla="*/ 10800 f11 1"/>
                <a:gd name="f22" fmla="*/ 0 f12 1"/>
                <a:gd name="f23" fmla="*/ f14 1 f3"/>
                <a:gd name="f24" fmla="*/ 0 f11 1"/>
                <a:gd name="f25" fmla="*/ 21600 f12 1"/>
                <a:gd name="f26" fmla="*/ 21600 f11 1"/>
                <a:gd name="f27" fmla="+- f16 10800 0"/>
                <a:gd name="f28" fmla="+- 21600 0 f15"/>
                <a:gd name="f29" fmla="*/ f16 f11 1"/>
                <a:gd name="f30" fmla="+- f23 0 f2"/>
                <a:gd name="f31" fmla="*/ f28 1 2"/>
                <a:gd name="f32" fmla="*/ f27 f11 1"/>
                <a:gd name="f33" fmla="+- 21600 0 f31"/>
                <a:gd name="f34" fmla="*/ f33 f11 1"/>
              </a:gdLst>
              <a:ahLst>
                <a:ahXY gdRefX="f0" minX="f6" maxX="f7">
                  <a:pos x="f17" y="f18"/>
                </a:ahXY>
              </a:ahLst>
              <a:cxnLst>
                <a:cxn ang="3cd4">
                  <a:pos x="hc" y="t"/>
                </a:cxn>
                <a:cxn ang="0">
                  <a:pos x="r" y="vc"/>
                </a:cxn>
                <a:cxn ang="cd4">
                  <a:pos x="hc" y="b"/>
                </a:cxn>
                <a:cxn ang="cd2">
                  <a:pos x="l" y="vc"/>
                </a:cxn>
                <a:cxn ang="f30">
                  <a:pos x="f21" y="f22"/>
                </a:cxn>
                <a:cxn ang="f30">
                  <a:pos x="f29" y="f20"/>
                </a:cxn>
                <a:cxn ang="f30">
                  <a:pos x="f24" y="f25"/>
                </a:cxn>
                <a:cxn ang="f30">
                  <a:pos x="f21" y="f25"/>
                </a:cxn>
                <a:cxn ang="f30">
                  <a:pos x="f26" y="f25"/>
                </a:cxn>
                <a:cxn ang="f30">
                  <a:pos x="f34" y="f20"/>
                </a:cxn>
              </a:cxnLst>
              <a:rect l="f29" t="f20" r="f32" b="f19"/>
              <a:pathLst>
                <a:path w="21600" h="21600">
                  <a:moveTo>
                    <a:pt x="f15" y="f6"/>
                  </a:moveTo>
                  <a:lnTo>
                    <a:pt x="f7" y="f7"/>
                  </a:lnTo>
                  <a:lnTo>
                    <a:pt x="f6" y="f7"/>
                  </a:lnTo>
                  <a:close/>
                </a:path>
              </a:pathLst>
            </a:custGeom>
            <a:noFill/>
            <a:ln w="19080">
              <a:solidFill>
                <a:srgbClr val="000000"/>
              </a:solidFill>
              <a:prstDash val="solid"/>
              <a:miter/>
              <a:tailEnd type="arrow"/>
            </a:ln>
          </p:spPr>
          <p:txBody>
            <a:bodyPr lIns="90000" tIns="46800" rIns="90000" bIns="46800"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17" name="Straight Connector 49"/>
            <p:cNvSpPr/>
            <p:nvPr/>
          </p:nvSpPr>
          <p:spPr>
            <a:xfrm flipV="1">
              <a:off x="4008959" y="4789153"/>
              <a:ext cx="598000" cy="744407"/>
            </a:xfrm>
            <a:prstGeom prst="line">
              <a:avLst/>
            </a:prstGeom>
            <a:noFill/>
            <a:ln w="19080">
              <a:solidFill>
                <a:srgbClr val="000000"/>
              </a:solidFill>
              <a:prstDash val="solid"/>
              <a:miter/>
            </a:ln>
          </p:spPr>
          <p:txBody>
            <a:bodyPr lIns="90000" tIns="46800" rIns="90000" bIns="46800"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grpSp>
      <p:grpSp>
        <p:nvGrpSpPr>
          <p:cNvPr id="4110" name="Group 17"/>
          <p:cNvGrpSpPr>
            <a:grpSpLocks/>
          </p:cNvGrpSpPr>
          <p:nvPr/>
        </p:nvGrpSpPr>
        <p:grpSpPr bwMode="auto">
          <a:xfrm>
            <a:off x="5408832" y="5241674"/>
            <a:ext cx="702720" cy="828086"/>
            <a:chOff x="5530710" y="4620863"/>
            <a:chExt cx="775410" cy="912697"/>
          </a:xfrm>
        </p:grpSpPr>
        <p:sp>
          <p:nvSpPr>
            <p:cNvPr id="19" name="Isosceles Triangle 54"/>
            <p:cNvSpPr/>
            <p:nvPr/>
          </p:nvSpPr>
          <p:spPr>
            <a:xfrm rot="19117200" flipH="1">
              <a:off x="5530710" y="4620863"/>
              <a:ext cx="185908" cy="203174"/>
            </a:xfrm>
            <a:custGeom>
              <a:avLst>
                <a:gd name="f0" fmla="val 10800"/>
              </a:avLst>
              <a:gdLst>
                <a:gd name="f1" fmla="val 10800000"/>
                <a:gd name="f2" fmla="val 5400000"/>
                <a:gd name="f3" fmla="val 180"/>
                <a:gd name="f4" fmla="val w"/>
                <a:gd name="f5" fmla="val h"/>
                <a:gd name="f6" fmla="val 0"/>
                <a:gd name="f7" fmla="val 21600"/>
                <a:gd name="f8" fmla="val -2147483647"/>
                <a:gd name="f9" fmla="val 2147483647"/>
                <a:gd name="f10" fmla="+- 0 0 0"/>
                <a:gd name="f11" fmla="*/ f4 1 21600"/>
                <a:gd name="f12" fmla="*/ f5 1 21600"/>
                <a:gd name="f13" fmla="pin 0 f0 21600"/>
                <a:gd name="f14" fmla="*/ f10 f1 1"/>
                <a:gd name="f15" fmla="val f13"/>
                <a:gd name="f16" fmla="*/ f13 1 2"/>
                <a:gd name="f17" fmla="*/ f13 f11 1"/>
                <a:gd name="f18" fmla="*/ f6 f12 1"/>
                <a:gd name="f19" fmla="*/ 18000 f12 1"/>
                <a:gd name="f20" fmla="*/ 10800 f12 1"/>
                <a:gd name="f21" fmla="*/ 10800 f11 1"/>
                <a:gd name="f22" fmla="*/ 0 f12 1"/>
                <a:gd name="f23" fmla="*/ f14 1 f3"/>
                <a:gd name="f24" fmla="*/ 0 f11 1"/>
                <a:gd name="f25" fmla="*/ 21600 f12 1"/>
                <a:gd name="f26" fmla="*/ 21600 f11 1"/>
                <a:gd name="f27" fmla="+- f16 10800 0"/>
                <a:gd name="f28" fmla="+- 21600 0 f15"/>
                <a:gd name="f29" fmla="*/ f16 f11 1"/>
                <a:gd name="f30" fmla="+- f23 0 f2"/>
                <a:gd name="f31" fmla="*/ f28 1 2"/>
                <a:gd name="f32" fmla="*/ f27 f11 1"/>
                <a:gd name="f33" fmla="+- 21600 0 f31"/>
                <a:gd name="f34" fmla="*/ f33 f11 1"/>
              </a:gdLst>
              <a:ahLst>
                <a:ahXY gdRefX="f0" minX="f6" maxX="f7">
                  <a:pos x="f17" y="f18"/>
                </a:ahXY>
              </a:ahLst>
              <a:cxnLst>
                <a:cxn ang="3cd4">
                  <a:pos x="hc" y="t"/>
                </a:cxn>
                <a:cxn ang="0">
                  <a:pos x="r" y="vc"/>
                </a:cxn>
                <a:cxn ang="cd4">
                  <a:pos x="hc" y="b"/>
                </a:cxn>
                <a:cxn ang="cd2">
                  <a:pos x="l" y="vc"/>
                </a:cxn>
                <a:cxn ang="f30">
                  <a:pos x="f21" y="f22"/>
                </a:cxn>
                <a:cxn ang="f30">
                  <a:pos x="f29" y="f20"/>
                </a:cxn>
                <a:cxn ang="f30">
                  <a:pos x="f24" y="f25"/>
                </a:cxn>
                <a:cxn ang="f30">
                  <a:pos x="f21" y="f25"/>
                </a:cxn>
                <a:cxn ang="f30">
                  <a:pos x="f26" y="f25"/>
                </a:cxn>
                <a:cxn ang="f30">
                  <a:pos x="f34" y="f20"/>
                </a:cxn>
              </a:cxnLst>
              <a:rect l="f29" t="f20" r="f32" b="f19"/>
              <a:pathLst>
                <a:path w="21600" h="21600">
                  <a:moveTo>
                    <a:pt x="f15" y="f6"/>
                  </a:moveTo>
                  <a:lnTo>
                    <a:pt x="f7" y="f7"/>
                  </a:lnTo>
                  <a:lnTo>
                    <a:pt x="f6" y="f7"/>
                  </a:lnTo>
                  <a:close/>
                </a:path>
              </a:pathLst>
            </a:custGeom>
            <a:noFill/>
            <a:ln w="19080">
              <a:solidFill>
                <a:srgbClr val="000000"/>
              </a:solidFill>
              <a:prstDash val="solid"/>
              <a:miter/>
            </a:ln>
          </p:spPr>
          <p:txBody>
            <a:bodyPr lIns="90000" tIns="46800" rIns="90000" bIns="46800"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20" name="Straight Connector 55"/>
            <p:cNvSpPr/>
            <p:nvPr/>
          </p:nvSpPr>
          <p:spPr>
            <a:xfrm flipH="1" flipV="1">
              <a:off x="5689605" y="4787529"/>
              <a:ext cx="616515" cy="746031"/>
            </a:xfrm>
            <a:prstGeom prst="line">
              <a:avLst/>
            </a:prstGeom>
            <a:noFill/>
            <a:ln w="19080">
              <a:solidFill>
                <a:srgbClr val="000000"/>
              </a:solidFill>
              <a:prstDash val="solid"/>
              <a:miter/>
            </a:ln>
          </p:spPr>
          <p:txBody>
            <a:bodyPr lIns="90000" tIns="46800" rIns="90000" bIns="46800"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grpSp>
      <p:sp>
        <p:nvSpPr>
          <p:cNvPr id="21" name="TextBox 20"/>
          <p:cNvSpPr txBox="1"/>
          <p:nvPr/>
        </p:nvSpPr>
        <p:spPr>
          <a:xfrm>
            <a:off x="1890912" y="2155429"/>
            <a:ext cx="1369754" cy="646053"/>
          </a:xfrm>
          <a:prstGeom prst="rect">
            <a:avLst/>
          </a:prstGeom>
          <a:noFill/>
          <a:ln>
            <a:noFill/>
            <a:tailEnd type="arrow"/>
          </a:ln>
        </p:spPr>
        <p:txBody>
          <a:bodyPr wrap="none" lIns="81639" tIns="40820" rIns="81639" bIns="4082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r>
              <a:rPr lang="en-US" dirty="0">
                <a:ea typeface="Droid Sans Fallback" pitchFamily="2"/>
              </a:rPr>
              <a:t>Built</a:t>
            </a:r>
          </a:p>
          <a:p>
            <a:pPr hangingPunct="0">
              <a:buNone/>
              <a:defRPr/>
            </a:pPr>
            <a:r>
              <a:rPr lang="en-US" dirty="0">
                <a:ea typeface="Droid Sans Fallback" pitchFamily="2"/>
              </a:rPr>
              <a:t>environment</a:t>
            </a:r>
          </a:p>
        </p:txBody>
      </p:sp>
      <p:sp>
        <p:nvSpPr>
          <p:cNvPr id="22" name="Rectangle 73"/>
          <p:cNvSpPr/>
          <p:nvPr/>
        </p:nvSpPr>
        <p:spPr>
          <a:xfrm>
            <a:off x="689952" y="3824565"/>
            <a:ext cx="1392480" cy="68551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19080">
            <a:solidFill>
              <a:srgbClr val="000000"/>
            </a:solidFill>
            <a:prstDash val="solid"/>
            <a:miter/>
            <a:tailEnd type="arrow"/>
          </a:ln>
        </p:spPr>
        <p:txBody>
          <a:bodyPr lIns="81639" tIns="42452" rIns="81639" bIns="42452"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23" name="TextBox 22"/>
          <p:cNvSpPr txBox="1"/>
          <p:nvPr/>
        </p:nvSpPr>
        <p:spPr>
          <a:xfrm>
            <a:off x="682752" y="3877850"/>
            <a:ext cx="1007732" cy="646053"/>
          </a:xfrm>
          <a:prstGeom prst="rect">
            <a:avLst/>
          </a:prstGeom>
          <a:noFill/>
          <a:ln>
            <a:noFill/>
            <a:tailEnd type="arrow"/>
          </a:ln>
        </p:spPr>
        <p:txBody>
          <a:bodyPr wrap="none" lIns="81639" tIns="40820" rIns="81639" bIns="4082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r>
              <a:rPr lang="en-US">
                <a:ea typeface="Droid Sans Fallback" pitchFamily="2"/>
              </a:rPr>
              <a:t>Public</a:t>
            </a:r>
          </a:p>
          <a:p>
            <a:pPr hangingPunct="0">
              <a:buNone/>
              <a:defRPr/>
            </a:pPr>
            <a:r>
              <a:rPr lang="en-US">
                <a:ea typeface="Droid Sans Fallback" pitchFamily="2"/>
              </a:rPr>
              <a:t>buildings</a:t>
            </a:r>
          </a:p>
        </p:txBody>
      </p:sp>
      <p:sp>
        <p:nvSpPr>
          <p:cNvPr id="24" name="Rectangle 73"/>
          <p:cNvSpPr/>
          <p:nvPr/>
        </p:nvSpPr>
        <p:spPr>
          <a:xfrm>
            <a:off x="2224993" y="3824565"/>
            <a:ext cx="1391040" cy="68551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19080">
            <a:solidFill>
              <a:srgbClr val="000000"/>
            </a:solidFill>
            <a:prstDash val="solid"/>
            <a:miter/>
            <a:tailEnd type="arrow"/>
          </a:ln>
        </p:spPr>
        <p:txBody>
          <a:bodyPr lIns="81639" tIns="42452" rIns="81639" bIns="42452"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25" name="TextBox 24"/>
          <p:cNvSpPr txBox="1"/>
          <p:nvPr/>
        </p:nvSpPr>
        <p:spPr>
          <a:xfrm>
            <a:off x="2216352" y="3877850"/>
            <a:ext cx="824477" cy="646053"/>
          </a:xfrm>
          <a:prstGeom prst="rect">
            <a:avLst/>
          </a:prstGeom>
          <a:noFill/>
          <a:ln>
            <a:noFill/>
            <a:tailEnd type="arrow"/>
          </a:ln>
        </p:spPr>
        <p:txBody>
          <a:bodyPr wrap="none" lIns="81639" tIns="40820" rIns="81639" bIns="4082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r>
              <a:rPr lang="en-US">
                <a:ea typeface="Droid Sans Fallback" pitchFamily="2"/>
              </a:rPr>
              <a:t>New</a:t>
            </a:r>
          </a:p>
          <a:p>
            <a:pPr hangingPunct="0">
              <a:buNone/>
              <a:defRPr/>
            </a:pPr>
            <a:r>
              <a:rPr lang="en-US">
                <a:ea typeface="Droid Sans Fallback" pitchFamily="2"/>
              </a:rPr>
              <a:t>houses</a:t>
            </a:r>
          </a:p>
        </p:txBody>
      </p:sp>
      <p:sp>
        <p:nvSpPr>
          <p:cNvPr id="26" name="Rectangle 73"/>
          <p:cNvSpPr/>
          <p:nvPr/>
        </p:nvSpPr>
        <p:spPr>
          <a:xfrm>
            <a:off x="6465792" y="1962449"/>
            <a:ext cx="1391040" cy="686953"/>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19080">
            <a:solidFill>
              <a:srgbClr val="000000"/>
            </a:solidFill>
            <a:prstDash val="solid"/>
            <a:miter/>
            <a:tailEnd type="arrow"/>
          </a:ln>
        </p:spPr>
        <p:txBody>
          <a:bodyPr lIns="81639" tIns="42452" rIns="81639" bIns="42452"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27" name="TextBox 26"/>
          <p:cNvSpPr txBox="1"/>
          <p:nvPr/>
        </p:nvSpPr>
        <p:spPr>
          <a:xfrm>
            <a:off x="6647232" y="2126626"/>
            <a:ext cx="945727" cy="364246"/>
          </a:xfrm>
          <a:prstGeom prst="rect">
            <a:avLst/>
          </a:prstGeom>
          <a:noFill/>
          <a:ln>
            <a:noFill/>
            <a:tailEnd type="arrow"/>
          </a:ln>
        </p:spPr>
        <p:txBody>
          <a:bodyPr wrap="none" lIns="81639" tIns="40820" rIns="81639" bIns="4082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r>
              <a:rPr lang="en-US">
                <a:ea typeface="Droid Sans Fallback" pitchFamily="2"/>
              </a:rPr>
              <a:t>Supplies</a:t>
            </a:r>
          </a:p>
        </p:txBody>
      </p:sp>
      <p:sp>
        <p:nvSpPr>
          <p:cNvPr id="28" name="TextBox 170"/>
          <p:cNvSpPr/>
          <p:nvPr/>
        </p:nvSpPr>
        <p:spPr>
          <a:xfrm>
            <a:off x="8769792" y="3775600"/>
            <a:ext cx="324275" cy="36754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tailEnd type="arrow"/>
          </a:ln>
        </p:spPr>
        <p:txBody>
          <a:bodyPr wrap="none" lIns="81639" tIns="42452" rIns="81639" bIns="42452"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defRPr/>
            </a:pPr>
            <a:r>
              <a:rPr lang="nl-NL" dirty="0">
                <a:ea typeface="Droid Sans Fallback" pitchFamily="2"/>
              </a:rPr>
              <a:t>…</a:t>
            </a:r>
          </a:p>
        </p:txBody>
      </p:sp>
      <p:grpSp>
        <p:nvGrpSpPr>
          <p:cNvPr id="4119" name="Group 137"/>
          <p:cNvGrpSpPr>
            <a:grpSpLocks/>
          </p:cNvGrpSpPr>
          <p:nvPr/>
        </p:nvGrpSpPr>
        <p:grpSpPr bwMode="auto">
          <a:xfrm>
            <a:off x="7197312" y="2659482"/>
            <a:ext cx="230400" cy="643748"/>
            <a:chOff x="7502400" y="1775160"/>
            <a:chExt cx="254160" cy="709200"/>
          </a:xfrm>
        </p:grpSpPr>
        <p:sp>
          <p:nvSpPr>
            <p:cNvPr id="30" name="Isosceles Triangle 190"/>
            <p:cNvSpPr/>
            <p:nvPr/>
          </p:nvSpPr>
          <p:spPr>
            <a:xfrm>
              <a:off x="7502400" y="1775160"/>
              <a:ext cx="254160" cy="295103"/>
            </a:xfrm>
            <a:custGeom>
              <a:avLst>
                <a:gd name="f0" fmla="val 10800"/>
              </a:avLst>
              <a:gdLst>
                <a:gd name="f1" fmla="val 10800000"/>
                <a:gd name="f2" fmla="val 5400000"/>
                <a:gd name="f3" fmla="val 180"/>
                <a:gd name="f4" fmla="val w"/>
                <a:gd name="f5" fmla="val h"/>
                <a:gd name="f6" fmla="val 0"/>
                <a:gd name="f7" fmla="val 21600"/>
                <a:gd name="f8" fmla="val -2147483647"/>
                <a:gd name="f9" fmla="val 2147483647"/>
                <a:gd name="f10" fmla="+- 0 0 0"/>
                <a:gd name="f11" fmla="*/ f4 1 21600"/>
                <a:gd name="f12" fmla="*/ f5 1 21600"/>
                <a:gd name="f13" fmla="pin 0 f0 21600"/>
                <a:gd name="f14" fmla="*/ f10 f1 1"/>
                <a:gd name="f15" fmla="val f13"/>
                <a:gd name="f16" fmla="*/ f13 1 2"/>
                <a:gd name="f17" fmla="*/ f13 f11 1"/>
                <a:gd name="f18" fmla="*/ f6 f12 1"/>
                <a:gd name="f19" fmla="*/ 18000 f12 1"/>
                <a:gd name="f20" fmla="*/ 10800 f12 1"/>
                <a:gd name="f21" fmla="*/ 10800 f11 1"/>
                <a:gd name="f22" fmla="*/ 0 f12 1"/>
                <a:gd name="f23" fmla="*/ f14 1 f3"/>
                <a:gd name="f24" fmla="*/ 0 f11 1"/>
                <a:gd name="f25" fmla="*/ 21600 f12 1"/>
                <a:gd name="f26" fmla="*/ 21600 f11 1"/>
                <a:gd name="f27" fmla="+- f16 10800 0"/>
                <a:gd name="f28" fmla="+- 21600 0 f15"/>
                <a:gd name="f29" fmla="*/ f16 f11 1"/>
                <a:gd name="f30" fmla="+- f23 0 f2"/>
                <a:gd name="f31" fmla="*/ f28 1 2"/>
                <a:gd name="f32" fmla="*/ f27 f11 1"/>
                <a:gd name="f33" fmla="+- 21600 0 f31"/>
                <a:gd name="f34" fmla="*/ f33 f11 1"/>
              </a:gdLst>
              <a:ahLst>
                <a:ahXY gdRefX="f0" minX="f6" maxX="f7">
                  <a:pos x="f17" y="f18"/>
                </a:ahXY>
              </a:ahLst>
              <a:cxnLst>
                <a:cxn ang="3cd4">
                  <a:pos x="hc" y="t"/>
                </a:cxn>
                <a:cxn ang="0">
                  <a:pos x="r" y="vc"/>
                </a:cxn>
                <a:cxn ang="cd4">
                  <a:pos x="hc" y="b"/>
                </a:cxn>
                <a:cxn ang="cd2">
                  <a:pos x="l" y="vc"/>
                </a:cxn>
                <a:cxn ang="f30">
                  <a:pos x="f21" y="f22"/>
                </a:cxn>
                <a:cxn ang="f30">
                  <a:pos x="f29" y="f20"/>
                </a:cxn>
                <a:cxn ang="f30">
                  <a:pos x="f24" y="f25"/>
                </a:cxn>
                <a:cxn ang="f30">
                  <a:pos x="f21" y="f25"/>
                </a:cxn>
                <a:cxn ang="f30">
                  <a:pos x="f26" y="f25"/>
                </a:cxn>
                <a:cxn ang="f30">
                  <a:pos x="f34" y="f20"/>
                </a:cxn>
              </a:cxnLst>
              <a:rect l="f29" t="f20" r="f32" b="f19"/>
              <a:pathLst>
                <a:path w="21600" h="21600">
                  <a:moveTo>
                    <a:pt x="f15" y="f6"/>
                  </a:moveTo>
                  <a:lnTo>
                    <a:pt x="f7" y="f7"/>
                  </a:lnTo>
                  <a:lnTo>
                    <a:pt x="f6" y="f7"/>
                  </a:lnTo>
                  <a:close/>
                </a:path>
              </a:pathLst>
            </a:custGeom>
            <a:noFill/>
            <a:ln w="19080">
              <a:solidFill>
                <a:srgbClr val="000000"/>
              </a:solidFill>
              <a:prstDash val="solid"/>
              <a:miter/>
            </a:ln>
          </p:spPr>
          <p:txBody>
            <a:bodyPr lIns="90000" tIns="46800" rIns="90000" bIns="46800"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31" name="Straight Connector 191"/>
            <p:cNvSpPr/>
            <p:nvPr/>
          </p:nvSpPr>
          <p:spPr>
            <a:xfrm flipV="1">
              <a:off x="7629480" y="2070263"/>
              <a:ext cx="0" cy="414097"/>
            </a:xfrm>
            <a:prstGeom prst="line">
              <a:avLst/>
            </a:prstGeom>
            <a:noFill/>
            <a:ln w="19080">
              <a:solidFill>
                <a:srgbClr val="000000"/>
              </a:solidFill>
              <a:prstDash val="solid"/>
              <a:miter/>
            </a:ln>
          </p:spPr>
          <p:txBody>
            <a:bodyPr lIns="90000" tIns="46800" rIns="90000" bIns="46800"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grpSp>
      <p:sp>
        <p:nvSpPr>
          <p:cNvPr id="32" name="Straight Connector 186"/>
          <p:cNvSpPr/>
          <p:nvPr/>
        </p:nvSpPr>
        <p:spPr>
          <a:xfrm>
            <a:off x="6367872" y="3303230"/>
            <a:ext cx="0" cy="393161"/>
          </a:xfrm>
          <a:prstGeom prst="line">
            <a:avLst/>
          </a:prstGeom>
          <a:noFill/>
          <a:ln w="19080">
            <a:solidFill>
              <a:srgbClr val="000000"/>
            </a:solidFill>
            <a:prstDash val="solid"/>
            <a:miter/>
            <a:tailEnd type="arrow"/>
          </a:ln>
        </p:spPr>
        <p:txBody>
          <a:bodyPr lIns="81639" tIns="42452" rIns="81639" bIns="42452"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33" name="Straight Connector 187"/>
          <p:cNvSpPr/>
          <p:nvPr/>
        </p:nvSpPr>
        <p:spPr>
          <a:xfrm>
            <a:off x="7695552" y="3303230"/>
            <a:ext cx="0" cy="393161"/>
          </a:xfrm>
          <a:prstGeom prst="line">
            <a:avLst/>
          </a:prstGeom>
          <a:noFill/>
          <a:ln w="19080">
            <a:solidFill>
              <a:srgbClr val="000000"/>
            </a:solidFill>
            <a:prstDash val="solid"/>
            <a:miter/>
            <a:tailEnd type="arrow"/>
          </a:ln>
        </p:spPr>
        <p:txBody>
          <a:bodyPr lIns="81639" tIns="42452" rIns="81639" bIns="42452"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34" name="Straight Connector 188"/>
          <p:cNvSpPr/>
          <p:nvPr/>
        </p:nvSpPr>
        <p:spPr>
          <a:xfrm>
            <a:off x="6367872" y="3303230"/>
            <a:ext cx="2551680" cy="0"/>
          </a:xfrm>
          <a:prstGeom prst="line">
            <a:avLst/>
          </a:prstGeom>
          <a:noFill/>
          <a:ln w="19080">
            <a:solidFill>
              <a:srgbClr val="000000"/>
            </a:solidFill>
            <a:prstDash val="solid"/>
            <a:miter/>
          </a:ln>
        </p:spPr>
        <p:txBody>
          <a:bodyPr lIns="81639" tIns="42452" rIns="81639" bIns="42452"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35" name="Straight Connector 189"/>
          <p:cNvSpPr/>
          <p:nvPr/>
        </p:nvSpPr>
        <p:spPr>
          <a:xfrm>
            <a:off x="8919552" y="3303230"/>
            <a:ext cx="0" cy="393161"/>
          </a:xfrm>
          <a:prstGeom prst="line">
            <a:avLst/>
          </a:prstGeom>
          <a:noFill/>
          <a:ln w="19080">
            <a:solidFill>
              <a:srgbClr val="000000"/>
            </a:solidFill>
            <a:prstDash val="solid"/>
            <a:miter/>
            <a:tailEnd type="arrow"/>
          </a:ln>
        </p:spPr>
        <p:txBody>
          <a:bodyPr lIns="81639" tIns="42452" rIns="81639" bIns="42452"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36" name="Rectangle 73"/>
          <p:cNvSpPr/>
          <p:nvPr/>
        </p:nvSpPr>
        <p:spPr>
          <a:xfrm>
            <a:off x="5947392" y="3705032"/>
            <a:ext cx="941760" cy="68551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19080">
            <a:solidFill>
              <a:srgbClr val="000000"/>
            </a:solidFill>
            <a:prstDash val="solid"/>
            <a:miter/>
            <a:tailEnd type="arrow"/>
          </a:ln>
        </p:spPr>
        <p:txBody>
          <a:bodyPr lIns="81639" tIns="42452" rIns="81639" bIns="42452"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37" name="TextBox 36"/>
          <p:cNvSpPr txBox="1"/>
          <p:nvPr/>
        </p:nvSpPr>
        <p:spPr>
          <a:xfrm>
            <a:off x="6102912" y="3756877"/>
            <a:ext cx="599350" cy="646053"/>
          </a:xfrm>
          <a:prstGeom prst="rect">
            <a:avLst/>
          </a:prstGeom>
          <a:noFill/>
          <a:ln>
            <a:noFill/>
            <a:tailEnd type="arrow"/>
          </a:ln>
        </p:spPr>
        <p:txBody>
          <a:bodyPr wrap="none" lIns="81639" tIns="40820" rIns="81639" bIns="4082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r>
              <a:rPr lang="en-US">
                <a:ea typeface="Droid Sans Fallback" pitchFamily="2"/>
              </a:rPr>
              <a:t>Roof</a:t>
            </a:r>
          </a:p>
          <a:p>
            <a:pPr hangingPunct="0">
              <a:buNone/>
              <a:defRPr/>
            </a:pPr>
            <a:r>
              <a:rPr lang="en-US">
                <a:ea typeface="Droid Sans Fallback" pitchFamily="2"/>
              </a:rPr>
              <a:t>area</a:t>
            </a:r>
          </a:p>
        </p:txBody>
      </p:sp>
      <p:sp>
        <p:nvSpPr>
          <p:cNvPr id="38" name="Rectangle 73"/>
          <p:cNvSpPr/>
          <p:nvPr/>
        </p:nvSpPr>
        <p:spPr>
          <a:xfrm>
            <a:off x="7286592" y="3705032"/>
            <a:ext cx="1065600" cy="68551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19080">
            <a:solidFill>
              <a:srgbClr val="000000"/>
            </a:solidFill>
            <a:prstDash val="solid"/>
            <a:miter/>
            <a:tailEnd type="arrow"/>
          </a:ln>
        </p:spPr>
        <p:txBody>
          <a:bodyPr lIns="81639" tIns="42452" rIns="81639" bIns="42452"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39" name="TextBox 38"/>
          <p:cNvSpPr txBox="1"/>
          <p:nvPr/>
        </p:nvSpPr>
        <p:spPr>
          <a:xfrm>
            <a:off x="7277952" y="3756877"/>
            <a:ext cx="1021069" cy="646053"/>
          </a:xfrm>
          <a:prstGeom prst="rect">
            <a:avLst/>
          </a:prstGeom>
          <a:noFill/>
          <a:ln>
            <a:noFill/>
            <a:tailEnd type="arrow"/>
          </a:ln>
        </p:spPr>
        <p:txBody>
          <a:bodyPr wrap="none" lIns="81639" tIns="40820" rIns="81639" bIns="4082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r>
              <a:rPr lang="en-US">
                <a:ea typeface="Droid Sans Fallback" pitchFamily="2"/>
              </a:rPr>
              <a:t>Methane</a:t>
            </a:r>
          </a:p>
          <a:p>
            <a:pPr hangingPunct="0">
              <a:buNone/>
              <a:defRPr/>
            </a:pPr>
            <a:r>
              <a:rPr lang="en-US">
                <a:ea typeface="Droid Sans Fallback" pitchFamily="2"/>
              </a:rPr>
              <a:t>gas</a:t>
            </a:r>
          </a:p>
        </p:txBody>
      </p:sp>
      <p:sp>
        <p:nvSpPr>
          <p:cNvPr id="40" name="TextBox 124"/>
          <p:cNvSpPr/>
          <p:nvPr/>
        </p:nvSpPr>
        <p:spPr>
          <a:xfrm rot="18151102">
            <a:off x="5067971" y="3053212"/>
            <a:ext cx="1267803" cy="36754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tailEnd type="arrow"/>
          </a:ln>
        </p:spPr>
        <p:txBody>
          <a:bodyPr wrap="none" lIns="81639" tIns="42452" rIns="81639" bIns="42452"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defRPr/>
            </a:pPr>
            <a:r>
              <a:rPr lang="nl-NL" dirty="0">
                <a:ea typeface="Droid Sans Fallback" pitchFamily="2"/>
              </a:rPr>
              <a:t>hasSupplies</a:t>
            </a:r>
          </a:p>
        </p:txBody>
      </p:sp>
      <p:sp>
        <p:nvSpPr>
          <p:cNvPr id="41" name="Rectangle 73"/>
          <p:cNvSpPr/>
          <p:nvPr/>
        </p:nvSpPr>
        <p:spPr>
          <a:xfrm>
            <a:off x="3400032" y="6069760"/>
            <a:ext cx="1219680" cy="68551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19080">
            <a:solidFill>
              <a:srgbClr val="000000"/>
            </a:solidFill>
            <a:prstDash val="solid"/>
            <a:miter/>
            <a:tailEnd type="arrow"/>
          </a:ln>
        </p:spPr>
        <p:txBody>
          <a:bodyPr lIns="81639" tIns="42452" rIns="81639" bIns="42452"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42" name="TextBox 41"/>
          <p:cNvSpPr txBox="1"/>
          <p:nvPr/>
        </p:nvSpPr>
        <p:spPr>
          <a:xfrm>
            <a:off x="3620353" y="6121606"/>
            <a:ext cx="789082" cy="646053"/>
          </a:xfrm>
          <a:prstGeom prst="rect">
            <a:avLst/>
          </a:prstGeom>
          <a:noFill/>
          <a:ln>
            <a:noFill/>
            <a:tailEnd type="arrow"/>
          </a:ln>
        </p:spPr>
        <p:txBody>
          <a:bodyPr wrap="none" lIns="81639" tIns="40820" rIns="81639" bIns="4082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r>
              <a:rPr lang="en-US">
                <a:ea typeface="Droid Sans Fallback" pitchFamily="2"/>
              </a:rPr>
              <a:t>Hybrid</a:t>
            </a:r>
          </a:p>
          <a:p>
            <a:pPr hangingPunct="0">
              <a:buNone/>
              <a:defRPr/>
            </a:pPr>
            <a:r>
              <a:rPr lang="en-US">
                <a:ea typeface="Droid Sans Fallback" pitchFamily="2"/>
              </a:rPr>
              <a:t>heater</a:t>
            </a:r>
          </a:p>
        </p:txBody>
      </p:sp>
      <p:sp>
        <p:nvSpPr>
          <p:cNvPr id="43" name="Rectangle 73"/>
          <p:cNvSpPr/>
          <p:nvPr/>
        </p:nvSpPr>
        <p:spPr>
          <a:xfrm>
            <a:off x="5719872" y="6069760"/>
            <a:ext cx="889920" cy="68551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19080">
            <a:solidFill>
              <a:srgbClr val="000000"/>
            </a:solidFill>
            <a:prstDash val="solid"/>
            <a:miter/>
            <a:tailEnd type="arrow"/>
          </a:ln>
        </p:spPr>
        <p:txBody>
          <a:bodyPr lIns="81639" tIns="42452" rIns="81639" bIns="42452"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44" name="TextBox 43"/>
          <p:cNvSpPr txBox="1"/>
          <p:nvPr/>
        </p:nvSpPr>
        <p:spPr>
          <a:xfrm>
            <a:off x="5776033" y="6121606"/>
            <a:ext cx="709060" cy="646053"/>
          </a:xfrm>
          <a:prstGeom prst="rect">
            <a:avLst/>
          </a:prstGeom>
          <a:noFill/>
          <a:ln>
            <a:noFill/>
            <a:tailEnd type="arrow"/>
          </a:ln>
        </p:spPr>
        <p:txBody>
          <a:bodyPr wrap="none" lIns="81639" tIns="40820" rIns="81639" bIns="4082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r>
              <a:rPr lang="en-US">
                <a:ea typeface="Droid Sans Fallback" pitchFamily="2"/>
              </a:rPr>
              <a:t>Solar</a:t>
            </a:r>
          </a:p>
          <a:p>
            <a:pPr hangingPunct="0">
              <a:buNone/>
              <a:defRPr/>
            </a:pPr>
            <a:r>
              <a:rPr lang="en-US">
                <a:ea typeface="Droid Sans Fallback" pitchFamily="2"/>
              </a:rPr>
              <a:t>boiler</a:t>
            </a:r>
          </a:p>
        </p:txBody>
      </p:sp>
      <p:sp>
        <p:nvSpPr>
          <p:cNvPr id="45" name="Straight Connector 44"/>
          <p:cNvSpPr/>
          <p:nvPr/>
        </p:nvSpPr>
        <p:spPr>
          <a:xfrm flipV="1">
            <a:off x="5119392" y="2377212"/>
            <a:ext cx="1346400" cy="2425215"/>
          </a:xfrm>
          <a:prstGeom prst="line">
            <a:avLst/>
          </a:prstGeom>
          <a:noFill/>
          <a:ln w="9000">
            <a:solidFill>
              <a:srgbClr val="000000"/>
            </a:solidFill>
            <a:prstDash val="solid"/>
            <a:tailEnd type="arrow"/>
          </a:ln>
        </p:spPr>
        <p:txBody>
          <a:bodyPr wrap="none" lIns="81639" tIns="40820" rIns="81639" bIns="40820"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46" name="Straight Connector 45"/>
          <p:cNvSpPr/>
          <p:nvPr/>
        </p:nvSpPr>
        <p:spPr>
          <a:xfrm>
            <a:off x="3299233" y="2459301"/>
            <a:ext cx="1654560" cy="2343126"/>
          </a:xfrm>
          <a:prstGeom prst="line">
            <a:avLst/>
          </a:prstGeom>
          <a:noFill/>
          <a:ln w="9000">
            <a:solidFill>
              <a:srgbClr val="000000"/>
            </a:solidFill>
            <a:prstDash val="solid"/>
            <a:tailEnd type="arrow"/>
          </a:ln>
        </p:spPr>
        <p:txBody>
          <a:bodyPr wrap="none" lIns="81639" tIns="40820" rIns="81639" bIns="40820" anchor="ctr"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a:pPr>
            <a:endParaRPr lang="en-US">
              <a:ea typeface="Droid Sans Fallback" pitchFamily="2"/>
            </a:endParaRPr>
          </a:p>
        </p:txBody>
      </p:sp>
      <p:sp>
        <p:nvSpPr>
          <p:cNvPr id="5" name="Text Placeholder 4"/>
          <p:cNvSpPr>
            <a:spLocks noGrp="1"/>
          </p:cNvSpPr>
          <p:nvPr>
            <p:ph type="body" idx="1"/>
          </p:nvPr>
        </p:nvSpPr>
        <p:spPr/>
        <p:txBody>
          <a:bodyPr/>
          <a:lstStyle/>
          <a:p>
            <a:r>
              <a:rPr lang="nl-NL" sz="3000" dirty="0" smtClean="0"/>
              <a:t>WP6 - </a:t>
            </a:r>
            <a:r>
              <a:rPr lang="nl-NL" sz="3000" dirty="0">
                <a:ea typeface="Droid Sans Fallback" pitchFamily="2"/>
              </a:rPr>
              <a:t>Which concepts are included and how are they related</a:t>
            </a:r>
            <a:r>
              <a:rPr lang="nl-NL" sz="3000" dirty="0" smtClean="0">
                <a:ea typeface="Droid Sans Fallback" pitchFamily="2"/>
              </a:rPr>
              <a:t>?</a:t>
            </a:r>
            <a:endParaRPr lang="nl-NL" sz="3000" dirty="0">
              <a:ea typeface="Droid Sans Fallback" pitchFamily="2"/>
            </a:endParaRPr>
          </a:p>
        </p:txBody>
      </p:sp>
    </p:spTree>
    <p:extLst>
      <p:ext uri="{BB962C8B-B14F-4D97-AF65-F5344CB8AC3E}">
        <p14:creationId xmlns:p14="http://schemas.microsoft.com/office/powerpoint/2010/main" val="19742700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37681" y="1919235"/>
            <a:ext cx="6988239" cy="493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arrow" w="med" len="med"/>
              </a14:hiddenLine>
            </a:ext>
          </a:extLst>
        </p:spPr>
      </p:pic>
      <p:sp>
        <p:nvSpPr>
          <p:cNvPr id="3" name="Text Placeholder 2"/>
          <p:cNvSpPr>
            <a:spLocks noGrp="1"/>
          </p:cNvSpPr>
          <p:nvPr>
            <p:ph type="body" idx="1"/>
          </p:nvPr>
        </p:nvSpPr>
        <p:spPr/>
        <p:txBody>
          <a:bodyPr/>
          <a:lstStyle/>
          <a:p>
            <a:r>
              <a:rPr lang="nl-NL" dirty="0" smtClean="0"/>
              <a:t>WP6 - </a:t>
            </a:r>
            <a:r>
              <a:rPr lang="nl-NL" sz="4800" dirty="0">
                <a:ea typeface="Droid Sans Fallback" pitchFamily="2"/>
              </a:rPr>
              <a:t>How are results calculated (1</a:t>
            </a:r>
            <a:r>
              <a:rPr lang="nl-NL" sz="4800" dirty="0" smtClean="0">
                <a:ea typeface="Droid Sans Fallback" pitchFamily="2"/>
              </a:rPr>
              <a:t>)?</a:t>
            </a:r>
            <a:endParaRPr lang="nl-NL" sz="4800" dirty="0">
              <a:ea typeface="Droid Sans Fallback" pitchFamily="2"/>
            </a:endParaRPr>
          </a:p>
        </p:txBody>
      </p:sp>
      <p:sp>
        <p:nvSpPr>
          <p:cNvPr id="4" name="Content Placeholder 3"/>
          <p:cNvSpPr>
            <a:spLocks noGrp="1"/>
          </p:cNvSpPr>
          <p:nvPr>
            <p:ph sz="half" idx="4294967295"/>
          </p:nvPr>
        </p:nvSpPr>
        <p:spPr>
          <a:xfrm>
            <a:off x="1174566" y="1498800"/>
            <a:ext cx="7737315" cy="5211157"/>
          </a:xfrm>
          <a:prstGeom prst="rect">
            <a:avLst/>
          </a:prstGeom>
        </p:spPr>
        <p:txBody>
          <a:bodyPr/>
          <a:lstStyle/>
          <a:p>
            <a:r>
              <a:rPr lang="nl-NL" sz="2400" dirty="0">
                <a:ea typeface="Droid Sans Fallback" pitchFamily="2"/>
              </a:rPr>
              <a:t>Automatic analyis of workflow in spreadsheets</a:t>
            </a:r>
          </a:p>
          <a:p>
            <a:endParaRPr lang="nl-NL" dirty="0"/>
          </a:p>
        </p:txBody>
      </p:sp>
    </p:spTree>
    <p:extLst>
      <p:ext uri="{BB962C8B-B14F-4D97-AF65-F5344CB8AC3E}">
        <p14:creationId xmlns:p14="http://schemas.microsoft.com/office/powerpoint/2010/main" val="12499423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6200" y="1461774"/>
            <a:ext cx="7350472" cy="539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arrow" w="med" len="med"/>
              </a14:hiddenLine>
            </a:ext>
          </a:extLst>
        </p:spPr>
      </p:pic>
      <p:sp>
        <p:nvSpPr>
          <p:cNvPr id="2" name="Text Placeholder 1"/>
          <p:cNvSpPr>
            <a:spLocks noGrp="1"/>
          </p:cNvSpPr>
          <p:nvPr>
            <p:ph type="body" idx="1"/>
          </p:nvPr>
        </p:nvSpPr>
        <p:spPr/>
        <p:txBody>
          <a:bodyPr/>
          <a:lstStyle/>
          <a:p>
            <a:r>
              <a:rPr lang="nl-NL" dirty="0" smtClean="0"/>
              <a:t>WP6 - </a:t>
            </a:r>
            <a:r>
              <a:rPr lang="nl-NL" sz="4800" dirty="0">
                <a:ea typeface="Droid Sans Fallback" pitchFamily="2"/>
              </a:rPr>
              <a:t>How are results calculated (2</a:t>
            </a:r>
            <a:r>
              <a:rPr lang="nl-NL" sz="4800" dirty="0" smtClean="0">
                <a:ea typeface="Droid Sans Fallback" pitchFamily="2"/>
              </a:rPr>
              <a:t>)?</a:t>
            </a:r>
            <a:endParaRPr lang="nl-NL" sz="4800" dirty="0">
              <a:ea typeface="Droid Sans Fallback" pitchFamily="2"/>
            </a:endParaRPr>
          </a:p>
        </p:txBody>
      </p:sp>
      <p:sp>
        <p:nvSpPr>
          <p:cNvPr id="3" name="Content Placeholder 2"/>
          <p:cNvSpPr>
            <a:spLocks noGrp="1"/>
          </p:cNvSpPr>
          <p:nvPr>
            <p:ph sz="half" idx="4294967295"/>
          </p:nvPr>
        </p:nvSpPr>
        <p:spPr>
          <a:xfrm>
            <a:off x="1174566" y="1498800"/>
            <a:ext cx="7737315" cy="5211157"/>
          </a:xfrm>
          <a:prstGeom prst="rect">
            <a:avLst/>
          </a:prstGeom>
        </p:spPr>
        <p:txBody>
          <a:bodyPr/>
          <a:lstStyle/>
          <a:p>
            <a:r>
              <a:rPr lang="nl-NL" sz="2400" dirty="0">
                <a:ea typeface="Droid Sans Fallback" pitchFamily="2"/>
              </a:rPr>
              <a:t>Manual reconstruction of workflow in spreadsheets</a:t>
            </a:r>
          </a:p>
          <a:p>
            <a:pPr marL="0" indent="0">
              <a:buNone/>
            </a:pPr>
            <a:endParaRPr lang="nl-NL" dirty="0"/>
          </a:p>
        </p:txBody>
      </p:sp>
    </p:spTree>
    <p:extLst>
      <p:ext uri="{BB962C8B-B14F-4D97-AF65-F5344CB8AC3E}">
        <p14:creationId xmlns:p14="http://schemas.microsoft.com/office/powerpoint/2010/main" val="2934114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nl-NL" dirty="0" smtClean="0"/>
              <a:t>WP6 – E-HUMANITIES APPLICATIONS</a:t>
            </a:r>
            <a:endParaRPr lang="nl-NL" dirty="0"/>
          </a:p>
        </p:txBody>
      </p:sp>
      <p:sp>
        <p:nvSpPr>
          <p:cNvPr id="3" name="Text Placeholder 2"/>
          <p:cNvSpPr>
            <a:spLocks noGrp="1"/>
          </p:cNvSpPr>
          <p:nvPr>
            <p:ph type="body" sz="quarter" idx="10"/>
          </p:nvPr>
        </p:nvSpPr>
        <p:spPr/>
        <p:txBody>
          <a:bodyPr/>
          <a:lstStyle/>
          <a:p>
            <a:r>
              <a:rPr lang="en-US" dirty="0"/>
              <a:t>We could do the same for the CEDAR spreadsheets as we are planning to do for our energy use </a:t>
            </a:r>
            <a:r>
              <a:rPr lang="en-US" dirty="0" smtClean="0"/>
              <a:t>case:</a:t>
            </a:r>
          </a:p>
          <a:p>
            <a:pPr lvl="1"/>
            <a:r>
              <a:rPr lang="en-US" dirty="0" smtClean="0"/>
              <a:t>Semi-automatically </a:t>
            </a:r>
            <a:r>
              <a:rPr lang="en-US" dirty="0"/>
              <a:t>recognizing concepts and relations from within the CEDAR spreadsheets and relating them in an </a:t>
            </a:r>
            <a:r>
              <a:rPr lang="en-US" dirty="0" smtClean="0"/>
              <a:t>ontology</a:t>
            </a:r>
          </a:p>
          <a:p>
            <a:pPr lvl="1"/>
            <a:r>
              <a:rPr lang="en-US" dirty="0" smtClean="0"/>
              <a:t>There </a:t>
            </a:r>
            <a:r>
              <a:rPr lang="en-US" dirty="0"/>
              <a:t>are many publications describing the census data. These could be linked to the spreadsheets through the constructed ontology.</a:t>
            </a:r>
            <a:br>
              <a:rPr lang="en-US" dirty="0"/>
            </a:br>
            <a:endParaRPr lang="nl-NL" dirty="0"/>
          </a:p>
        </p:txBody>
      </p:sp>
    </p:spTree>
    <p:extLst>
      <p:ext uri="{BB962C8B-B14F-4D97-AF65-F5344CB8AC3E}">
        <p14:creationId xmlns:p14="http://schemas.microsoft.com/office/powerpoint/2010/main" val="6493014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nl-NL" dirty="0" smtClean="0"/>
              <a:t>WP3 - RANKING</a:t>
            </a:r>
            <a:endParaRPr lang="nl-NL" dirty="0"/>
          </a:p>
        </p:txBody>
      </p:sp>
      <p:sp>
        <p:nvSpPr>
          <p:cNvPr id="4" name="Text Placeholder 3"/>
          <p:cNvSpPr>
            <a:spLocks noGrp="1"/>
          </p:cNvSpPr>
          <p:nvPr>
            <p:ph type="body" sz="quarter" idx="10"/>
          </p:nvPr>
        </p:nvSpPr>
        <p:spPr/>
        <p:txBody>
          <a:bodyPr/>
          <a:lstStyle/>
          <a:p>
            <a:r>
              <a:rPr lang="en-US" dirty="0"/>
              <a:t>Main topic: Ranking Linked Data</a:t>
            </a:r>
          </a:p>
          <a:p>
            <a:r>
              <a:rPr lang="en-US" dirty="0" smtClean="0"/>
              <a:t>Ranking is used for </a:t>
            </a:r>
            <a:r>
              <a:rPr lang="en-US" dirty="0"/>
              <a:t>linked data replication</a:t>
            </a:r>
          </a:p>
          <a:p>
            <a:pPr lvl="1"/>
            <a:r>
              <a:rPr lang="en-US" dirty="0"/>
              <a:t>How do you know the original dataset changed?</a:t>
            </a:r>
          </a:p>
          <a:p>
            <a:pPr lvl="1"/>
            <a:r>
              <a:rPr lang="en-US" dirty="0"/>
              <a:t>What are good measure for selecting a partial replica?</a:t>
            </a:r>
          </a:p>
          <a:p>
            <a:pPr lvl="1"/>
            <a:r>
              <a:rPr lang="en-US" dirty="0"/>
              <a:t>What is the optimal unit of change?</a:t>
            </a:r>
          </a:p>
          <a:p>
            <a:endParaRPr lang="nl-NL" dirty="0"/>
          </a:p>
        </p:txBody>
      </p:sp>
    </p:spTree>
    <p:extLst>
      <p:ext uri="{BB962C8B-B14F-4D97-AF65-F5344CB8AC3E}">
        <p14:creationId xmlns:p14="http://schemas.microsoft.com/office/powerpoint/2010/main" val="4745057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nl-NL" dirty="0" smtClean="0"/>
              <a:t>WP3 – Current Work</a:t>
            </a:r>
            <a:endParaRPr lang="nl-NL" dirty="0"/>
          </a:p>
        </p:txBody>
      </p:sp>
      <p:sp>
        <p:nvSpPr>
          <p:cNvPr id="5" name="Content Placeholder 4"/>
          <p:cNvSpPr>
            <a:spLocks noGrp="1"/>
          </p:cNvSpPr>
          <p:nvPr>
            <p:ph sz="half" idx="4294967295"/>
          </p:nvPr>
        </p:nvSpPr>
        <p:spPr>
          <a:xfrm>
            <a:off x="1174566" y="1498800"/>
            <a:ext cx="7737315" cy="5211157"/>
          </a:xfrm>
          <a:prstGeom prst="rect">
            <a:avLst/>
          </a:prstGeom>
        </p:spPr>
        <p:txBody>
          <a:bodyPr>
            <a:normAutofit/>
          </a:bodyPr>
          <a:lstStyle/>
          <a:p>
            <a:r>
              <a:rPr lang="en-US" dirty="0" err="1" smtClean="0"/>
              <a:t>Subgraph</a:t>
            </a:r>
            <a:r>
              <a:rPr lang="en-US" dirty="0" smtClean="0"/>
              <a:t> selection for large-scale (~750 million triples) graphs</a:t>
            </a:r>
          </a:p>
          <a:p>
            <a:r>
              <a:rPr lang="en-US" dirty="0" smtClean="0"/>
              <a:t>Use of big-data solutions (pig, </a:t>
            </a:r>
            <a:r>
              <a:rPr lang="en-US" dirty="0" err="1" smtClean="0"/>
              <a:t>hadoop</a:t>
            </a:r>
            <a:r>
              <a:rPr lang="en-US" dirty="0" smtClean="0"/>
              <a:t>)</a:t>
            </a:r>
          </a:p>
          <a:p>
            <a:r>
              <a:rPr lang="en-US" dirty="0" smtClean="0"/>
              <a:t>How can we induce relevant </a:t>
            </a:r>
            <a:r>
              <a:rPr lang="en-US" dirty="0" err="1" smtClean="0"/>
              <a:t>subgraphs</a:t>
            </a:r>
            <a:r>
              <a:rPr lang="en-US" dirty="0" smtClean="0"/>
              <a:t> using rankings in our graph (i.e. using generic graph properties)</a:t>
            </a:r>
          </a:p>
        </p:txBody>
      </p:sp>
    </p:spTree>
    <p:extLst>
      <p:ext uri="{BB962C8B-B14F-4D97-AF65-F5344CB8AC3E}">
        <p14:creationId xmlns:p14="http://schemas.microsoft.com/office/powerpoint/2010/main" val="30067959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nl-NL" dirty="0" smtClean="0"/>
              <a:t>WP3 - </a:t>
            </a:r>
            <a:r>
              <a:rPr lang="en-US" dirty="0"/>
              <a:t>E-Humanities Applications</a:t>
            </a:r>
            <a:endParaRPr lang="nl-NL" dirty="0"/>
          </a:p>
        </p:txBody>
      </p:sp>
      <p:sp>
        <p:nvSpPr>
          <p:cNvPr id="5" name="Content Placeholder 4"/>
          <p:cNvSpPr>
            <a:spLocks noGrp="1"/>
          </p:cNvSpPr>
          <p:nvPr>
            <p:ph sz="half" idx="4294967295"/>
          </p:nvPr>
        </p:nvSpPr>
        <p:spPr>
          <a:xfrm>
            <a:off x="1174566" y="1498800"/>
            <a:ext cx="7737315" cy="5211157"/>
          </a:xfrm>
          <a:prstGeom prst="rect">
            <a:avLst/>
          </a:prstGeom>
        </p:spPr>
        <p:txBody>
          <a:bodyPr/>
          <a:lstStyle/>
          <a:p>
            <a:r>
              <a:rPr lang="en-US" dirty="0" smtClean="0"/>
              <a:t>Replication for annotation purposes</a:t>
            </a:r>
          </a:p>
          <a:p>
            <a:pPr lvl="1"/>
            <a:r>
              <a:rPr lang="en-US" dirty="0" smtClean="0"/>
              <a:t>Selecting a </a:t>
            </a:r>
            <a:r>
              <a:rPr lang="en-US" dirty="0" err="1" smtClean="0"/>
              <a:t>subgraph</a:t>
            </a:r>
            <a:r>
              <a:rPr lang="en-US" dirty="0" smtClean="0"/>
              <a:t> to add annotations to Such a </a:t>
            </a:r>
            <a:r>
              <a:rPr lang="en-US" dirty="0" err="1" smtClean="0"/>
              <a:t>subgraph</a:t>
            </a:r>
            <a:r>
              <a:rPr lang="en-US" dirty="0" smtClean="0"/>
              <a:t> would be similar to a DB ‘view’</a:t>
            </a:r>
          </a:p>
          <a:p>
            <a:pPr lvl="1"/>
            <a:r>
              <a:rPr lang="en-US" dirty="0" smtClean="0"/>
              <a:t>Keeping the </a:t>
            </a:r>
            <a:r>
              <a:rPr lang="en-US" dirty="0" err="1" smtClean="0"/>
              <a:t>subgraph</a:t>
            </a:r>
            <a:r>
              <a:rPr lang="en-US" dirty="0" smtClean="0"/>
              <a:t> consistent with other annotations or changes in the original dataset</a:t>
            </a:r>
          </a:p>
          <a:p>
            <a:pPr lvl="1"/>
            <a:r>
              <a:rPr lang="en-US" dirty="0" smtClean="0"/>
              <a:t>Merging the annotations back to the original graph</a:t>
            </a:r>
            <a:endParaRPr lang="en-US" dirty="0"/>
          </a:p>
        </p:txBody>
      </p:sp>
    </p:spTree>
    <p:extLst>
      <p:ext uri="{BB962C8B-B14F-4D97-AF65-F5344CB8AC3E}">
        <p14:creationId xmlns:p14="http://schemas.microsoft.com/office/powerpoint/2010/main" val="16502745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nl-NL" dirty="0" smtClean="0"/>
              <a:t>WP2 – InTEGRATION PLATFORM &amp; ML modules</a:t>
            </a:r>
            <a:endParaRPr lang="nl-NL" dirty="0"/>
          </a:p>
        </p:txBody>
      </p:sp>
      <p:sp>
        <p:nvSpPr>
          <p:cNvPr id="3" name="Text Placeholder 2"/>
          <p:cNvSpPr>
            <a:spLocks noGrp="1"/>
          </p:cNvSpPr>
          <p:nvPr>
            <p:ph type="body" sz="quarter" idx="10"/>
          </p:nvPr>
        </p:nvSpPr>
        <p:spPr/>
        <p:txBody>
          <a:bodyPr/>
          <a:lstStyle/>
          <a:p>
            <a:r>
              <a:rPr lang="nl-NL" dirty="0" smtClean="0"/>
              <a:t>Provide the necessary plumbing to connect the different modules of the WPs</a:t>
            </a:r>
          </a:p>
          <a:p>
            <a:endParaRPr lang="nl-NL" dirty="0"/>
          </a:p>
          <a:p>
            <a:r>
              <a:rPr lang="nl-NL" dirty="0" smtClean="0"/>
              <a:t>Machine learning modules for data enrichment</a:t>
            </a:r>
          </a:p>
          <a:p>
            <a:pPr lvl="1"/>
            <a:r>
              <a:rPr lang="nl-NL" dirty="0" smtClean="0"/>
              <a:t>Learn from RDF to enrich RDF</a:t>
            </a:r>
            <a:endParaRPr lang="nl-NL" dirty="0"/>
          </a:p>
        </p:txBody>
      </p:sp>
    </p:spTree>
    <p:extLst>
      <p:ext uri="{BB962C8B-B14F-4D97-AF65-F5344CB8AC3E}">
        <p14:creationId xmlns:p14="http://schemas.microsoft.com/office/powerpoint/2010/main" val="397213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nl-NL" dirty="0" smtClean="0"/>
              <a:t>WP2 – LEARNING FROM GRaphs</a:t>
            </a:r>
            <a:endParaRPr lang="nl-NL" dirty="0"/>
          </a:p>
        </p:txBody>
      </p:sp>
      <p:sp>
        <p:nvSpPr>
          <p:cNvPr id="3" name="Text Placeholder 2"/>
          <p:cNvSpPr>
            <a:spLocks noGrp="1"/>
          </p:cNvSpPr>
          <p:nvPr>
            <p:ph type="body" sz="quarter" idx="10"/>
          </p:nvPr>
        </p:nvSpPr>
        <p:spPr/>
        <p:txBody>
          <a:bodyPr/>
          <a:lstStyle/>
          <a:p>
            <a:r>
              <a:rPr lang="nl-NL" dirty="0" smtClean="0"/>
              <a:t>Predict property Y for nodes of class X in an RDF graph Z</a:t>
            </a:r>
          </a:p>
          <a:p>
            <a:r>
              <a:rPr lang="nl-NL" dirty="0" smtClean="0"/>
              <a:t>How?</a:t>
            </a:r>
          </a:p>
          <a:p>
            <a:pPr lvl="1"/>
            <a:r>
              <a:rPr lang="nl-NL" dirty="0" smtClean="0"/>
              <a:t>Extract subgraphs, compute kernel, train classifier</a:t>
            </a:r>
          </a:p>
          <a:p>
            <a:pPr lvl="1"/>
            <a:r>
              <a:rPr lang="nl-NL" dirty="0"/>
              <a:t>Using Graph kernels + Support Vector </a:t>
            </a:r>
            <a:r>
              <a:rPr lang="nl-NL" dirty="0" smtClean="0"/>
              <a:t>Machines</a:t>
            </a:r>
            <a:endParaRPr lang="nl-NL" dirty="0"/>
          </a:p>
        </p:txBody>
      </p:sp>
      <p:sp>
        <p:nvSpPr>
          <p:cNvPr id="4" name="Oval 3"/>
          <p:cNvSpPr/>
          <p:nvPr/>
        </p:nvSpPr>
        <p:spPr>
          <a:xfrm>
            <a:off x="4820633" y="5271548"/>
            <a:ext cx="1234189" cy="3773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smtClean="0"/>
              <a:t>person22</a:t>
            </a:r>
            <a:endParaRPr lang="nl-NL" sz="1400" dirty="0"/>
          </a:p>
        </p:txBody>
      </p:sp>
      <p:cxnSp>
        <p:nvCxnSpPr>
          <p:cNvPr id="5" name="Straight Arrow Connector 4"/>
          <p:cNvCxnSpPr>
            <a:stCxn id="4" idx="7"/>
            <a:endCxn id="6" idx="3"/>
          </p:cNvCxnSpPr>
          <p:nvPr/>
        </p:nvCxnSpPr>
        <p:spPr>
          <a:xfrm flipV="1">
            <a:off x="5874079" y="4911233"/>
            <a:ext cx="566411" cy="4155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6252315" y="4625031"/>
            <a:ext cx="1284942" cy="33530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smtClean="0">
                <a:solidFill>
                  <a:schemeClr val="tx1"/>
                </a:solidFill>
              </a:rPr>
              <a:t>Person</a:t>
            </a:r>
            <a:endParaRPr lang="nl-NL" sz="1400" dirty="0">
              <a:solidFill>
                <a:schemeClr val="tx1"/>
              </a:solidFill>
            </a:endParaRPr>
          </a:p>
        </p:txBody>
      </p:sp>
      <p:sp>
        <p:nvSpPr>
          <p:cNvPr id="7" name="TextBox 6"/>
          <p:cNvSpPr txBox="1"/>
          <p:nvPr/>
        </p:nvSpPr>
        <p:spPr>
          <a:xfrm>
            <a:off x="6126750" y="5019036"/>
            <a:ext cx="423514" cy="307777"/>
          </a:xfrm>
          <a:prstGeom prst="rect">
            <a:avLst/>
          </a:prstGeom>
          <a:noFill/>
        </p:spPr>
        <p:txBody>
          <a:bodyPr wrap="none" rtlCol="0">
            <a:spAutoFit/>
          </a:bodyPr>
          <a:lstStyle/>
          <a:p>
            <a:r>
              <a:rPr lang="nl-NL" sz="1400" dirty="0"/>
              <a:t>i</a:t>
            </a:r>
            <a:r>
              <a:rPr lang="nl-NL" sz="1400" dirty="0" smtClean="0"/>
              <a:t>s a</a:t>
            </a:r>
            <a:endParaRPr lang="nl-NL" sz="1400" dirty="0"/>
          </a:p>
        </p:txBody>
      </p:sp>
      <p:sp>
        <p:nvSpPr>
          <p:cNvPr id="8" name="Oval 7"/>
          <p:cNvSpPr/>
          <p:nvPr/>
        </p:nvSpPr>
        <p:spPr>
          <a:xfrm>
            <a:off x="6550264" y="5682750"/>
            <a:ext cx="1284942" cy="33530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smtClean="0">
                <a:solidFill>
                  <a:schemeClr val="tx1"/>
                </a:solidFill>
              </a:rPr>
              <a:t>paper54</a:t>
            </a:r>
            <a:endParaRPr lang="nl-NL" sz="1400" dirty="0">
              <a:solidFill>
                <a:schemeClr val="tx1"/>
              </a:solidFill>
            </a:endParaRPr>
          </a:p>
        </p:txBody>
      </p:sp>
      <p:cxnSp>
        <p:nvCxnSpPr>
          <p:cNvPr id="9" name="Straight Arrow Connector 8"/>
          <p:cNvCxnSpPr>
            <a:stCxn id="4" idx="5"/>
            <a:endCxn id="8" idx="2"/>
          </p:cNvCxnSpPr>
          <p:nvPr/>
        </p:nvCxnSpPr>
        <p:spPr>
          <a:xfrm>
            <a:off x="5874079" y="5593657"/>
            <a:ext cx="676185" cy="2567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054822" y="5471745"/>
            <a:ext cx="678391" cy="307777"/>
          </a:xfrm>
          <a:prstGeom prst="rect">
            <a:avLst/>
          </a:prstGeom>
          <a:noFill/>
        </p:spPr>
        <p:txBody>
          <a:bodyPr wrap="none" rtlCol="0">
            <a:spAutoFit/>
          </a:bodyPr>
          <a:lstStyle/>
          <a:p>
            <a:r>
              <a:rPr lang="nl-NL" sz="1400" dirty="0" smtClean="0"/>
              <a:t>author</a:t>
            </a:r>
            <a:endParaRPr lang="nl-NL" sz="1400" dirty="0"/>
          </a:p>
        </p:txBody>
      </p:sp>
      <p:sp>
        <p:nvSpPr>
          <p:cNvPr id="11" name="Oval 10"/>
          <p:cNvSpPr/>
          <p:nvPr/>
        </p:nvSpPr>
        <p:spPr>
          <a:xfrm>
            <a:off x="7545898" y="6326301"/>
            <a:ext cx="1284942" cy="33530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smtClean="0">
                <a:solidFill>
                  <a:schemeClr val="tx1"/>
                </a:solidFill>
              </a:rPr>
              <a:t>person11</a:t>
            </a:r>
            <a:endParaRPr lang="nl-NL" sz="1400" dirty="0">
              <a:solidFill>
                <a:schemeClr val="tx1"/>
              </a:solidFill>
            </a:endParaRPr>
          </a:p>
        </p:txBody>
      </p:sp>
      <p:cxnSp>
        <p:nvCxnSpPr>
          <p:cNvPr id="12" name="Straight Arrow Connector 11"/>
          <p:cNvCxnSpPr>
            <a:stCxn id="8" idx="5"/>
            <a:endCxn id="11" idx="0"/>
          </p:cNvCxnSpPr>
          <p:nvPr/>
        </p:nvCxnSpPr>
        <p:spPr>
          <a:xfrm>
            <a:off x="7647031" y="5968952"/>
            <a:ext cx="541338" cy="35734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828987" y="5905093"/>
            <a:ext cx="1038169" cy="307777"/>
          </a:xfrm>
          <a:prstGeom prst="rect">
            <a:avLst/>
          </a:prstGeom>
          <a:noFill/>
        </p:spPr>
        <p:txBody>
          <a:bodyPr wrap="none" rtlCol="0">
            <a:spAutoFit/>
          </a:bodyPr>
          <a:lstStyle/>
          <a:p>
            <a:r>
              <a:rPr lang="nl-NL" sz="1400" dirty="0" smtClean="0"/>
              <a:t>authoredBy</a:t>
            </a:r>
            <a:endParaRPr lang="nl-NL" sz="1400" dirty="0"/>
          </a:p>
        </p:txBody>
      </p:sp>
      <p:sp>
        <p:nvSpPr>
          <p:cNvPr id="14" name="Oval 13"/>
          <p:cNvSpPr/>
          <p:nvPr/>
        </p:nvSpPr>
        <p:spPr>
          <a:xfrm>
            <a:off x="3543396" y="5968952"/>
            <a:ext cx="1284942" cy="33530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smtClean="0">
                <a:solidFill>
                  <a:schemeClr val="tx1"/>
                </a:solidFill>
              </a:rPr>
              <a:t>group34</a:t>
            </a:r>
            <a:endParaRPr lang="nl-NL" sz="1400" dirty="0">
              <a:solidFill>
                <a:schemeClr val="tx1"/>
              </a:solidFill>
            </a:endParaRPr>
          </a:p>
        </p:txBody>
      </p:sp>
      <p:cxnSp>
        <p:nvCxnSpPr>
          <p:cNvPr id="15" name="Straight Arrow Connector 14"/>
          <p:cNvCxnSpPr>
            <a:stCxn id="4" idx="3"/>
            <a:endCxn id="14" idx="7"/>
          </p:cNvCxnSpPr>
          <p:nvPr/>
        </p:nvCxnSpPr>
        <p:spPr>
          <a:xfrm flipH="1">
            <a:off x="4640163" y="5593657"/>
            <a:ext cx="361213" cy="4243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805578" y="5724682"/>
            <a:ext cx="879151" cy="307777"/>
          </a:xfrm>
          <a:prstGeom prst="rect">
            <a:avLst/>
          </a:prstGeom>
          <a:noFill/>
        </p:spPr>
        <p:txBody>
          <a:bodyPr wrap="none" rtlCol="0">
            <a:spAutoFit/>
          </a:bodyPr>
          <a:lstStyle/>
          <a:p>
            <a:r>
              <a:rPr lang="nl-NL" sz="1400" dirty="0" smtClean="0"/>
              <a:t>affiliation</a:t>
            </a:r>
            <a:endParaRPr lang="nl-NL" sz="1400" dirty="0"/>
          </a:p>
        </p:txBody>
      </p:sp>
    </p:spTree>
    <p:extLst>
      <p:ext uri="{BB962C8B-B14F-4D97-AF65-F5344CB8AC3E}">
        <p14:creationId xmlns:p14="http://schemas.microsoft.com/office/powerpoint/2010/main" val="36628725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nl-NL" dirty="0" smtClean="0"/>
              <a:t>WP2 – Current WORK</a:t>
            </a:r>
            <a:endParaRPr lang="nl-NL" dirty="0"/>
          </a:p>
        </p:txBody>
      </p:sp>
      <p:sp>
        <p:nvSpPr>
          <p:cNvPr id="3" name="Text Placeholder 2"/>
          <p:cNvSpPr>
            <a:spLocks noGrp="1"/>
          </p:cNvSpPr>
          <p:nvPr>
            <p:ph type="body" sz="quarter" idx="10"/>
          </p:nvPr>
        </p:nvSpPr>
        <p:spPr/>
        <p:txBody>
          <a:bodyPr/>
          <a:lstStyle/>
          <a:p>
            <a:r>
              <a:rPr lang="nl-NL" sz="2800" dirty="0" smtClean="0"/>
              <a:t>What graph kernel to use</a:t>
            </a:r>
          </a:p>
          <a:p>
            <a:pPr lvl="1"/>
            <a:r>
              <a:rPr lang="nl-NL" sz="2400" dirty="0" smtClean="0"/>
              <a:t>Different ways to express similarities between graphs</a:t>
            </a:r>
          </a:p>
          <a:p>
            <a:pPr lvl="1"/>
            <a:r>
              <a:rPr lang="nl-NL" sz="2400" dirty="0" smtClean="0"/>
              <a:t>Computational complexity</a:t>
            </a:r>
          </a:p>
          <a:p>
            <a:r>
              <a:rPr lang="nl-NL" sz="2800" dirty="0" smtClean="0"/>
              <a:t>How to handle numerical and string nodes</a:t>
            </a:r>
          </a:p>
          <a:p>
            <a:r>
              <a:rPr lang="nl-NL" sz="2800" dirty="0" smtClean="0"/>
              <a:t>Link prediction</a:t>
            </a:r>
          </a:p>
          <a:p>
            <a:pPr lvl="1"/>
            <a:r>
              <a:rPr lang="nl-NL" sz="2400" dirty="0" smtClean="0"/>
              <a:t>Link between node of class X and node of class Y?</a:t>
            </a:r>
          </a:p>
          <a:p>
            <a:r>
              <a:rPr lang="nl-NL" sz="2800" dirty="0" smtClean="0"/>
              <a:t>Scaling up to large RDF graphs, together with WP3</a:t>
            </a:r>
          </a:p>
          <a:p>
            <a:pPr lvl="1"/>
            <a:r>
              <a:rPr lang="nl-NL" sz="2400" dirty="0" smtClean="0"/>
              <a:t>Can we use it for ranking in WP3?</a:t>
            </a:r>
            <a:endParaRPr lang="nl-NL" sz="2400" dirty="0"/>
          </a:p>
        </p:txBody>
      </p:sp>
    </p:spTree>
    <p:extLst>
      <p:ext uri="{BB962C8B-B14F-4D97-AF65-F5344CB8AC3E}">
        <p14:creationId xmlns:p14="http://schemas.microsoft.com/office/powerpoint/2010/main" val="4151199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nl-NL" dirty="0" smtClean="0"/>
              <a:t>WP2 – E-HUMANITIES APPLICATIONS</a:t>
            </a:r>
            <a:endParaRPr lang="nl-NL" dirty="0"/>
          </a:p>
        </p:txBody>
      </p:sp>
      <p:sp>
        <p:nvSpPr>
          <p:cNvPr id="3" name="Text Placeholder 2"/>
          <p:cNvSpPr>
            <a:spLocks noGrp="1"/>
          </p:cNvSpPr>
          <p:nvPr>
            <p:ph type="body" sz="quarter" idx="10"/>
          </p:nvPr>
        </p:nvSpPr>
        <p:spPr/>
        <p:txBody>
          <a:bodyPr/>
          <a:lstStyle/>
          <a:p>
            <a:r>
              <a:rPr lang="nl-NL" dirty="0"/>
              <a:t>Flexible machine learning method for RDF </a:t>
            </a:r>
            <a:r>
              <a:rPr lang="nl-NL" dirty="0" smtClean="0"/>
              <a:t>graphs to do</a:t>
            </a:r>
          </a:p>
          <a:p>
            <a:pPr lvl="1"/>
            <a:r>
              <a:rPr lang="nl-NL" dirty="0" smtClean="0"/>
              <a:t>Property prediction, link prediction, clustering, outlier detection</a:t>
            </a:r>
            <a:endParaRPr lang="nl-NL" dirty="0"/>
          </a:p>
          <a:p>
            <a:r>
              <a:rPr lang="nl-NL" dirty="0" smtClean="0"/>
              <a:t>Provide help with </a:t>
            </a:r>
            <a:r>
              <a:rPr lang="nl-NL" b="1" dirty="0" smtClean="0"/>
              <a:t>harmonization</a:t>
            </a:r>
            <a:r>
              <a:rPr lang="nl-NL" dirty="0" smtClean="0"/>
              <a:t> on the RDF representation of the Census </a:t>
            </a:r>
            <a:r>
              <a:rPr lang="nl-NL" dirty="0" smtClean="0"/>
              <a:t>data?</a:t>
            </a:r>
            <a:endParaRPr lang="nl-NL" dirty="0"/>
          </a:p>
          <a:p>
            <a:r>
              <a:rPr lang="nl-NL" dirty="0" smtClean="0"/>
              <a:t>Clustering </a:t>
            </a:r>
            <a:r>
              <a:rPr lang="nl-NL" dirty="0" smtClean="0"/>
              <a:t>of nodes in the RDF graph</a:t>
            </a:r>
          </a:p>
          <a:p>
            <a:pPr lvl="1"/>
            <a:r>
              <a:rPr lang="nl-NL" dirty="0" smtClean="0"/>
              <a:t>Find similar professions in the Census?</a:t>
            </a:r>
          </a:p>
          <a:p>
            <a:endParaRPr lang="nl-NL" dirty="0" smtClean="0"/>
          </a:p>
          <a:p>
            <a:endParaRPr lang="nl-NL" dirty="0" smtClean="0"/>
          </a:p>
          <a:p>
            <a:endParaRPr lang="nl-NL" dirty="0"/>
          </a:p>
        </p:txBody>
      </p:sp>
    </p:spTree>
    <p:extLst>
      <p:ext uri="{BB962C8B-B14F-4D97-AF65-F5344CB8AC3E}">
        <p14:creationId xmlns:p14="http://schemas.microsoft.com/office/powerpoint/2010/main" val="3936519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idx="1"/>
          </p:nvPr>
        </p:nvSpPr>
        <p:spPr/>
        <p:txBody>
          <a:bodyPr/>
          <a:lstStyle/>
          <a:p>
            <a:r>
              <a:rPr lang="nl-NL" dirty="0" smtClean="0"/>
              <a:t>WP1 – COMPLEX NETwORKS</a:t>
            </a:r>
            <a:endParaRPr lang="nl-NL" dirty="0"/>
          </a:p>
        </p:txBody>
      </p:sp>
      <p:sp>
        <p:nvSpPr>
          <p:cNvPr id="11" name="Text Placeholder 10"/>
          <p:cNvSpPr>
            <a:spLocks noGrp="1"/>
          </p:cNvSpPr>
          <p:nvPr>
            <p:ph type="body" sz="quarter" idx="10"/>
          </p:nvPr>
        </p:nvSpPr>
        <p:spPr/>
        <p:txBody>
          <a:bodyPr/>
          <a:lstStyle/>
          <a:p>
            <a:endParaRPr lang="nl-NL"/>
          </a:p>
        </p:txBody>
      </p:sp>
      <p:sp>
        <p:nvSpPr>
          <p:cNvPr id="3" name="TextBox 2"/>
          <p:cNvSpPr txBox="1"/>
          <p:nvPr/>
        </p:nvSpPr>
        <p:spPr>
          <a:xfrm>
            <a:off x="3595588" y="3401061"/>
            <a:ext cx="1932664" cy="318399"/>
          </a:xfrm>
          <a:prstGeom prst="rect">
            <a:avLst/>
          </a:prstGeom>
          <a:noFill/>
          <a:ln>
            <a:noFill/>
          </a:ln>
        </p:spPr>
        <p:txBody>
          <a:bodyPr vert="horz" wrap="none" lIns="81639" tIns="40820" rIns="81639" bIns="40820" anchorCtr="0" compatLnSpc="0">
            <a:spAutoFit/>
          </a:bodyPr>
          <a:lstStyle/>
          <a:p>
            <a:pPr algn="ctr" hangingPunct="0"/>
            <a:r>
              <a:rPr lang="x-none" sz="1600">
                <a:solidFill>
                  <a:srgbClr val="333333"/>
                </a:solidFill>
                <a:latin typeface="Helvetica" pitchFamily="34"/>
                <a:ea typeface="Arial Unicode MS" pitchFamily="2"/>
                <a:cs typeface="Arial Unicode MS" pitchFamily="2"/>
              </a:rPr>
              <a:t>scale free networks</a:t>
            </a:r>
          </a:p>
        </p:txBody>
      </p:sp>
      <p:pic>
        <p:nvPicPr>
          <p:cNvPr id="4" name="Picture 3"/>
          <p:cNvPicPr>
            <a:picLocks noChangeAspect="1"/>
          </p:cNvPicPr>
          <p:nvPr/>
        </p:nvPicPr>
        <p:blipFill>
          <a:blip r:embed="rId3">
            <a:lum/>
            <a:alphaModFix/>
          </a:blip>
          <a:srcRect/>
          <a:stretch>
            <a:fillRect/>
          </a:stretch>
        </p:blipFill>
        <p:spPr>
          <a:xfrm>
            <a:off x="2322431" y="1631621"/>
            <a:ext cx="2222507" cy="1573815"/>
          </a:xfrm>
          <a:prstGeom prst="rect">
            <a:avLst/>
          </a:prstGeom>
          <a:noFill/>
          <a:ln>
            <a:noFill/>
          </a:ln>
        </p:spPr>
      </p:pic>
      <p:pic>
        <p:nvPicPr>
          <p:cNvPr id="5" name="Picture 4"/>
          <p:cNvPicPr>
            <a:picLocks noChangeAspect="1"/>
          </p:cNvPicPr>
          <p:nvPr/>
        </p:nvPicPr>
        <p:blipFill>
          <a:blip r:embed="rId4">
            <a:lum/>
            <a:alphaModFix/>
          </a:blip>
          <a:srcRect/>
          <a:stretch>
            <a:fillRect/>
          </a:stretch>
        </p:blipFill>
        <p:spPr>
          <a:xfrm>
            <a:off x="4974680" y="1576100"/>
            <a:ext cx="2075559" cy="1648277"/>
          </a:xfrm>
          <a:prstGeom prst="rect">
            <a:avLst/>
          </a:prstGeom>
          <a:noFill/>
          <a:ln>
            <a:noFill/>
          </a:ln>
        </p:spPr>
      </p:pic>
      <p:sp>
        <p:nvSpPr>
          <p:cNvPr id="6" name="TextBox 5"/>
          <p:cNvSpPr txBox="1"/>
          <p:nvPr/>
        </p:nvSpPr>
        <p:spPr>
          <a:xfrm>
            <a:off x="1080452" y="6221453"/>
            <a:ext cx="2069240" cy="318399"/>
          </a:xfrm>
          <a:prstGeom prst="rect">
            <a:avLst/>
          </a:prstGeom>
          <a:noFill/>
          <a:ln>
            <a:noFill/>
          </a:ln>
        </p:spPr>
        <p:txBody>
          <a:bodyPr vert="horz" wrap="none" lIns="81639" tIns="40820" rIns="81639" bIns="40820" anchorCtr="0" compatLnSpc="0">
            <a:spAutoFit/>
          </a:bodyPr>
          <a:lstStyle/>
          <a:p>
            <a:pPr algn="ctr" hangingPunct="0"/>
            <a:r>
              <a:rPr lang="x-none" sz="1600">
                <a:solidFill>
                  <a:srgbClr val="4C4C4C"/>
                </a:solidFill>
                <a:latin typeface="Helvetica" pitchFamily="34"/>
                <a:ea typeface="Arial Unicode MS" pitchFamily="2"/>
                <a:cs typeface="Arial Unicode MS" pitchFamily="2"/>
              </a:rPr>
              <a:t>small world networks</a:t>
            </a:r>
          </a:p>
        </p:txBody>
      </p:sp>
      <p:pic>
        <p:nvPicPr>
          <p:cNvPr id="7" name="Picture 6"/>
          <p:cNvPicPr>
            <a:picLocks noChangeAspect="1"/>
          </p:cNvPicPr>
          <p:nvPr/>
        </p:nvPicPr>
        <p:blipFill>
          <a:blip r:embed="rId5">
            <a:lum/>
            <a:alphaModFix/>
          </a:blip>
          <a:srcRect/>
          <a:stretch>
            <a:fillRect/>
          </a:stretch>
        </p:blipFill>
        <p:spPr>
          <a:xfrm>
            <a:off x="1084477" y="4064683"/>
            <a:ext cx="1901507" cy="1907912"/>
          </a:xfrm>
          <a:prstGeom prst="rect">
            <a:avLst/>
          </a:prstGeom>
          <a:noFill/>
          <a:ln>
            <a:noFill/>
          </a:ln>
        </p:spPr>
      </p:pic>
      <p:sp>
        <p:nvSpPr>
          <p:cNvPr id="8" name="TextBox 7"/>
          <p:cNvSpPr txBox="1"/>
          <p:nvPr/>
        </p:nvSpPr>
        <p:spPr>
          <a:xfrm>
            <a:off x="5378426" y="5889642"/>
            <a:ext cx="1601804" cy="318399"/>
          </a:xfrm>
          <a:prstGeom prst="rect">
            <a:avLst/>
          </a:prstGeom>
          <a:noFill/>
          <a:ln>
            <a:noFill/>
          </a:ln>
        </p:spPr>
        <p:txBody>
          <a:bodyPr vert="horz" wrap="none" lIns="81639" tIns="40820" rIns="81639" bIns="40820" anchorCtr="0" compatLnSpc="0">
            <a:spAutoFit/>
          </a:bodyPr>
          <a:lstStyle/>
          <a:p>
            <a:pPr algn="ctr" hangingPunct="0"/>
            <a:r>
              <a:rPr lang="x-none" sz="1600">
                <a:solidFill>
                  <a:srgbClr val="4C4C4C"/>
                </a:solidFill>
                <a:latin typeface="Helvetica" pitchFamily="34"/>
                <a:ea typeface="Arial Unicode MS" pitchFamily="2"/>
                <a:cs typeface="Arial Unicode MS" pitchFamily="2"/>
              </a:rPr>
              <a:t>fractal networks</a:t>
            </a:r>
          </a:p>
        </p:txBody>
      </p:sp>
      <p:pic>
        <p:nvPicPr>
          <p:cNvPr id="9" name="Picture 8"/>
          <p:cNvPicPr>
            <a:picLocks noChangeAspect="1"/>
          </p:cNvPicPr>
          <p:nvPr/>
        </p:nvPicPr>
        <p:blipFill>
          <a:blip r:embed="rId6">
            <a:lum/>
            <a:alphaModFix/>
          </a:blip>
          <a:srcRect/>
          <a:stretch>
            <a:fillRect/>
          </a:stretch>
        </p:blipFill>
        <p:spPr>
          <a:xfrm>
            <a:off x="4561920" y="4064683"/>
            <a:ext cx="4064256" cy="1616598"/>
          </a:xfrm>
          <a:prstGeom prst="rect">
            <a:avLst/>
          </a:prstGeom>
          <a:noFill/>
          <a:ln>
            <a:noFill/>
          </a:ln>
        </p:spPr>
      </p:pic>
    </p:spTree>
    <p:extLst>
      <p:ext uri="{BB962C8B-B14F-4D97-AF65-F5344CB8AC3E}">
        <p14:creationId xmlns:p14="http://schemas.microsoft.com/office/powerpoint/2010/main" val="210271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3670479" y="3185395"/>
            <a:ext cx="5473521" cy="3672606"/>
          </a:xfrm>
          <a:prstGeom prst="rect">
            <a:avLst/>
          </a:prstGeom>
          <a:noFill/>
          <a:ln>
            <a:noFill/>
          </a:ln>
        </p:spPr>
      </p:pic>
      <p:sp>
        <p:nvSpPr>
          <p:cNvPr id="4" name="Text Placeholder 3"/>
          <p:cNvSpPr txBox="1">
            <a:spLocks noGrp="1"/>
          </p:cNvSpPr>
          <p:nvPr>
            <p:ph type="body" idx="1"/>
          </p:nvPr>
        </p:nvSpPr>
        <p:spPr>
          <a:prstGeom prst="rect">
            <a:avLst/>
          </a:prstGeom>
        </p:spPr>
        <p:txBody>
          <a:bodyPr lIns="82945" tIns="41473" rIns="82945" bIns="41473"/>
          <a:lstStyle>
            <a:defPPr marL="432000" marR="0" lvl="0" indent="-324000">
              <a:spcBef>
                <a:spcPts val="0"/>
              </a:spcBef>
              <a:spcAft>
                <a:spcPts val="1414"/>
              </a:spcAft>
              <a:buSzPct val="45000"/>
              <a:buFont typeface="StarSymbol"/>
              <a:buNone/>
              <a:defRPr lang="x-none" sz="3200" b="0" i="0" u="none" strike="noStrike" kern="1200">
                <a:ln>
                  <a:noFill/>
                </a:ln>
                <a:latin typeface="Arial" pitchFamily="18"/>
                <a:ea typeface="Arial Unicode MS" pitchFamily="2"/>
                <a:cs typeface="Arial Unicode MS" pitchFamily="2"/>
              </a:defRPr>
            </a:defPPr>
            <a:lvl1pPr marL="432000" marR="0" lvl="0" indent="-324000">
              <a:spcBef>
                <a:spcPts val="0"/>
              </a:spcBef>
              <a:spcAft>
                <a:spcPts val="1414"/>
              </a:spcAft>
              <a:buSzPct val="45000"/>
              <a:buFont typeface="StarSymbol"/>
              <a:buChar char="●"/>
              <a:defRPr lang="x-none" sz="3200" b="0" i="0" u="none" strike="noStrike" kern="1200">
                <a:ln>
                  <a:noFill/>
                </a:ln>
                <a:latin typeface="Arial" pitchFamily="18"/>
                <a:ea typeface="Arial Unicode MS" pitchFamily="2"/>
                <a:cs typeface="Arial Unicode MS" pitchFamily="2"/>
              </a:defRPr>
            </a:lvl1pPr>
            <a:lvl2pPr marL="864000" marR="0" lvl="1" indent="-324000">
              <a:spcBef>
                <a:spcPts val="0"/>
              </a:spcBef>
              <a:spcAft>
                <a:spcPts val="1134"/>
              </a:spcAft>
              <a:buSzPct val="45000"/>
              <a:buFont typeface="StarSymbol"/>
              <a:buChar char="●"/>
              <a:defRPr lang="x-none" sz="2800" b="0" i="0" u="none" strike="noStrike" kern="1200">
                <a:ln>
                  <a:noFill/>
                </a:ln>
                <a:latin typeface="Arial" pitchFamily="18"/>
                <a:ea typeface="Arial Unicode MS" pitchFamily="2"/>
                <a:cs typeface="Arial Unicode MS" pitchFamily="2"/>
              </a:defRPr>
            </a:lvl2pPr>
            <a:lvl3pPr marL="1295999" marR="0" lvl="2" indent="-288000">
              <a:spcBef>
                <a:spcPts val="0"/>
              </a:spcBef>
              <a:spcAft>
                <a:spcPts val="850"/>
              </a:spcAft>
              <a:buSzPct val="75000"/>
              <a:buFont typeface="StarSymbol"/>
              <a:buChar char="–"/>
              <a:defRPr lang="x-none" sz="2400" b="0" i="0" u="none" strike="noStrike" kern="1200">
                <a:ln>
                  <a:noFill/>
                </a:ln>
                <a:latin typeface="Arial" pitchFamily="18"/>
                <a:ea typeface="Arial Unicode MS" pitchFamily="2"/>
                <a:cs typeface="Arial Unicode MS" pitchFamily="2"/>
              </a:defRPr>
            </a:lvl3pPr>
            <a:lvl4pPr marL="1728000" marR="0" lvl="3" indent="-216000">
              <a:spcBef>
                <a:spcPts val="0"/>
              </a:spcBef>
              <a:spcAft>
                <a:spcPts val="567"/>
              </a:spcAft>
              <a:buSzPct val="45000"/>
              <a:buFont typeface="StarSymbol"/>
              <a:buChar char="●"/>
              <a:defRPr lang="x-none" sz="2000" b="0" i="0" u="none" strike="noStrike" kern="1200">
                <a:ln>
                  <a:noFill/>
                </a:ln>
                <a:latin typeface="Arial" pitchFamily="18"/>
                <a:ea typeface="Arial Unicode MS" pitchFamily="2"/>
                <a:cs typeface="Arial Unicode MS" pitchFamily="2"/>
              </a:defRPr>
            </a:lvl4pPr>
            <a:lvl5pPr marL="2160000" marR="0" lvl="4" indent="-216000">
              <a:spcBef>
                <a:spcPts val="0"/>
              </a:spcBef>
              <a:spcAft>
                <a:spcPts val="283"/>
              </a:spcAft>
              <a:buSzPct val="75000"/>
              <a:buFont typeface="StarSymbol"/>
              <a:buChar char="–"/>
              <a:defRPr lang="x-none" sz="2000" b="0" i="0" u="none" strike="noStrike" kern="1200">
                <a:ln>
                  <a:noFill/>
                </a:ln>
                <a:latin typeface="Arial" pitchFamily="18"/>
                <a:ea typeface="Arial Unicode MS" pitchFamily="2"/>
                <a:cs typeface="Arial Unicode MS" pitchFamily="2"/>
              </a:defRPr>
            </a:lvl5pPr>
            <a:lvl6pPr marL="2592000" marR="0" lvl="5"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6pPr>
            <a:lvl7pPr marL="3024000" marR="0" lvl="6"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7pPr>
            <a:lvl8pPr marL="3456000" marR="0" lvl="7"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8pPr>
            <a:lvl9pPr marL="3887999" marR="0" lvl="8"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9pPr>
          </a:lstStyle>
          <a:p>
            <a:pPr marL="108000" lvl="0" indent="0">
              <a:buNone/>
            </a:pPr>
            <a:r>
              <a:rPr lang="nl-NL" sz="4800" dirty="0" smtClean="0">
                <a:latin typeface="COMMIT" pitchFamily="81" charset="0"/>
              </a:rPr>
              <a:t>WP1 – Learning by Compression</a:t>
            </a:r>
            <a:endParaRPr lang="x-none" sz="4800">
              <a:latin typeface="COMMIT" pitchFamily="81" charset="0"/>
            </a:endParaRPr>
          </a:p>
        </p:txBody>
      </p:sp>
      <p:sp>
        <p:nvSpPr>
          <p:cNvPr id="5" name="Text Placeholder 4"/>
          <p:cNvSpPr>
            <a:spLocks noGrp="1"/>
          </p:cNvSpPr>
          <p:nvPr>
            <p:ph type="body" sz="quarter" idx="10"/>
          </p:nvPr>
        </p:nvSpPr>
        <p:spPr/>
        <p:txBody>
          <a:bodyPr/>
          <a:lstStyle/>
          <a:p>
            <a:pPr lvl="0"/>
            <a:r>
              <a:rPr lang="x-none"/>
              <a:t>Compression = Learning</a:t>
            </a:r>
          </a:p>
          <a:p>
            <a:pPr lvl="1" hangingPunct="0"/>
            <a:r>
              <a:rPr lang="x-none" sz="2200"/>
              <a:t>Finding structure in data (learning) allows you to compress it. Compressing data means finding structure</a:t>
            </a:r>
          </a:p>
          <a:p>
            <a:pPr lvl="0"/>
            <a:r>
              <a:rPr lang="x-none"/>
              <a:t>Just using ZIP is enough:</a:t>
            </a:r>
          </a:p>
          <a:p>
            <a:endParaRPr lang="nl-NL" dirty="0"/>
          </a:p>
        </p:txBody>
      </p:sp>
    </p:spTree>
    <p:extLst>
      <p:ext uri="{BB962C8B-B14F-4D97-AF65-F5344CB8AC3E}">
        <p14:creationId xmlns:p14="http://schemas.microsoft.com/office/powerpoint/2010/main" val="40909157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txBox="1">
            <a:spLocks noGrp="1"/>
          </p:cNvSpPr>
          <p:nvPr>
            <p:ph type="body" idx="1"/>
          </p:nvPr>
        </p:nvSpPr>
        <p:spPr>
          <a:prstGeom prst="rect">
            <a:avLst/>
          </a:prstGeom>
        </p:spPr>
        <p:txBody>
          <a:bodyPr lIns="82945" tIns="41473" rIns="82945" bIns="41473"/>
          <a:lstStyle>
            <a:defPPr marL="432000" marR="0" lvl="0" indent="-324000">
              <a:spcBef>
                <a:spcPts val="0"/>
              </a:spcBef>
              <a:spcAft>
                <a:spcPts val="1414"/>
              </a:spcAft>
              <a:buSzPct val="45000"/>
              <a:buFont typeface="StarSymbol"/>
              <a:buNone/>
              <a:defRPr lang="x-none" sz="3200" b="0" i="0" u="none" strike="noStrike" kern="1200">
                <a:ln>
                  <a:noFill/>
                </a:ln>
                <a:latin typeface="Arial" pitchFamily="18"/>
                <a:ea typeface="Arial Unicode MS" pitchFamily="2"/>
                <a:cs typeface="Arial Unicode MS" pitchFamily="2"/>
              </a:defRPr>
            </a:defPPr>
            <a:lvl1pPr marL="432000" marR="0" lvl="0" indent="-324000">
              <a:spcBef>
                <a:spcPts val="0"/>
              </a:spcBef>
              <a:spcAft>
                <a:spcPts val="1414"/>
              </a:spcAft>
              <a:buSzPct val="45000"/>
              <a:buFont typeface="StarSymbol"/>
              <a:buChar char="●"/>
              <a:defRPr lang="x-none" sz="3200" b="0" i="0" u="none" strike="noStrike" kern="1200">
                <a:ln>
                  <a:noFill/>
                </a:ln>
                <a:latin typeface="Arial" pitchFamily="18"/>
                <a:ea typeface="Arial Unicode MS" pitchFamily="2"/>
                <a:cs typeface="Arial Unicode MS" pitchFamily="2"/>
              </a:defRPr>
            </a:lvl1pPr>
            <a:lvl2pPr marL="864000" marR="0" lvl="1" indent="-324000">
              <a:spcBef>
                <a:spcPts val="0"/>
              </a:spcBef>
              <a:spcAft>
                <a:spcPts val="1134"/>
              </a:spcAft>
              <a:buSzPct val="45000"/>
              <a:buFont typeface="StarSymbol"/>
              <a:buChar char="●"/>
              <a:defRPr lang="x-none" sz="2800" b="0" i="0" u="none" strike="noStrike" kern="1200">
                <a:ln>
                  <a:noFill/>
                </a:ln>
                <a:latin typeface="Arial" pitchFamily="18"/>
                <a:ea typeface="Arial Unicode MS" pitchFamily="2"/>
                <a:cs typeface="Arial Unicode MS" pitchFamily="2"/>
              </a:defRPr>
            </a:lvl2pPr>
            <a:lvl3pPr marL="1295999" marR="0" lvl="2" indent="-288000">
              <a:spcBef>
                <a:spcPts val="0"/>
              </a:spcBef>
              <a:spcAft>
                <a:spcPts val="850"/>
              </a:spcAft>
              <a:buSzPct val="75000"/>
              <a:buFont typeface="StarSymbol"/>
              <a:buChar char="–"/>
              <a:defRPr lang="x-none" sz="2400" b="0" i="0" u="none" strike="noStrike" kern="1200">
                <a:ln>
                  <a:noFill/>
                </a:ln>
                <a:latin typeface="Arial" pitchFamily="18"/>
                <a:ea typeface="Arial Unicode MS" pitchFamily="2"/>
                <a:cs typeface="Arial Unicode MS" pitchFamily="2"/>
              </a:defRPr>
            </a:lvl3pPr>
            <a:lvl4pPr marL="1728000" marR="0" lvl="3" indent="-216000">
              <a:spcBef>
                <a:spcPts val="0"/>
              </a:spcBef>
              <a:spcAft>
                <a:spcPts val="567"/>
              </a:spcAft>
              <a:buSzPct val="45000"/>
              <a:buFont typeface="StarSymbol"/>
              <a:buChar char="●"/>
              <a:defRPr lang="x-none" sz="2000" b="0" i="0" u="none" strike="noStrike" kern="1200">
                <a:ln>
                  <a:noFill/>
                </a:ln>
                <a:latin typeface="Arial" pitchFamily="18"/>
                <a:ea typeface="Arial Unicode MS" pitchFamily="2"/>
                <a:cs typeface="Arial Unicode MS" pitchFamily="2"/>
              </a:defRPr>
            </a:lvl4pPr>
            <a:lvl5pPr marL="2160000" marR="0" lvl="4" indent="-216000">
              <a:spcBef>
                <a:spcPts val="0"/>
              </a:spcBef>
              <a:spcAft>
                <a:spcPts val="283"/>
              </a:spcAft>
              <a:buSzPct val="75000"/>
              <a:buFont typeface="StarSymbol"/>
              <a:buChar char="–"/>
              <a:defRPr lang="x-none" sz="2000" b="0" i="0" u="none" strike="noStrike" kern="1200">
                <a:ln>
                  <a:noFill/>
                </a:ln>
                <a:latin typeface="Arial" pitchFamily="18"/>
                <a:ea typeface="Arial Unicode MS" pitchFamily="2"/>
                <a:cs typeface="Arial Unicode MS" pitchFamily="2"/>
              </a:defRPr>
            </a:lvl5pPr>
            <a:lvl6pPr marL="2592000" marR="0" lvl="5"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6pPr>
            <a:lvl7pPr marL="3024000" marR="0" lvl="6"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7pPr>
            <a:lvl8pPr marL="3456000" marR="0" lvl="7"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8pPr>
            <a:lvl9pPr marL="3887999" marR="0" lvl="8"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9pPr>
          </a:lstStyle>
          <a:p>
            <a:pPr marL="108000" lvl="0" indent="0">
              <a:buNone/>
            </a:pPr>
            <a:r>
              <a:rPr lang="nl-NL" sz="4800" dirty="0" smtClean="0">
                <a:latin typeface="COMMIT" pitchFamily="81" charset="0"/>
              </a:rPr>
              <a:t>WP1 – Learning by Compression</a:t>
            </a:r>
            <a:endParaRPr lang="x-none" sz="4800">
              <a:latin typeface="COMMIT" pitchFamily="81" charset="0"/>
            </a:endParaRPr>
          </a:p>
        </p:txBody>
      </p:sp>
      <p:sp>
        <p:nvSpPr>
          <p:cNvPr id="4" name="Text Placeholder 3"/>
          <p:cNvSpPr>
            <a:spLocks noGrp="1"/>
          </p:cNvSpPr>
          <p:nvPr>
            <p:ph type="body" sz="quarter" idx="10"/>
          </p:nvPr>
        </p:nvSpPr>
        <p:spPr/>
        <p:txBody>
          <a:bodyPr/>
          <a:lstStyle/>
          <a:p>
            <a:pPr lvl="0"/>
            <a:r>
              <a:rPr lang="x-none"/>
              <a:t>Domain knowledge? </a:t>
            </a:r>
            <a:endParaRPr lang="nl-NL" dirty="0" smtClean="0"/>
          </a:p>
          <a:p>
            <a:pPr lvl="1"/>
            <a:r>
              <a:rPr lang="x-none" smtClean="0"/>
              <a:t>Put </a:t>
            </a:r>
            <a:r>
              <a:rPr lang="x-none"/>
              <a:t>it in your </a:t>
            </a:r>
            <a:r>
              <a:rPr lang="x-none" smtClean="0"/>
              <a:t>compressor</a:t>
            </a:r>
            <a:endParaRPr lang="x-none"/>
          </a:p>
          <a:p>
            <a:pPr lvl="0"/>
            <a:r>
              <a:rPr lang="x-none"/>
              <a:t>Graph compressors for RDF:</a:t>
            </a:r>
          </a:p>
          <a:p>
            <a:pPr lvl="1" hangingPunct="0"/>
            <a:r>
              <a:rPr lang="x-none"/>
              <a:t>Frequent subgraphs</a:t>
            </a:r>
          </a:p>
          <a:p>
            <a:pPr lvl="1" hangingPunct="0"/>
            <a:r>
              <a:rPr lang="x-none"/>
              <a:t>Iterated Graph clustering</a:t>
            </a:r>
          </a:p>
          <a:p>
            <a:pPr lvl="1" hangingPunct="0"/>
            <a:r>
              <a:rPr lang="x-none" b="1"/>
              <a:t>Graph grammars</a:t>
            </a:r>
          </a:p>
          <a:p>
            <a:pPr lvl="1" hangingPunct="0"/>
            <a:r>
              <a:rPr lang="x-none"/>
              <a:t>Minimum spanning tree</a:t>
            </a:r>
          </a:p>
          <a:p>
            <a:endParaRPr lang="nl-NL" dirty="0"/>
          </a:p>
        </p:txBody>
      </p:sp>
    </p:spTree>
    <p:extLst>
      <p:ext uri="{BB962C8B-B14F-4D97-AF65-F5344CB8AC3E}">
        <p14:creationId xmlns:p14="http://schemas.microsoft.com/office/powerpoint/2010/main" val="15342887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p:cNvSpPr>
            <a:spLocks noGrp="1"/>
          </p:cNvSpPr>
          <p:nvPr>
            <p:ph type="body" idx="1"/>
          </p:nvPr>
        </p:nvSpPr>
        <p:spPr/>
        <p:txBody>
          <a:bodyPr/>
          <a:lstStyle/>
          <a:p>
            <a:r>
              <a:rPr lang="nl-NL" dirty="0" smtClean="0"/>
              <a:t>WP1 – GRAPH GRAMMARS</a:t>
            </a:r>
            <a:endParaRPr lang="nl-NL" dirty="0"/>
          </a:p>
        </p:txBody>
      </p:sp>
      <p:sp>
        <p:nvSpPr>
          <p:cNvPr id="55" name="Text Placeholder 54"/>
          <p:cNvSpPr>
            <a:spLocks noGrp="1"/>
          </p:cNvSpPr>
          <p:nvPr>
            <p:ph type="body" sz="quarter" idx="10"/>
          </p:nvPr>
        </p:nvSpPr>
        <p:spPr/>
        <p:txBody>
          <a:bodyPr/>
          <a:lstStyle/>
          <a:p>
            <a:endParaRPr lang="nl-NL"/>
          </a:p>
        </p:txBody>
      </p:sp>
      <p:sp>
        <p:nvSpPr>
          <p:cNvPr id="3" name="Straight Connector 2"/>
          <p:cNvSpPr/>
          <p:nvPr/>
        </p:nvSpPr>
        <p:spPr>
          <a:xfrm>
            <a:off x="4544286" y="1659055"/>
            <a:ext cx="17634" cy="4313540"/>
          </a:xfrm>
          <a:prstGeom prst="line">
            <a:avLst/>
          </a:prstGeom>
          <a:noFill/>
          <a:ln w="91440">
            <a:solidFill>
              <a:srgbClr val="004586"/>
            </a:solidFill>
            <a:custDash>
              <a:ds d="100000" sp="100000"/>
            </a:custDash>
          </a:ln>
        </p:spPr>
        <p:txBody>
          <a:bodyPr vert="horz" wrap="none" lIns="122459" tIns="81639" rIns="122459" bIns="81639" anchor="ctr" anchorCtr="0" compatLnSpc="0"/>
          <a:lstStyle/>
          <a:p>
            <a:pPr hangingPunct="0"/>
            <a:endParaRPr lang="x-none" sz="1600">
              <a:latin typeface="Arial" pitchFamily="18"/>
              <a:ea typeface="Arial Unicode MS" pitchFamily="2"/>
              <a:cs typeface="Arial Unicode MS" pitchFamily="2"/>
            </a:endParaRPr>
          </a:p>
        </p:txBody>
      </p:sp>
      <p:sp>
        <p:nvSpPr>
          <p:cNvPr id="4" name="Freeform 3"/>
          <p:cNvSpPr/>
          <p:nvPr/>
        </p:nvSpPr>
        <p:spPr>
          <a:xfrm>
            <a:off x="414720" y="1659054"/>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S</a:t>
            </a:r>
          </a:p>
        </p:txBody>
      </p:sp>
      <p:sp>
        <p:nvSpPr>
          <p:cNvPr id="5" name="Freeform 4"/>
          <p:cNvSpPr/>
          <p:nvPr/>
        </p:nvSpPr>
        <p:spPr>
          <a:xfrm>
            <a:off x="1907712" y="1659054"/>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6" name="Freeform 5"/>
          <p:cNvSpPr/>
          <p:nvPr/>
        </p:nvSpPr>
        <p:spPr>
          <a:xfrm>
            <a:off x="2820095" y="1659054"/>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B</a:t>
            </a:r>
          </a:p>
        </p:txBody>
      </p:sp>
      <p:sp>
        <p:nvSpPr>
          <p:cNvPr id="7" name="Straight Connector 6"/>
          <p:cNvSpPr/>
          <p:nvPr/>
        </p:nvSpPr>
        <p:spPr>
          <a:xfrm>
            <a:off x="1078272" y="1824960"/>
            <a:ext cx="580609" cy="0"/>
          </a:xfrm>
          <a:prstGeom prst="line">
            <a:avLst/>
          </a:prstGeom>
          <a:noFill/>
          <a:ln w="0">
            <a:solidFill>
              <a:srgbClr val="000000"/>
            </a:solidFill>
            <a:prstDash val="solid"/>
            <a:tailEnd type="arrow"/>
          </a:ln>
        </p:spPr>
        <p:txBody>
          <a:bodyPr vert="horz" wrap="none" lIns="81639" tIns="40820" rIns="81639" bIns="40820" anchor="ctr" anchorCtr="0" compatLnSpc="0"/>
          <a:lstStyle/>
          <a:p>
            <a:pPr hangingPunct="0"/>
            <a:endParaRPr lang="x-none" sz="1600">
              <a:latin typeface="Arial" pitchFamily="18"/>
              <a:ea typeface="Arial Unicode MS" pitchFamily="2"/>
              <a:cs typeface="Arial Unicode MS" pitchFamily="2"/>
            </a:endParaRPr>
          </a:p>
        </p:txBody>
      </p:sp>
      <p:sp>
        <p:nvSpPr>
          <p:cNvPr id="8" name="Freeform 7"/>
          <p:cNvSpPr/>
          <p:nvPr/>
        </p:nvSpPr>
        <p:spPr>
          <a:xfrm>
            <a:off x="414720" y="2405628"/>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S</a:t>
            </a:r>
          </a:p>
        </p:txBody>
      </p:sp>
      <p:sp>
        <p:nvSpPr>
          <p:cNvPr id="9" name="Freeform 8"/>
          <p:cNvSpPr/>
          <p:nvPr/>
        </p:nvSpPr>
        <p:spPr>
          <a:xfrm>
            <a:off x="1907712" y="2405628"/>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10" name="Freeform 9"/>
          <p:cNvSpPr/>
          <p:nvPr/>
        </p:nvSpPr>
        <p:spPr>
          <a:xfrm>
            <a:off x="2322431" y="2903345"/>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B</a:t>
            </a:r>
          </a:p>
        </p:txBody>
      </p:sp>
      <p:sp>
        <p:nvSpPr>
          <p:cNvPr id="11" name="Straight Connector 10"/>
          <p:cNvSpPr/>
          <p:nvPr/>
        </p:nvSpPr>
        <p:spPr>
          <a:xfrm>
            <a:off x="1078272" y="2571534"/>
            <a:ext cx="580609" cy="0"/>
          </a:xfrm>
          <a:prstGeom prst="line">
            <a:avLst/>
          </a:prstGeom>
          <a:noFill/>
          <a:ln w="0">
            <a:solidFill>
              <a:srgbClr val="000000"/>
            </a:solidFill>
            <a:prstDash val="solid"/>
            <a:tailEnd type="arrow"/>
          </a:ln>
        </p:spPr>
        <p:txBody>
          <a:bodyPr vert="horz" wrap="none" lIns="81639" tIns="40820" rIns="81639" bIns="40820" anchor="ctr" anchorCtr="0" compatLnSpc="0"/>
          <a:lstStyle/>
          <a:p>
            <a:pPr hangingPunct="0"/>
            <a:endParaRPr lang="x-none" sz="1600">
              <a:latin typeface="Arial" pitchFamily="18"/>
              <a:ea typeface="Arial Unicode MS" pitchFamily="2"/>
              <a:cs typeface="Arial Unicode MS" pitchFamily="2"/>
            </a:endParaRPr>
          </a:p>
        </p:txBody>
      </p:sp>
      <p:sp>
        <p:nvSpPr>
          <p:cNvPr id="12" name="Freeform 11"/>
          <p:cNvSpPr/>
          <p:nvPr/>
        </p:nvSpPr>
        <p:spPr>
          <a:xfrm>
            <a:off x="2820095" y="2405628"/>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C</a:t>
            </a:r>
          </a:p>
        </p:txBody>
      </p:sp>
      <p:cxnSp>
        <p:nvCxnSpPr>
          <p:cNvPr id="13" name="Straight Arrow Connector 12"/>
          <p:cNvCxnSpPr>
            <a:stCxn id="5" idx="10"/>
            <a:endCxn id="6" idx="6"/>
          </p:cNvCxnSpPr>
          <p:nvPr/>
        </p:nvCxnSpPr>
        <p:spPr>
          <a:xfrm>
            <a:off x="2239489" y="1824960"/>
            <a:ext cx="580607" cy="0"/>
          </a:xfrm>
          <a:prstGeom prst="straightConnector1">
            <a:avLst/>
          </a:prstGeom>
          <a:noFill/>
          <a:ln w="0">
            <a:solidFill>
              <a:srgbClr val="000000"/>
            </a:solidFill>
            <a:prstDash val="solid"/>
          </a:ln>
        </p:spPr>
      </p:cxnSp>
      <p:cxnSp>
        <p:nvCxnSpPr>
          <p:cNvPr id="14" name="Straight Arrow Connector 13"/>
          <p:cNvCxnSpPr>
            <a:stCxn id="9" idx="10"/>
            <a:endCxn id="12" idx="6"/>
          </p:cNvCxnSpPr>
          <p:nvPr/>
        </p:nvCxnSpPr>
        <p:spPr>
          <a:xfrm>
            <a:off x="2239489" y="2571534"/>
            <a:ext cx="580607" cy="0"/>
          </a:xfrm>
          <a:prstGeom prst="straightConnector1">
            <a:avLst/>
          </a:prstGeom>
          <a:noFill/>
          <a:ln w="0">
            <a:solidFill>
              <a:srgbClr val="000000"/>
            </a:solidFill>
            <a:prstDash val="solid"/>
          </a:ln>
        </p:spPr>
      </p:cxnSp>
      <p:cxnSp>
        <p:nvCxnSpPr>
          <p:cNvPr id="15" name="Straight Arrow Connector 14"/>
          <p:cNvCxnSpPr>
            <a:stCxn id="9" idx="9"/>
            <a:endCxn id="10" idx="5"/>
          </p:cNvCxnSpPr>
          <p:nvPr/>
        </p:nvCxnSpPr>
        <p:spPr>
          <a:xfrm>
            <a:off x="2190905" y="2688851"/>
            <a:ext cx="180110" cy="263083"/>
          </a:xfrm>
          <a:prstGeom prst="straightConnector1">
            <a:avLst/>
          </a:prstGeom>
          <a:noFill/>
          <a:ln w="0">
            <a:solidFill>
              <a:srgbClr val="000000"/>
            </a:solidFill>
            <a:prstDash val="solid"/>
          </a:ln>
        </p:spPr>
      </p:cxnSp>
      <p:cxnSp>
        <p:nvCxnSpPr>
          <p:cNvPr id="16" name="Straight Arrow Connector 15"/>
          <p:cNvCxnSpPr>
            <a:stCxn id="10" idx="11"/>
            <a:endCxn id="12" idx="7"/>
          </p:cNvCxnSpPr>
          <p:nvPr/>
        </p:nvCxnSpPr>
        <p:spPr>
          <a:xfrm flipV="1">
            <a:off x="2605624" y="2688851"/>
            <a:ext cx="263055" cy="263083"/>
          </a:xfrm>
          <a:prstGeom prst="straightConnector1">
            <a:avLst/>
          </a:prstGeom>
          <a:noFill/>
          <a:ln w="0">
            <a:solidFill>
              <a:srgbClr val="000000"/>
            </a:solidFill>
            <a:prstDash val="solid"/>
          </a:ln>
        </p:spPr>
      </p:cxnSp>
      <p:sp>
        <p:nvSpPr>
          <p:cNvPr id="17" name="Freeform 16"/>
          <p:cNvSpPr/>
          <p:nvPr/>
        </p:nvSpPr>
        <p:spPr>
          <a:xfrm>
            <a:off x="414720" y="3566966"/>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18" name="Freeform 17"/>
          <p:cNvSpPr/>
          <p:nvPr/>
        </p:nvSpPr>
        <p:spPr>
          <a:xfrm>
            <a:off x="1907712" y="3566966"/>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19" name="Freeform 18"/>
          <p:cNvSpPr/>
          <p:nvPr/>
        </p:nvSpPr>
        <p:spPr>
          <a:xfrm>
            <a:off x="2820095" y="3566966"/>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20" name="Straight Connector 19"/>
          <p:cNvSpPr/>
          <p:nvPr/>
        </p:nvSpPr>
        <p:spPr>
          <a:xfrm>
            <a:off x="1078272" y="3732872"/>
            <a:ext cx="580609" cy="0"/>
          </a:xfrm>
          <a:prstGeom prst="line">
            <a:avLst/>
          </a:prstGeom>
          <a:noFill/>
          <a:ln w="0">
            <a:solidFill>
              <a:srgbClr val="000000"/>
            </a:solidFill>
            <a:prstDash val="solid"/>
            <a:tailEnd type="arrow"/>
          </a:ln>
        </p:spPr>
        <p:txBody>
          <a:bodyPr vert="horz" wrap="none" lIns="81639" tIns="40820" rIns="81639" bIns="40820" anchor="ctr" anchorCtr="0" compatLnSpc="0"/>
          <a:lstStyle/>
          <a:p>
            <a:pPr hangingPunct="0"/>
            <a:endParaRPr lang="x-none" sz="1600">
              <a:latin typeface="Arial" pitchFamily="18"/>
              <a:ea typeface="Arial Unicode MS" pitchFamily="2"/>
              <a:cs typeface="Arial Unicode MS" pitchFamily="2"/>
            </a:endParaRPr>
          </a:p>
        </p:txBody>
      </p:sp>
      <p:cxnSp>
        <p:nvCxnSpPr>
          <p:cNvPr id="21" name="Straight Arrow Connector 20"/>
          <p:cNvCxnSpPr>
            <a:stCxn id="18" idx="10"/>
            <a:endCxn id="19" idx="6"/>
          </p:cNvCxnSpPr>
          <p:nvPr/>
        </p:nvCxnSpPr>
        <p:spPr>
          <a:xfrm>
            <a:off x="2239489" y="3732872"/>
            <a:ext cx="580607" cy="0"/>
          </a:xfrm>
          <a:prstGeom prst="straightConnector1">
            <a:avLst/>
          </a:prstGeom>
          <a:noFill/>
          <a:ln w="0">
            <a:solidFill>
              <a:srgbClr val="000000"/>
            </a:solidFill>
            <a:prstDash val="solid"/>
          </a:ln>
        </p:spPr>
      </p:cxnSp>
      <p:sp>
        <p:nvSpPr>
          <p:cNvPr id="22" name="Freeform 21"/>
          <p:cNvSpPr/>
          <p:nvPr/>
        </p:nvSpPr>
        <p:spPr>
          <a:xfrm>
            <a:off x="414720" y="4479446"/>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23" name="Freeform 22"/>
          <p:cNvSpPr/>
          <p:nvPr/>
        </p:nvSpPr>
        <p:spPr>
          <a:xfrm>
            <a:off x="432354" y="5060115"/>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B</a:t>
            </a:r>
          </a:p>
        </p:txBody>
      </p:sp>
      <p:sp>
        <p:nvSpPr>
          <p:cNvPr id="24" name="Freeform 23"/>
          <p:cNvSpPr/>
          <p:nvPr/>
        </p:nvSpPr>
        <p:spPr>
          <a:xfrm>
            <a:off x="447375" y="5643396"/>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C</a:t>
            </a:r>
          </a:p>
        </p:txBody>
      </p:sp>
      <p:sp>
        <p:nvSpPr>
          <p:cNvPr id="25" name="Straight Connector 24"/>
          <p:cNvSpPr/>
          <p:nvPr/>
        </p:nvSpPr>
        <p:spPr>
          <a:xfrm>
            <a:off x="995329" y="4645351"/>
            <a:ext cx="580607" cy="0"/>
          </a:xfrm>
          <a:prstGeom prst="line">
            <a:avLst/>
          </a:prstGeom>
          <a:noFill/>
          <a:ln w="0">
            <a:solidFill>
              <a:srgbClr val="000000"/>
            </a:solidFill>
            <a:prstDash val="solid"/>
            <a:tailEnd type="arrow"/>
          </a:ln>
        </p:spPr>
        <p:txBody>
          <a:bodyPr vert="horz" wrap="none" lIns="81639" tIns="40820" rIns="81639" bIns="40820" anchor="ctr" anchorCtr="0" compatLnSpc="0"/>
          <a:lstStyle/>
          <a:p>
            <a:pPr hangingPunct="0"/>
            <a:endParaRPr lang="x-none" sz="1600">
              <a:latin typeface="Arial" pitchFamily="18"/>
              <a:ea typeface="Arial Unicode MS" pitchFamily="2"/>
              <a:cs typeface="Arial Unicode MS" pitchFamily="2"/>
            </a:endParaRPr>
          </a:p>
        </p:txBody>
      </p:sp>
      <p:sp>
        <p:nvSpPr>
          <p:cNvPr id="26" name="Straight Connector 25"/>
          <p:cNvSpPr/>
          <p:nvPr/>
        </p:nvSpPr>
        <p:spPr>
          <a:xfrm>
            <a:off x="995329" y="5226021"/>
            <a:ext cx="580607" cy="0"/>
          </a:xfrm>
          <a:prstGeom prst="line">
            <a:avLst/>
          </a:prstGeom>
          <a:noFill/>
          <a:ln w="0">
            <a:solidFill>
              <a:srgbClr val="000000"/>
            </a:solidFill>
            <a:prstDash val="solid"/>
            <a:tailEnd type="arrow"/>
          </a:ln>
        </p:spPr>
        <p:txBody>
          <a:bodyPr vert="horz" wrap="none" lIns="81639" tIns="40820" rIns="81639" bIns="40820" anchor="ctr" anchorCtr="0" compatLnSpc="0"/>
          <a:lstStyle/>
          <a:p>
            <a:pPr hangingPunct="0"/>
            <a:endParaRPr lang="x-none" sz="1600">
              <a:latin typeface="Arial" pitchFamily="18"/>
              <a:ea typeface="Arial Unicode MS" pitchFamily="2"/>
              <a:cs typeface="Arial Unicode MS" pitchFamily="2"/>
            </a:endParaRPr>
          </a:p>
        </p:txBody>
      </p:sp>
      <p:sp>
        <p:nvSpPr>
          <p:cNvPr id="27" name="Straight Connector 26"/>
          <p:cNvSpPr/>
          <p:nvPr/>
        </p:nvSpPr>
        <p:spPr>
          <a:xfrm>
            <a:off x="995329" y="5806689"/>
            <a:ext cx="580607" cy="0"/>
          </a:xfrm>
          <a:prstGeom prst="line">
            <a:avLst/>
          </a:prstGeom>
          <a:noFill/>
          <a:ln w="0">
            <a:solidFill>
              <a:srgbClr val="000000"/>
            </a:solidFill>
            <a:prstDash val="solid"/>
            <a:tailEnd type="arrow"/>
          </a:ln>
        </p:spPr>
        <p:txBody>
          <a:bodyPr vert="horz" wrap="none" lIns="81639" tIns="40820" rIns="81639" bIns="40820" anchor="ctr" anchorCtr="0" compatLnSpc="0"/>
          <a:lstStyle/>
          <a:p>
            <a:pPr hangingPunct="0"/>
            <a:endParaRPr lang="x-none" sz="1600">
              <a:latin typeface="Arial" pitchFamily="18"/>
              <a:ea typeface="Arial Unicode MS" pitchFamily="2"/>
              <a:cs typeface="Arial Unicode MS" pitchFamily="2"/>
            </a:endParaRPr>
          </a:p>
        </p:txBody>
      </p:sp>
      <p:sp>
        <p:nvSpPr>
          <p:cNvPr id="28" name="Freeform 27"/>
          <p:cNvSpPr/>
          <p:nvPr/>
        </p:nvSpPr>
        <p:spPr>
          <a:xfrm>
            <a:off x="1875057" y="4476833"/>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29" name="Freeform 28"/>
          <p:cNvSpPr/>
          <p:nvPr/>
        </p:nvSpPr>
        <p:spPr>
          <a:xfrm>
            <a:off x="1892691" y="5057502"/>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b</a:t>
            </a:r>
          </a:p>
        </p:txBody>
      </p:sp>
      <p:sp>
        <p:nvSpPr>
          <p:cNvPr id="30" name="Freeform 29"/>
          <p:cNvSpPr/>
          <p:nvPr/>
        </p:nvSpPr>
        <p:spPr>
          <a:xfrm>
            <a:off x="1907712" y="5640783"/>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c</a:t>
            </a:r>
          </a:p>
        </p:txBody>
      </p:sp>
      <p:sp>
        <p:nvSpPr>
          <p:cNvPr id="31" name="Freeform 30"/>
          <p:cNvSpPr/>
          <p:nvPr/>
        </p:nvSpPr>
        <p:spPr>
          <a:xfrm>
            <a:off x="6635520" y="1327242"/>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S</a:t>
            </a:r>
          </a:p>
        </p:txBody>
      </p:sp>
      <p:sp>
        <p:nvSpPr>
          <p:cNvPr id="32" name="Freeform 31"/>
          <p:cNvSpPr/>
          <p:nvPr/>
        </p:nvSpPr>
        <p:spPr>
          <a:xfrm>
            <a:off x="6220800" y="1990865"/>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33" name="Freeform 32"/>
          <p:cNvSpPr/>
          <p:nvPr/>
        </p:nvSpPr>
        <p:spPr>
          <a:xfrm>
            <a:off x="6635520" y="2488580"/>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B</a:t>
            </a:r>
          </a:p>
        </p:txBody>
      </p:sp>
      <p:sp>
        <p:nvSpPr>
          <p:cNvPr id="34" name="Freeform 33"/>
          <p:cNvSpPr/>
          <p:nvPr/>
        </p:nvSpPr>
        <p:spPr>
          <a:xfrm>
            <a:off x="7133184" y="1990865"/>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C</a:t>
            </a:r>
          </a:p>
        </p:txBody>
      </p:sp>
      <p:cxnSp>
        <p:nvCxnSpPr>
          <p:cNvPr id="35" name="Straight Arrow Connector 34"/>
          <p:cNvCxnSpPr>
            <a:stCxn id="32" idx="10"/>
            <a:endCxn id="34" idx="6"/>
          </p:cNvCxnSpPr>
          <p:nvPr/>
        </p:nvCxnSpPr>
        <p:spPr>
          <a:xfrm>
            <a:off x="6552576" y="2156770"/>
            <a:ext cx="580608" cy="0"/>
          </a:xfrm>
          <a:prstGeom prst="straightConnector1">
            <a:avLst/>
          </a:prstGeom>
          <a:noFill/>
          <a:ln w="0">
            <a:solidFill>
              <a:srgbClr val="000000"/>
            </a:solidFill>
            <a:prstDash val="solid"/>
          </a:ln>
        </p:spPr>
      </p:cxnSp>
      <p:cxnSp>
        <p:nvCxnSpPr>
          <p:cNvPr id="36" name="Straight Arrow Connector 35"/>
          <p:cNvCxnSpPr>
            <a:stCxn id="32" idx="9"/>
            <a:endCxn id="33" idx="5"/>
          </p:cNvCxnSpPr>
          <p:nvPr/>
        </p:nvCxnSpPr>
        <p:spPr>
          <a:xfrm>
            <a:off x="6503993" y="2274088"/>
            <a:ext cx="180111" cy="263082"/>
          </a:xfrm>
          <a:prstGeom prst="straightConnector1">
            <a:avLst/>
          </a:prstGeom>
          <a:noFill/>
          <a:ln w="0">
            <a:solidFill>
              <a:srgbClr val="000000"/>
            </a:solidFill>
            <a:prstDash val="solid"/>
          </a:ln>
        </p:spPr>
      </p:cxnSp>
      <p:cxnSp>
        <p:nvCxnSpPr>
          <p:cNvPr id="37" name="Straight Arrow Connector 36"/>
          <p:cNvCxnSpPr>
            <a:stCxn id="33" idx="11"/>
            <a:endCxn id="34" idx="7"/>
          </p:cNvCxnSpPr>
          <p:nvPr/>
        </p:nvCxnSpPr>
        <p:spPr>
          <a:xfrm flipV="1">
            <a:off x="6918713" y="2274088"/>
            <a:ext cx="263055" cy="263082"/>
          </a:xfrm>
          <a:prstGeom prst="straightConnector1">
            <a:avLst/>
          </a:prstGeom>
          <a:noFill/>
          <a:ln w="0">
            <a:solidFill>
              <a:srgbClr val="000000"/>
            </a:solidFill>
            <a:prstDash val="solid"/>
          </a:ln>
        </p:spPr>
      </p:cxnSp>
      <p:sp>
        <p:nvSpPr>
          <p:cNvPr id="38" name="Freeform 37"/>
          <p:cNvSpPr/>
          <p:nvPr/>
        </p:nvSpPr>
        <p:spPr>
          <a:xfrm>
            <a:off x="6552576" y="4147635"/>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B</a:t>
            </a:r>
          </a:p>
        </p:txBody>
      </p:sp>
      <p:sp>
        <p:nvSpPr>
          <p:cNvPr id="39" name="Freeform 38"/>
          <p:cNvSpPr/>
          <p:nvPr/>
        </p:nvSpPr>
        <p:spPr>
          <a:xfrm>
            <a:off x="7133184" y="3649919"/>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C</a:t>
            </a:r>
          </a:p>
        </p:txBody>
      </p:sp>
      <p:cxnSp>
        <p:nvCxnSpPr>
          <p:cNvPr id="40" name="Straight Arrow Connector 39"/>
          <p:cNvCxnSpPr>
            <a:stCxn id="44" idx="10"/>
            <a:endCxn id="39" idx="5"/>
          </p:cNvCxnSpPr>
          <p:nvPr/>
        </p:nvCxnSpPr>
        <p:spPr>
          <a:xfrm>
            <a:off x="6967296" y="3401061"/>
            <a:ext cx="214472" cy="297447"/>
          </a:xfrm>
          <a:prstGeom prst="straightConnector1">
            <a:avLst/>
          </a:prstGeom>
          <a:noFill/>
          <a:ln w="0">
            <a:solidFill>
              <a:srgbClr val="000000"/>
            </a:solidFill>
            <a:prstDash val="solid"/>
          </a:ln>
        </p:spPr>
      </p:cxnSp>
      <p:cxnSp>
        <p:nvCxnSpPr>
          <p:cNvPr id="41" name="Straight Arrow Connector 40"/>
          <p:cNvCxnSpPr>
            <a:stCxn id="43" idx="9"/>
            <a:endCxn id="38" idx="6"/>
          </p:cNvCxnSpPr>
          <p:nvPr/>
        </p:nvCxnSpPr>
        <p:spPr>
          <a:xfrm>
            <a:off x="6338104" y="3933142"/>
            <a:ext cx="214472" cy="380399"/>
          </a:xfrm>
          <a:prstGeom prst="straightConnector1">
            <a:avLst/>
          </a:prstGeom>
          <a:noFill/>
          <a:ln w="0">
            <a:solidFill>
              <a:srgbClr val="000000"/>
            </a:solidFill>
            <a:prstDash val="solid"/>
          </a:ln>
        </p:spPr>
      </p:cxnSp>
      <p:cxnSp>
        <p:nvCxnSpPr>
          <p:cNvPr id="42" name="Straight Arrow Connector 41"/>
          <p:cNvCxnSpPr>
            <a:stCxn id="38" idx="10"/>
            <a:endCxn id="39" idx="7"/>
          </p:cNvCxnSpPr>
          <p:nvPr/>
        </p:nvCxnSpPr>
        <p:spPr>
          <a:xfrm flipV="1">
            <a:off x="6884352" y="3933142"/>
            <a:ext cx="297416" cy="380399"/>
          </a:xfrm>
          <a:prstGeom prst="straightConnector1">
            <a:avLst/>
          </a:prstGeom>
          <a:noFill/>
          <a:ln w="0">
            <a:solidFill>
              <a:srgbClr val="000000"/>
            </a:solidFill>
            <a:prstDash val="solid"/>
          </a:ln>
        </p:spPr>
      </p:cxnSp>
      <p:sp>
        <p:nvSpPr>
          <p:cNvPr id="43" name="Freeform 42"/>
          <p:cNvSpPr/>
          <p:nvPr/>
        </p:nvSpPr>
        <p:spPr>
          <a:xfrm>
            <a:off x="6054911" y="3649919"/>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44" name="Freeform 43"/>
          <p:cNvSpPr/>
          <p:nvPr/>
        </p:nvSpPr>
        <p:spPr>
          <a:xfrm>
            <a:off x="6635520" y="3235156"/>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cxnSp>
        <p:nvCxnSpPr>
          <p:cNvPr id="45" name="Straight Arrow Connector 44"/>
          <p:cNvCxnSpPr>
            <a:stCxn id="43" idx="11"/>
            <a:endCxn id="44" idx="6"/>
          </p:cNvCxnSpPr>
          <p:nvPr/>
        </p:nvCxnSpPr>
        <p:spPr>
          <a:xfrm flipV="1">
            <a:off x="6338104" y="3401061"/>
            <a:ext cx="297416" cy="297447"/>
          </a:xfrm>
          <a:prstGeom prst="straightConnector1">
            <a:avLst/>
          </a:prstGeom>
          <a:noFill/>
          <a:ln w="0">
            <a:solidFill>
              <a:srgbClr val="000000"/>
            </a:solidFill>
            <a:prstDash val="solid"/>
          </a:ln>
        </p:spPr>
      </p:cxnSp>
      <p:sp>
        <p:nvSpPr>
          <p:cNvPr id="46" name="Freeform 45"/>
          <p:cNvSpPr/>
          <p:nvPr/>
        </p:nvSpPr>
        <p:spPr>
          <a:xfrm>
            <a:off x="6552576" y="5723737"/>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b</a:t>
            </a:r>
          </a:p>
        </p:txBody>
      </p:sp>
      <p:sp>
        <p:nvSpPr>
          <p:cNvPr id="47" name="Freeform 46"/>
          <p:cNvSpPr/>
          <p:nvPr/>
        </p:nvSpPr>
        <p:spPr>
          <a:xfrm>
            <a:off x="7133184" y="5226021"/>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c</a:t>
            </a:r>
          </a:p>
        </p:txBody>
      </p:sp>
      <p:cxnSp>
        <p:nvCxnSpPr>
          <p:cNvPr id="48" name="Straight Arrow Connector 47"/>
          <p:cNvCxnSpPr>
            <a:stCxn id="52" idx="10"/>
            <a:endCxn id="47" idx="5"/>
          </p:cNvCxnSpPr>
          <p:nvPr/>
        </p:nvCxnSpPr>
        <p:spPr>
          <a:xfrm>
            <a:off x="6967296" y="4977162"/>
            <a:ext cx="214472" cy="297447"/>
          </a:xfrm>
          <a:prstGeom prst="straightConnector1">
            <a:avLst/>
          </a:prstGeom>
          <a:noFill/>
          <a:ln w="0">
            <a:solidFill>
              <a:srgbClr val="000000"/>
            </a:solidFill>
            <a:prstDash val="solid"/>
          </a:ln>
        </p:spPr>
      </p:cxnSp>
      <p:cxnSp>
        <p:nvCxnSpPr>
          <p:cNvPr id="49" name="Straight Arrow Connector 48"/>
          <p:cNvCxnSpPr>
            <a:stCxn id="51" idx="9"/>
            <a:endCxn id="46" idx="6"/>
          </p:cNvCxnSpPr>
          <p:nvPr/>
        </p:nvCxnSpPr>
        <p:spPr>
          <a:xfrm>
            <a:off x="6338104" y="5509243"/>
            <a:ext cx="214472" cy="380399"/>
          </a:xfrm>
          <a:prstGeom prst="straightConnector1">
            <a:avLst/>
          </a:prstGeom>
          <a:noFill/>
          <a:ln w="0">
            <a:solidFill>
              <a:srgbClr val="000000"/>
            </a:solidFill>
            <a:prstDash val="solid"/>
          </a:ln>
        </p:spPr>
      </p:cxnSp>
      <p:cxnSp>
        <p:nvCxnSpPr>
          <p:cNvPr id="50" name="Straight Arrow Connector 49"/>
          <p:cNvCxnSpPr>
            <a:stCxn id="46" idx="10"/>
            <a:endCxn id="47" idx="7"/>
          </p:cNvCxnSpPr>
          <p:nvPr/>
        </p:nvCxnSpPr>
        <p:spPr>
          <a:xfrm flipV="1">
            <a:off x="6884352" y="5509243"/>
            <a:ext cx="297416" cy="380399"/>
          </a:xfrm>
          <a:prstGeom prst="straightConnector1">
            <a:avLst/>
          </a:prstGeom>
          <a:noFill/>
          <a:ln w="0">
            <a:solidFill>
              <a:srgbClr val="000000"/>
            </a:solidFill>
            <a:prstDash val="solid"/>
          </a:ln>
        </p:spPr>
      </p:cxnSp>
      <p:sp>
        <p:nvSpPr>
          <p:cNvPr id="51" name="Freeform 50"/>
          <p:cNvSpPr/>
          <p:nvPr/>
        </p:nvSpPr>
        <p:spPr>
          <a:xfrm>
            <a:off x="6054911" y="5226021"/>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52" name="Freeform 51"/>
          <p:cNvSpPr/>
          <p:nvPr/>
        </p:nvSpPr>
        <p:spPr>
          <a:xfrm>
            <a:off x="6635520" y="4811257"/>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cxnSp>
        <p:nvCxnSpPr>
          <p:cNvPr id="53" name="Straight Arrow Connector 52"/>
          <p:cNvCxnSpPr>
            <a:stCxn id="51" idx="11"/>
            <a:endCxn id="52" idx="6"/>
          </p:cNvCxnSpPr>
          <p:nvPr/>
        </p:nvCxnSpPr>
        <p:spPr>
          <a:xfrm flipV="1">
            <a:off x="6338104" y="4977162"/>
            <a:ext cx="297416" cy="297447"/>
          </a:xfrm>
          <a:prstGeom prst="straightConnector1">
            <a:avLst/>
          </a:prstGeom>
          <a:noFill/>
          <a:ln w="0">
            <a:solidFill>
              <a:srgbClr val="000000"/>
            </a:solidFill>
            <a:prstDash val="solid"/>
          </a:ln>
        </p:spPr>
      </p:cxnSp>
    </p:spTree>
    <p:extLst>
      <p:ext uri="{BB962C8B-B14F-4D97-AF65-F5344CB8AC3E}">
        <p14:creationId xmlns:p14="http://schemas.microsoft.com/office/powerpoint/2010/main" val="4859487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txBox="1">
            <a:spLocks noGrp="1"/>
          </p:cNvSpPr>
          <p:nvPr>
            <p:ph type="body" idx="1"/>
          </p:nvPr>
        </p:nvSpPr>
        <p:spPr>
          <a:prstGeom prst="rect">
            <a:avLst/>
          </a:prstGeom>
        </p:spPr>
        <p:txBody>
          <a:bodyPr lIns="82945" tIns="41473" rIns="82945" bIns="41473"/>
          <a:lstStyle>
            <a:defPPr marL="432000" marR="0" lvl="0" indent="-324000">
              <a:spcBef>
                <a:spcPts val="0"/>
              </a:spcBef>
              <a:spcAft>
                <a:spcPts val="1414"/>
              </a:spcAft>
              <a:buSzPct val="45000"/>
              <a:buFont typeface="StarSymbol"/>
              <a:buNone/>
              <a:defRPr lang="x-none" sz="3200" b="0" i="0" u="none" strike="noStrike" kern="1200">
                <a:ln>
                  <a:noFill/>
                </a:ln>
                <a:latin typeface="Arial" pitchFamily="18"/>
                <a:ea typeface="Arial Unicode MS" pitchFamily="2"/>
                <a:cs typeface="Arial Unicode MS" pitchFamily="2"/>
              </a:defRPr>
            </a:defPPr>
            <a:lvl1pPr marL="432000" marR="0" lvl="0" indent="-324000">
              <a:spcBef>
                <a:spcPts val="0"/>
              </a:spcBef>
              <a:spcAft>
                <a:spcPts val="1414"/>
              </a:spcAft>
              <a:buSzPct val="45000"/>
              <a:buFont typeface="StarSymbol"/>
              <a:buChar char="●"/>
              <a:defRPr lang="x-none" sz="3200" b="0" i="0" u="none" strike="noStrike" kern="1200">
                <a:ln>
                  <a:noFill/>
                </a:ln>
                <a:latin typeface="Arial" pitchFamily="18"/>
                <a:ea typeface="Arial Unicode MS" pitchFamily="2"/>
                <a:cs typeface="Arial Unicode MS" pitchFamily="2"/>
              </a:defRPr>
            </a:lvl1pPr>
            <a:lvl2pPr marL="864000" marR="0" lvl="1" indent="-324000">
              <a:spcBef>
                <a:spcPts val="0"/>
              </a:spcBef>
              <a:spcAft>
                <a:spcPts val="1134"/>
              </a:spcAft>
              <a:buSzPct val="45000"/>
              <a:buFont typeface="StarSymbol"/>
              <a:buChar char="●"/>
              <a:defRPr lang="x-none" sz="2800" b="0" i="0" u="none" strike="noStrike" kern="1200">
                <a:ln>
                  <a:noFill/>
                </a:ln>
                <a:latin typeface="Arial" pitchFamily="18"/>
                <a:ea typeface="Arial Unicode MS" pitchFamily="2"/>
                <a:cs typeface="Arial Unicode MS" pitchFamily="2"/>
              </a:defRPr>
            </a:lvl2pPr>
            <a:lvl3pPr marL="1295999" marR="0" lvl="2" indent="-288000">
              <a:spcBef>
                <a:spcPts val="0"/>
              </a:spcBef>
              <a:spcAft>
                <a:spcPts val="850"/>
              </a:spcAft>
              <a:buSzPct val="75000"/>
              <a:buFont typeface="StarSymbol"/>
              <a:buChar char="–"/>
              <a:defRPr lang="x-none" sz="2400" b="0" i="0" u="none" strike="noStrike" kern="1200">
                <a:ln>
                  <a:noFill/>
                </a:ln>
                <a:latin typeface="Arial" pitchFamily="18"/>
                <a:ea typeface="Arial Unicode MS" pitchFamily="2"/>
                <a:cs typeface="Arial Unicode MS" pitchFamily="2"/>
              </a:defRPr>
            </a:lvl3pPr>
            <a:lvl4pPr marL="1728000" marR="0" lvl="3" indent="-216000">
              <a:spcBef>
                <a:spcPts val="0"/>
              </a:spcBef>
              <a:spcAft>
                <a:spcPts val="567"/>
              </a:spcAft>
              <a:buSzPct val="45000"/>
              <a:buFont typeface="StarSymbol"/>
              <a:buChar char="●"/>
              <a:defRPr lang="x-none" sz="2000" b="0" i="0" u="none" strike="noStrike" kern="1200">
                <a:ln>
                  <a:noFill/>
                </a:ln>
                <a:latin typeface="Arial" pitchFamily="18"/>
                <a:ea typeface="Arial Unicode MS" pitchFamily="2"/>
                <a:cs typeface="Arial Unicode MS" pitchFamily="2"/>
              </a:defRPr>
            </a:lvl4pPr>
            <a:lvl5pPr marL="2160000" marR="0" lvl="4" indent="-216000">
              <a:spcBef>
                <a:spcPts val="0"/>
              </a:spcBef>
              <a:spcAft>
                <a:spcPts val="283"/>
              </a:spcAft>
              <a:buSzPct val="75000"/>
              <a:buFont typeface="StarSymbol"/>
              <a:buChar char="–"/>
              <a:defRPr lang="x-none" sz="2000" b="0" i="0" u="none" strike="noStrike" kern="1200">
                <a:ln>
                  <a:noFill/>
                </a:ln>
                <a:latin typeface="Arial" pitchFamily="18"/>
                <a:ea typeface="Arial Unicode MS" pitchFamily="2"/>
                <a:cs typeface="Arial Unicode MS" pitchFamily="2"/>
              </a:defRPr>
            </a:lvl5pPr>
            <a:lvl6pPr marL="2592000" marR="0" lvl="5"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6pPr>
            <a:lvl7pPr marL="3024000" marR="0" lvl="6"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7pPr>
            <a:lvl8pPr marL="3456000" marR="0" lvl="7"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8pPr>
            <a:lvl9pPr marL="3887999" marR="0" lvl="8"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9pPr>
          </a:lstStyle>
          <a:p>
            <a:pPr lvl="0">
              <a:buNone/>
            </a:pPr>
            <a:r>
              <a:rPr lang="nl-NL" sz="4800" dirty="0" smtClean="0">
                <a:latin typeface="COMMIT" pitchFamily="81" charset="0"/>
              </a:rPr>
              <a:t>WP1 – Graph simplification</a:t>
            </a:r>
            <a:endParaRPr lang="x-none" sz="4800">
              <a:latin typeface="COMMIT" pitchFamily="81" charset="0"/>
            </a:endParaRPr>
          </a:p>
        </p:txBody>
      </p:sp>
      <p:sp>
        <p:nvSpPr>
          <p:cNvPr id="4" name="Text Placeholder 3"/>
          <p:cNvSpPr txBox="1">
            <a:spLocks noGrp="1"/>
          </p:cNvSpPr>
          <p:nvPr>
            <p:ph type="body" sz="quarter" idx="10"/>
          </p:nvPr>
        </p:nvSpPr>
        <p:spPr>
          <a:prstGeom prst="rect">
            <a:avLst/>
          </a:prstGeom>
        </p:spPr>
        <p:txBody>
          <a:bodyPr lIns="82945" tIns="41473" rIns="82945" bIns="41473"/>
          <a:lstStyle>
            <a:defPPr marL="432000" marR="0" lvl="0" indent="-324000">
              <a:spcBef>
                <a:spcPts val="0"/>
              </a:spcBef>
              <a:spcAft>
                <a:spcPts val="1414"/>
              </a:spcAft>
              <a:buSzPct val="45000"/>
              <a:buFont typeface="StarSymbol"/>
              <a:buNone/>
              <a:defRPr lang="x-none" sz="3200" b="0" i="0" u="none" strike="noStrike" kern="1200">
                <a:ln>
                  <a:noFill/>
                </a:ln>
                <a:latin typeface="Arial" pitchFamily="18"/>
                <a:ea typeface="Arial Unicode MS" pitchFamily="2"/>
                <a:cs typeface="Arial Unicode MS" pitchFamily="2"/>
              </a:defRPr>
            </a:defPPr>
            <a:lvl1pPr marL="432000" marR="0" lvl="0" indent="-324000">
              <a:spcBef>
                <a:spcPts val="0"/>
              </a:spcBef>
              <a:spcAft>
                <a:spcPts val="1414"/>
              </a:spcAft>
              <a:buSzPct val="45000"/>
              <a:buFont typeface="StarSymbol"/>
              <a:buChar char="●"/>
              <a:defRPr lang="x-none" sz="3200" b="0" i="0" u="none" strike="noStrike" kern="1200">
                <a:ln>
                  <a:noFill/>
                </a:ln>
                <a:latin typeface="Arial" pitchFamily="18"/>
                <a:ea typeface="Arial Unicode MS" pitchFamily="2"/>
                <a:cs typeface="Arial Unicode MS" pitchFamily="2"/>
              </a:defRPr>
            </a:lvl1pPr>
            <a:lvl2pPr marL="864000" marR="0" lvl="1" indent="-324000">
              <a:spcBef>
                <a:spcPts val="0"/>
              </a:spcBef>
              <a:spcAft>
                <a:spcPts val="1134"/>
              </a:spcAft>
              <a:buSzPct val="45000"/>
              <a:buFont typeface="StarSymbol"/>
              <a:buChar char="●"/>
              <a:defRPr lang="x-none" sz="2800" b="0" i="0" u="none" strike="noStrike" kern="1200">
                <a:ln>
                  <a:noFill/>
                </a:ln>
                <a:latin typeface="Arial" pitchFamily="18"/>
                <a:ea typeface="Arial Unicode MS" pitchFamily="2"/>
                <a:cs typeface="Arial Unicode MS" pitchFamily="2"/>
              </a:defRPr>
            </a:lvl2pPr>
            <a:lvl3pPr marL="1295999" marR="0" lvl="2" indent="-288000">
              <a:spcBef>
                <a:spcPts val="0"/>
              </a:spcBef>
              <a:spcAft>
                <a:spcPts val="850"/>
              </a:spcAft>
              <a:buSzPct val="75000"/>
              <a:buFont typeface="StarSymbol"/>
              <a:buChar char="–"/>
              <a:defRPr lang="x-none" sz="2400" b="0" i="0" u="none" strike="noStrike" kern="1200">
                <a:ln>
                  <a:noFill/>
                </a:ln>
                <a:latin typeface="Arial" pitchFamily="18"/>
                <a:ea typeface="Arial Unicode MS" pitchFamily="2"/>
                <a:cs typeface="Arial Unicode MS" pitchFamily="2"/>
              </a:defRPr>
            </a:lvl3pPr>
            <a:lvl4pPr marL="1728000" marR="0" lvl="3" indent="-216000">
              <a:spcBef>
                <a:spcPts val="0"/>
              </a:spcBef>
              <a:spcAft>
                <a:spcPts val="567"/>
              </a:spcAft>
              <a:buSzPct val="45000"/>
              <a:buFont typeface="StarSymbol"/>
              <a:buChar char="●"/>
              <a:defRPr lang="x-none" sz="2000" b="0" i="0" u="none" strike="noStrike" kern="1200">
                <a:ln>
                  <a:noFill/>
                </a:ln>
                <a:latin typeface="Arial" pitchFamily="18"/>
                <a:ea typeface="Arial Unicode MS" pitchFamily="2"/>
                <a:cs typeface="Arial Unicode MS" pitchFamily="2"/>
              </a:defRPr>
            </a:lvl4pPr>
            <a:lvl5pPr marL="2160000" marR="0" lvl="4" indent="-216000">
              <a:spcBef>
                <a:spcPts val="0"/>
              </a:spcBef>
              <a:spcAft>
                <a:spcPts val="283"/>
              </a:spcAft>
              <a:buSzPct val="75000"/>
              <a:buFont typeface="StarSymbol"/>
              <a:buChar char="–"/>
              <a:defRPr lang="x-none" sz="2000" b="0" i="0" u="none" strike="noStrike" kern="1200">
                <a:ln>
                  <a:noFill/>
                </a:ln>
                <a:latin typeface="Arial" pitchFamily="18"/>
                <a:ea typeface="Arial Unicode MS" pitchFamily="2"/>
                <a:cs typeface="Arial Unicode MS" pitchFamily="2"/>
              </a:defRPr>
            </a:lvl5pPr>
            <a:lvl6pPr marL="2592000" marR="0" lvl="5"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6pPr>
            <a:lvl7pPr marL="3024000" marR="0" lvl="6"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7pPr>
            <a:lvl8pPr marL="3456000" marR="0" lvl="7"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8pPr>
            <a:lvl9pPr marL="3887999" marR="0" lvl="8"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9pPr>
          </a:lstStyle>
          <a:p>
            <a:pPr marL="108000" indent="0">
              <a:buNone/>
            </a:pPr>
            <a:endParaRPr lang="nl-NL" i="1" dirty="0" smtClean="0"/>
          </a:p>
          <a:p>
            <a:pPr marL="108000" indent="0">
              <a:buNone/>
            </a:pPr>
            <a:r>
              <a:rPr lang="nl-NL" dirty="0" smtClean="0"/>
              <a:t>Simple							Complete</a:t>
            </a:r>
            <a:endParaRPr lang="x-none"/>
          </a:p>
        </p:txBody>
      </p:sp>
      <p:sp>
        <p:nvSpPr>
          <p:cNvPr id="5" name="TextBox 4"/>
          <p:cNvSpPr txBox="1"/>
          <p:nvPr/>
        </p:nvSpPr>
        <p:spPr>
          <a:xfrm>
            <a:off x="718413" y="3233850"/>
            <a:ext cx="723167" cy="318399"/>
          </a:xfrm>
          <a:prstGeom prst="rect">
            <a:avLst/>
          </a:prstGeom>
          <a:noFill/>
          <a:ln>
            <a:noFill/>
          </a:ln>
        </p:spPr>
        <p:txBody>
          <a:bodyPr vert="horz" wrap="none" lIns="81639" tIns="40820" rIns="81639" bIns="40820" anchorCtr="0" compatLnSpc="0">
            <a:spAutoFit/>
          </a:bodyPr>
          <a:lstStyle/>
          <a:p>
            <a:pPr hangingPunct="0"/>
            <a:r>
              <a:rPr lang="x-none" sz="1600">
                <a:solidFill>
                  <a:srgbClr val="004586"/>
                </a:solidFill>
                <a:latin typeface="Optima" pitchFamily="18"/>
                <a:ea typeface="Arial Unicode MS" pitchFamily="2"/>
                <a:cs typeface="Arial Unicode MS" pitchFamily="2"/>
              </a:rPr>
              <a:t>patient</a:t>
            </a:r>
          </a:p>
        </p:txBody>
      </p:sp>
      <p:sp>
        <p:nvSpPr>
          <p:cNvPr id="6" name="Straight Connector 5"/>
          <p:cNvSpPr/>
          <p:nvPr/>
        </p:nvSpPr>
        <p:spPr>
          <a:xfrm>
            <a:off x="1576262" y="3403021"/>
            <a:ext cx="1824769" cy="0"/>
          </a:xfrm>
          <a:prstGeom prst="line">
            <a:avLst/>
          </a:prstGeom>
          <a:noFill/>
          <a:ln w="36720">
            <a:solidFill>
              <a:srgbClr val="999999"/>
            </a:solidFill>
            <a:prstDash val="solid"/>
            <a:tailEnd type="arrow"/>
          </a:ln>
        </p:spPr>
        <p:txBody>
          <a:bodyPr vert="horz" wrap="none" lIns="97967" tIns="57147" rIns="97967" bIns="57147" anchor="ctr" anchorCtr="0" compatLnSpc="0"/>
          <a:lstStyle/>
          <a:p>
            <a:pPr hangingPunct="0"/>
            <a:endParaRPr lang="x-none" sz="1600">
              <a:latin typeface="Arial" pitchFamily="18"/>
              <a:ea typeface="Arial Unicode MS" pitchFamily="2"/>
              <a:cs typeface="Arial Unicode MS" pitchFamily="2"/>
            </a:endParaRPr>
          </a:p>
        </p:txBody>
      </p:sp>
      <p:sp>
        <p:nvSpPr>
          <p:cNvPr id="7" name="TextBox 6"/>
          <p:cNvSpPr txBox="1"/>
          <p:nvPr/>
        </p:nvSpPr>
        <p:spPr>
          <a:xfrm>
            <a:off x="3566919" y="3237116"/>
            <a:ext cx="621792" cy="318399"/>
          </a:xfrm>
          <a:prstGeom prst="rect">
            <a:avLst/>
          </a:prstGeom>
          <a:noFill/>
          <a:ln>
            <a:noFill/>
          </a:ln>
        </p:spPr>
        <p:txBody>
          <a:bodyPr vert="horz" wrap="none" lIns="81639" tIns="40820" rIns="81639" bIns="40820" anchorCtr="0" compatLnSpc="0">
            <a:spAutoFit/>
          </a:bodyPr>
          <a:lstStyle/>
          <a:p>
            <a:pPr hangingPunct="0"/>
            <a:r>
              <a:rPr lang="x-none" sz="1600">
                <a:solidFill>
                  <a:srgbClr val="004586"/>
                </a:solidFill>
                <a:latin typeface="Optima" pitchFamily="18"/>
                <a:ea typeface="Arial Unicode MS" pitchFamily="2"/>
                <a:cs typeface="Arial Unicode MS" pitchFamily="2"/>
              </a:rPr>
              <a:t>37 ºC</a:t>
            </a:r>
          </a:p>
        </p:txBody>
      </p:sp>
      <p:sp>
        <p:nvSpPr>
          <p:cNvPr id="8" name="TextBox 7"/>
          <p:cNvSpPr txBox="1"/>
          <p:nvPr/>
        </p:nvSpPr>
        <p:spPr>
          <a:xfrm>
            <a:off x="1933510" y="3071210"/>
            <a:ext cx="899882" cy="318399"/>
          </a:xfrm>
          <a:prstGeom prst="rect">
            <a:avLst/>
          </a:prstGeom>
          <a:noFill/>
          <a:ln>
            <a:noFill/>
          </a:ln>
        </p:spPr>
        <p:txBody>
          <a:bodyPr vert="horz" wrap="none" lIns="81639" tIns="40820" rIns="81639" bIns="40820" anchorCtr="0" compatLnSpc="0">
            <a:spAutoFit/>
          </a:bodyPr>
          <a:lstStyle/>
          <a:p>
            <a:pPr hangingPunct="0"/>
            <a:r>
              <a:rPr lang="x-none" sz="1600">
                <a:solidFill>
                  <a:srgbClr val="999999"/>
                </a:solidFill>
                <a:latin typeface="Optima" pitchFamily="18"/>
                <a:ea typeface="Arial Unicode MS" pitchFamily="2"/>
                <a:cs typeface="Arial Unicode MS" pitchFamily="2"/>
              </a:rPr>
              <a:t>has temp</a:t>
            </a:r>
          </a:p>
        </p:txBody>
      </p:sp>
      <p:sp>
        <p:nvSpPr>
          <p:cNvPr id="9" name="TextBox 8"/>
          <p:cNvSpPr txBox="1"/>
          <p:nvPr/>
        </p:nvSpPr>
        <p:spPr>
          <a:xfrm>
            <a:off x="4811079" y="3233850"/>
            <a:ext cx="723167" cy="318399"/>
          </a:xfrm>
          <a:prstGeom prst="rect">
            <a:avLst/>
          </a:prstGeom>
          <a:noFill/>
          <a:ln>
            <a:noFill/>
          </a:ln>
        </p:spPr>
        <p:txBody>
          <a:bodyPr vert="horz" wrap="none" lIns="81639" tIns="40820" rIns="81639" bIns="40820" anchorCtr="0" compatLnSpc="0">
            <a:spAutoFit/>
          </a:bodyPr>
          <a:lstStyle/>
          <a:p>
            <a:pPr hangingPunct="0"/>
            <a:r>
              <a:rPr lang="x-none" sz="1600">
                <a:solidFill>
                  <a:srgbClr val="004586"/>
                </a:solidFill>
                <a:latin typeface="Optima" pitchFamily="18"/>
                <a:ea typeface="Arial Unicode MS" pitchFamily="2"/>
                <a:cs typeface="Arial Unicode MS" pitchFamily="2"/>
              </a:rPr>
              <a:t>patient</a:t>
            </a:r>
          </a:p>
        </p:txBody>
      </p:sp>
      <p:sp>
        <p:nvSpPr>
          <p:cNvPr id="10" name="Straight Connector 9"/>
          <p:cNvSpPr/>
          <p:nvPr/>
        </p:nvSpPr>
        <p:spPr>
          <a:xfrm>
            <a:off x="5640519" y="3403021"/>
            <a:ext cx="1161216" cy="0"/>
          </a:xfrm>
          <a:prstGeom prst="line">
            <a:avLst/>
          </a:prstGeom>
          <a:noFill/>
          <a:ln w="36720">
            <a:solidFill>
              <a:srgbClr val="999999"/>
            </a:solidFill>
            <a:prstDash val="solid"/>
            <a:tailEnd type="arrow"/>
          </a:ln>
        </p:spPr>
        <p:txBody>
          <a:bodyPr vert="horz" wrap="none" lIns="97967" tIns="57147" rIns="97967" bIns="57147" anchor="ctr" anchorCtr="0" compatLnSpc="0"/>
          <a:lstStyle/>
          <a:p>
            <a:pPr hangingPunct="0"/>
            <a:endParaRPr lang="x-none" sz="1600">
              <a:latin typeface="Arial" pitchFamily="18"/>
              <a:ea typeface="Arial Unicode MS" pitchFamily="2"/>
              <a:cs typeface="Arial Unicode MS" pitchFamily="2"/>
            </a:endParaRPr>
          </a:p>
        </p:txBody>
      </p:sp>
      <p:sp>
        <p:nvSpPr>
          <p:cNvPr id="11" name="TextBox 10"/>
          <p:cNvSpPr txBox="1"/>
          <p:nvPr/>
        </p:nvSpPr>
        <p:spPr>
          <a:xfrm>
            <a:off x="8294727" y="3237116"/>
            <a:ext cx="370057" cy="318399"/>
          </a:xfrm>
          <a:prstGeom prst="rect">
            <a:avLst/>
          </a:prstGeom>
          <a:noFill/>
          <a:ln>
            <a:noFill/>
          </a:ln>
        </p:spPr>
        <p:txBody>
          <a:bodyPr vert="horz" wrap="none" lIns="81639" tIns="40820" rIns="81639" bIns="40820" anchorCtr="0" compatLnSpc="0">
            <a:spAutoFit/>
          </a:bodyPr>
          <a:lstStyle/>
          <a:p>
            <a:pPr hangingPunct="0"/>
            <a:r>
              <a:rPr lang="x-none" sz="1600">
                <a:solidFill>
                  <a:srgbClr val="004586"/>
                </a:solidFill>
                <a:latin typeface="Optima" pitchFamily="18"/>
                <a:ea typeface="Arial Unicode MS" pitchFamily="2"/>
                <a:cs typeface="Arial Unicode MS" pitchFamily="2"/>
              </a:rPr>
              <a:t>37</a:t>
            </a:r>
          </a:p>
        </p:txBody>
      </p:sp>
      <p:sp>
        <p:nvSpPr>
          <p:cNvPr id="12" name="TextBox 11"/>
          <p:cNvSpPr txBox="1"/>
          <p:nvPr/>
        </p:nvSpPr>
        <p:spPr>
          <a:xfrm>
            <a:off x="5640519" y="3074803"/>
            <a:ext cx="899882" cy="318399"/>
          </a:xfrm>
          <a:prstGeom prst="rect">
            <a:avLst/>
          </a:prstGeom>
          <a:noFill/>
          <a:ln>
            <a:noFill/>
          </a:ln>
        </p:spPr>
        <p:txBody>
          <a:bodyPr vert="horz" wrap="none" lIns="81639" tIns="40820" rIns="81639" bIns="40820" anchorCtr="0" compatLnSpc="0">
            <a:spAutoFit/>
          </a:bodyPr>
          <a:lstStyle/>
          <a:p>
            <a:pPr hangingPunct="0"/>
            <a:r>
              <a:rPr lang="x-none" sz="1600">
                <a:solidFill>
                  <a:srgbClr val="999999"/>
                </a:solidFill>
                <a:latin typeface="Optima" pitchFamily="18"/>
                <a:ea typeface="Arial Unicode MS" pitchFamily="2"/>
                <a:cs typeface="Arial Unicode MS" pitchFamily="2"/>
              </a:rPr>
              <a:t>has temp</a:t>
            </a:r>
          </a:p>
        </p:txBody>
      </p:sp>
      <p:sp>
        <p:nvSpPr>
          <p:cNvPr id="13" name="TextBox 12"/>
          <p:cNvSpPr txBox="1"/>
          <p:nvPr/>
        </p:nvSpPr>
        <p:spPr>
          <a:xfrm>
            <a:off x="6884678" y="3223073"/>
            <a:ext cx="575113" cy="318399"/>
          </a:xfrm>
          <a:prstGeom prst="rect">
            <a:avLst/>
          </a:prstGeom>
          <a:noFill/>
          <a:ln>
            <a:noFill/>
          </a:ln>
        </p:spPr>
        <p:txBody>
          <a:bodyPr vert="horz" wrap="none" lIns="81639" tIns="40820" rIns="81639" bIns="40820" anchorCtr="0" compatLnSpc="0">
            <a:spAutoFit/>
          </a:bodyPr>
          <a:lstStyle/>
          <a:p>
            <a:pPr hangingPunct="0"/>
            <a:r>
              <a:rPr lang="x-none" sz="1600">
                <a:solidFill>
                  <a:srgbClr val="004586"/>
                </a:solidFill>
                <a:latin typeface="Optima" pitchFamily="18"/>
                <a:ea typeface="Arial Unicode MS" pitchFamily="2"/>
                <a:cs typeface="Arial Unicode MS" pitchFamily="2"/>
              </a:rPr>
              <a:t>temp</a:t>
            </a:r>
          </a:p>
        </p:txBody>
      </p:sp>
      <p:sp>
        <p:nvSpPr>
          <p:cNvPr id="14" name="TextBox 13"/>
          <p:cNvSpPr txBox="1"/>
          <p:nvPr/>
        </p:nvSpPr>
        <p:spPr>
          <a:xfrm>
            <a:off x="8294727" y="3900738"/>
            <a:ext cx="372595" cy="328217"/>
          </a:xfrm>
          <a:prstGeom prst="rect">
            <a:avLst/>
          </a:prstGeom>
          <a:noFill/>
          <a:ln>
            <a:noFill/>
          </a:ln>
        </p:spPr>
        <p:txBody>
          <a:bodyPr vert="horz" wrap="none" lIns="81639" tIns="40820" rIns="81639" bIns="40820" anchorCtr="0" compatLnSpc="0">
            <a:spAutoFit/>
          </a:bodyPr>
          <a:lstStyle/>
          <a:p>
            <a:pPr hangingPunct="0"/>
            <a:r>
              <a:rPr lang="x-none" sz="1600">
                <a:solidFill>
                  <a:srgbClr val="004586"/>
                </a:solidFill>
                <a:latin typeface="Optima" pitchFamily="18"/>
                <a:ea typeface="Arial Unicode MS" pitchFamily="2"/>
                <a:cs typeface="Arial Unicode MS" pitchFamily="2"/>
              </a:rPr>
              <a:t>ºC</a:t>
            </a:r>
          </a:p>
        </p:txBody>
      </p:sp>
      <p:sp>
        <p:nvSpPr>
          <p:cNvPr id="15" name="Straight Connector 14"/>
          <p:cNvSpPr/>
          <p:nvPr/>
        </p:nvSpPr>
        <p:spPr>
          <a:xfrm>
            <a:off x="7497941" y="3403021"/>
            <a:ext cx="715801" cy="0"/>
          </a:xfrm>
          <a:prstGeom prst="line">
            <a:avLst/>
          </a:prstGeom>
          <a:noFill/>
          <a:ln w="36720">
            <a:solidFill>
              <a:srgbClr val="999999"/>
            </a:solidFill>
            <a:prstDash val="solid"/>
            <a:tailEnd type="arrow"/>
          </a:ln>
        </p:spPr>
        <p:txBody>
          <a:bodyPr vert="horz" wrap="none" lIns="97967" tIns="57147" rIns="97967" bIns="57147" anchor="ctr" anchorCtr="0" compatLnSpc="0"/>
          <a:lstStyle/>
          <a:p>
            <a:pPr hangingPunct="0"/>
            <a:endParaRPr lang="x-none" sz="1600">
              <a:latin typeface="Arial" pitchFamily="18"/>
              <a:ea typeface="Arial Unicode MS" pitchFamily="2"/>
              <a:cs typeface="Arial Unicode MS" pitchFamily="2"/>
            </a:endParaRPr>
          </a:p>
        </p:txBody>
      </p:sp>
      <p:sp>
        <p:nvSpPr>
          <p:cNvPr id="16" name="Straight Connector 15"/>
          <p:cNvSpPr/>
          <p:nvPr/>
        </p:nvSpPr>
        <p:spPr>
          <a:xfrm>
            <a:off x="7465287" y="3651878"/>
            <a:ext cx="717759" cy="414764"/>
          </a:xfrm>
          <a:prstGeom prst="line">
            <a:avLst/>
          </a:prstGeom>
          <a:noFill/>
          <a:ln w="36720">
            <a:solidFill>
              <a:srgbClr val="999999"/>
            </a:solidFill>
            <a:prstDash val="solid"/>
            <a:tailEnd type="arrow"/>
          </a:ln>
        </p:spPr>
        <p:txBody>
          <a:bodyPr vert="horz" wrap="none" lIns="97967" tIns="57147" rIns="97967" bIns="57147" anchor="ctr" anchorCtr="0" compatLnSpc="0"/>
          <a:lstStyle/>
          <a:p>
            <a:pPr hangingPunct="0"/>
            <a:endParaRPr lang="x-none" sz="1600">
              <a:latin typeface="Arial" pitchFamily="18"/>
              <a:ea typeface="Arial Unicode MS" pitchFamily="2"/>
              <a:cs typeface="Arial Unicode MS" pitchFamily="2"/>
            </a:endParaRPr>
          </a:p>
        </p:txBody>
      </p:sp>
    </p:spTree>
    <p:extLst>
      <p:ext uri="{BB962C8B-B14F-4D97-AF65-F5344CB8AC3E}">
        <p14:creationId xmlns:p14="http://schemas.microsoft.com/office/powerpoint/2010/main" val="13104781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Placeholder 25"/>
          <p:cNvSpPr txBox="1">
            <a:spLocks noGrp="1"/>
          </p:cNvSpPr>
          <p:nvPr>
            <p:ph type="body" idx="1"/>
          </p:nvPr>
        </p:nvSpPr>
        <p:spPr>
          <a:prstGeom prst="rect">
            <a:avLst/>
          </a:prstGeom>
        </p:spPr>
        <p:txBody>
          <a:bodyPr lIns="82945" tIns="41473" rIns="82945" bIns="41473"/>
          <a:lstStyle>
            <a:defPPr marL="432000" marR="0" lvl="0" indent="-324000">
              <a:spcBef>
                <a:spcPts val="0"/>
              </a:spcBef>
              <a:spcAft>
                <a:spcPts val="1414"/>
              </a:spcAft>
              <a:buSzPct val="45000"/>
              <a:buFont typeface="StarSymbol"/>
              <a:buNone/>
              <a:defRPr lang="x-none" sz="3200" b="0" i="0" u="none" strike="noStrike" kern="1200">
                <a:ln>
                  <a:noFill/>
                </a:ln>
                <a:latin typeface="Arial" pitchFamily="18"/>
                <a:ea typeface="Arial Unicode MS" pitchFamily="2"/>
                <a:cs typeface="Arial Unicode MS" pitchFamily="2"/>
              </a:defRPr>
            </a:defPPr>
            <a:lvl1pPr marL="432000" marR="0" lvl="0" indent="-324000">
              <a:spcBef>
                <a:spcPts val="0"/>
              </a:spcBef>
              <a:spcAft>
                <a:spcPts val="1414"/>
              </a:spcAft>
              <a:buSzPct val="45000"/>
              <a:buFont typeface="StarSymbol"/>
              <a:buChar char="●"/>
              <a:defRPr lang="x-none" sz="3200" b="0" i="0" u="none" strike="noStrike" kern="1200">
                <a:ln>
                  <a:noFill/>
                </a:ln>
                <a:latin typeface="Arial" pitchFamily="18"/>
                <a:ea typeface="Arial Unicode MS" pitchFamily="2"/>
                <a:cs typeface="Arial Unicode MS" pitchFamily="2"/>
              </a:defRPr>
            </a:lvl1pPr>
            <a:lvl2pPr marL="864000" marR="0" lvl="1" indent="-324000">
              <a:spcBef>
                <a:spcPts val="0"/>
              </a:spcBef>
              <a:spcAft>
                <a:spcPts val="1134"/>
              </a:spcAft>
              <a:buSzPct val="45000"/>
              <a:buFont typeface="StarSymbol"/>
              <a:buChar char="●"/>
              <a:defRPr lang="x-none" sz="2800" b="0" i="0" u="none" strike="noStrike" kern="1200">
                <a:ln>
                  <a:noFill/>
                </a:ln>
                <a:latin typeface="Arial" pitchFamily="18"/>
                <a:ea typeface="Arial Unicode MS" pitchFamily="2"/>
                <a:cs typeface="Arial Unicode MS" pitchFamily="2"/>
              </a:defRPr>
            </a:lvl2pPr>
            <a:lvl3pPr marL="1295999" marR="0" lvl="2" indent="-288000">
              <a:spcBef>
                <a:spcPts val="0"/>
              </a:spcBef>
              <a:spcAft>
                <a:spcPts val="850"/>
              </a:spcAft>
              <a:buSzPct val="75000"/>
              <a:buFont typeface="StarSymbol"/>
              <a:buChar char="–"/>
              <a:defRPr lang="x-none" sz="2400" b="0" i="0" u="none" strike="noStrike" kern="1200">
                <a:ln>
                  <a:noFill/>
                </a:ln>
                <a:latin typeface="Arial" pitchFamily="18"/>
                <a:ea typeface="Arial Unicode MS" pitchFamily="2"/>
                <a:cs typeface="Arial Unicode MS" pitchFamily="2"/>
              </a:defRPr>
            </a:lvl3pPr>
            <a:lvl4pPr marL="1728000" marR="0" lvl="3" indent="-216000">
              <a:spcBef>
                <a:spcPts val="0"/>
              </a:spcBef>
              <a:spcAft>
                <a:spcPts val="567"/>
              </a:spcAft>
              <a:buSzPct val="45000"/>
              <a:buFont typeface="StarSymbol"/>
              <a:buChar char="●"/>
              <a:defRPr lang="x-none" sz="2000" b="0" i="0" u="none" strike="noStrike" kern="1200">
                <a:ln>
                  <a:noFill/>
                </a:ln>
                <a:latin typeface="Arial" pitchFamily="18"/>
                <a:ea typeface="Arial Unicode MS" pitchFamily="2"/>
                <a:cs typeface="Arial Unicode MS" pitchFamily="2"/>
              </a:defRPr>
            </a:lvl4pPr>
            <a:lvl5pPr marL="2160000" marR="0" lvl="4" indent="-216000">
              <a:spcBef>
                <a:spcPts val="0"/>
              </a:spcBef>
              <a:spcAft>
                <a:spcPts val="283"/>
              </a:spcAft>
              <a:buSzPct val="75000"/>
              <a:buFont typeface="StarSymbol"/>
              <a:buChar char="–"/>
              <a:defRPr lang="x-none" sz="2000" b="0" i="0" u="none" strike="noStrike" kern="1200">
                <a:ln>
                  <a:noFill/>
                </a:ln>
                <a:latin typeface="Arial" pitchFamily="18"/>
                <a:ea typeface="Arial Unicode MS" pitchFamily="2"/>
                <a:cs typeface="Arial Unicode MS" pitchFamily="2"/>
              </a:defRPr>
            </a:lvl5pPr>
            <a:lvl6pPr marL="2592000" marR="0" lvl="5"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6pPr>
            <a:lvl7pPr marL="3024000" marR="0" lvl="6"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7pPr>
            <a:lvl8pPr marL="3456000" marR="0" lvl="7"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8pPr>
            <a:lvl9pPr marL="3887999" marR="0" lvl="8"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9pPr>
          </a:lstStyle>
          <a:p>
            <a:pPr marL="108000" lvl="0" indent="0">
              <a:buNone/>
            </a:pPr>
            <a:r>
              <a:rPr lang="nl-NL" sz="4800" dirty="0" smtClean="0">
                <a:latin typeface="COMMIT" pitchFamily="81" charset="0"/>
              </a:rPr>
              <a:t>WP1 – graph visualization</a:t>
            </a:r>
            <a:endParaRPr lang="x-none" sz="4800">
              <a:latin typeface="COMMIT" pitchFamily="81" charset="0"/>
            </a:endParaRPr>
          </a:p>
        </p:txBody>
      </p:sp>
      <p:sp>
        <p:nvSpPr>
          <p:cNvPr id="28" name="Text Placeholder 27"/>
          <p:cNvSpPr>
            <a:spLocks noGrp="1"/>
          </p:cNvSpPr>
          <p:nvPr>
            <p:ph type="body" sz="quarter" idx="10"/>
          </p:nvPr>
        </p:nvSpPr>
        <p:spPr>
          <a:xfrm>
            <a:off x="2189407" y="1468277"/>
            <a:ext cx="6722473" cy="5192582"/>
          </a:xfrm>
        </p:spPr>
        <p:txBody>
          <a:bodyPr/>
          <a:lstStyle/>
          <a:p>
            <a:pPr lvl="0"/>
            <a:r>
              <a:rPr lang="x-none"/>
              <a:t>A grammatical parse provides a leveled view of the graph, hiding the complexity that makes graphs difficult to visualize.</a:t>
            </a:r>
          </a:p>
          <a:p>
            <a:endParaRPr lang="nl-NL" dirty="0"/>
          </a:p>
        </p:txBody>
      </p:sp>
      <p:sp>
        <p:nvSpPr>
          <p:cNvPr id="3" name="Freeform 2"/>
          <p:cNvSpPr/>
          <p:nvPr/>
        </p:nvSpPr>
        <p:spPr>
          <a:xfrm>
            <a:off x="1194198" y="1603861"/>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S</a:t>
            </a:r>
          </a:p>
        </p:txBody>
      </p:sp>
      <p:sp>
        <p:nvSpPr>
          <p:cNvPr id="4" name="Freeform 3"/>
          <p:cNvSpPr/>
          <p:nvPr/>
        </p:nvSpPr>
        <p:spPr>
          <a:xfrm>
            <a:off x="779478" y="2267483"/>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5" name="Freeform 4"/>
          <p:cNvSpPr/>
          <p:nvPr/>
        </p:nvSpPr>
        <p:spPr>
          <a:xfrm>
            <a:off x="1194198" y="2765199"/>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B</a:t>
            </a:r>
          </a:p>
        </p:txBody>
      </p:sp>
      <p:sp>
        <p:nvSpPr>
          <p:cNvPr id="6" name="Freeform 5"/>
          <p:cNvSpPr/>
          <p:nvPr/>
        </p:nvSpPr>
        <p:spPr>
          <a:xfrm>
            <a:off x="1691862" y="2267483"/>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C</a:t>
            </a:r>
          </a:p>
        </p:txBody>
      </p:sp>
      <p:cxnSp>
        <p:nvCxnSpPr>
          <p:cNvPr id="7" name="Straight Arrow Connector 6"/>
          <p:cNvCxnSpPr>
            <a:stCxn id="4" idx="10"/>
            <a:endCxn id="6" idx="6"/>
          </p:cNvCxnSpPr>
          <p:nvPr/>
        </p:nvCxnSpPr>
        <p:spPr>
          <a:xfrm>
            <a:off x="1111254" y="2433388"/>
            <a:ext cx="580608" cy="0"/>
          </a:xfrm>
          <a:prstGeom prst="straightConnector1">
            <a:avLst/>
          </a:prstGeom>
          <a:noFill/>
          <a:ln w="0">
            <a:solidFill>
              <a:srgbClr val="000000"/>
            </a:solidFill>
            <a:prstDash val="solid"/>
          </a:ln>
        </p:spPr>
      </p:cxnSp>
      <p:cxnSp>
        <p:nvCxnSpPr>
          <p:cNvPr id="8" name="Straight Arrow Connector 7"/>
          <p:cNvCxnSpPr>
            <a:stCxn id="4" idx="9"/>
            <a:endCxn id="5" idx="5"/>
          </p:cNvCxnSpPr>
          <p:nvPr/>
        </p:nvCxnSpPr>
        <p:spPr>
          <a:xfrm>
            <a:off x="1062670" y="2550705"/>
            <a:ext cx="180111" cy="263083"/>
          </a:xfrm>
          <a:prstGeom prst="straightConnector1">
            <a:avLst/>
          </a:prstGeom>
          <a:noFill/>
          <a:ln w="0">
            <a:solidFill>
              <a:srgbClr val="000000"/>
            </a:solidFill>
            <a:prstDash val="solid"/>
          </a:ln>
        </p:spPr>
      </p:cxnSp>
      <p:cxnSp>
        <p:nvCxnSpPr>
          <p:cNvPr id="9" name="Straight Arrow Connector 8"/>
          <p:cNvCxnSpPr>
            <a:stCxn id="5" idx="11"/>
            <a:endCxn id="6" idx="7"/>
          </p:cNvCxnSpPr>
          <p:nvPr/>
        </p:nvCxnSpPr>
        <p:spPr>
          <a:xfrm flipV="1">
            <a:off x="1477390" y="2550705"/>
            <a:ext cx="263055" cy="263083"/>
          </a:xfrm>
          <a:prstGeom prst="straightConnector1">
            <a:avLst/>
          </a:prstGeom>
          <a:noFill/>
          <a:ln w="0">
            <a:solidFill>
              <a:srgbClr val="000000"/>
            </a:solidFill>
            <a:prstDash val="solid"/>
          </a:ln>
        </p:spPr>
      </p:cxnSp>
      <p:sp>
        <p:nvSpPr>
          <p:cNvPr id="10" name="Freeform 9"/>
          <p:cNvSpPr/>
          <p:nvPr/>
        </p:nvSpPr>
        <p:spPr>
          <a:xfrm>
            <a:off x="1111254" y="4424253"/>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B</a:t>
            </a:r>
          </a:p>
        </p:txBody>
      </p:sp>
      <p:sp>
        <p:nvSpPr>
          <p:cNvPr id="11" name="Freeform 10"/>
          <p:cNvSpPr/>
          <p:nvPr/>
        </p:nvSpPr>
        <p:spPr>
          <a:xfrm>
            <a:off x="1691862" y="3926537"/>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C</a:t>
            </a:r>
          </a:p>
        </p:txBody>
      </p:sp>
      <p:cxnSp>
        <p:nvCxnSpPr>
          <p:cNvPr id="12" name="Straight Arrow Connector 11"/>
          <p:cNvCxnSpPr>
            <a:stCxn id="16" idx="10"/>
            <a:endCxn id="11" idx="5"/>
          </p:cNvCxnSpPr>
          <p:nvPr/>
        </p:nvCxnSpPr>
        <p:spPr>
          <a:xfrm>
            <a:off x="1525973" y="3677679"/>
            <a:ext cx="214472" cy="297447"/>
          </a:xfrm>
          <a:prstGeom prst="straightConnector1">
            <a:avLst/>
          </a:prstGeom>
          <a:noFill/>
          <a:ln w="0">
            <a:solidFill>
              <a:srgbClr val="000000"/>
            </a:solidFill>
            <a:prstDash val="solid"/>
          </a:ln>
        </p:spPr>
      </p:cxnSp>
      <p:cxnSp>
        <p:nvCxnSpPr>
          <p:cNvPr id="13" name="Straight Arrow Connector 12"/>
          <p:cNvCxnSpPr>
            <a:stCxn id="15" idx="9"/>
            <a:endCxn id="10" idx="6"/>
          </p:cNvCxnSpPr>
          <p:nvPr/>
        </p:nvCxnSpPr>
        <p:spPr>
          <a:xfrm>
            <a:off x="896782" y="4209760"/>
            <a:ext cx="214472" cy="380399"/>
          </a:xfrm>
          <a:prstGeom prst="straightConnector1">
            <a:avLst/>
          </a:prstGeom>
          <a:noFill/>
          <a:ln w="0">
            <a:solidFill>
              <a:srgbClr val="000000"/>
            </a:solidFill>
            <a:prstDash val="solid"/>
          </a:ln>
        </p:spPr>
      </p:cxnSp>
      <p:cxnSp>
        <p:nvCxnSpPr>
          <p:cNvPr id="14" name="Straight Arrow Connector 13"/>
          <p:cNvCxnSpPr>
            <a:stCxn id="10" idx="10"/>
            <a:endCxn id="11" idx="7"/>
          </p:cNvCxnSpPr>
          <p:nvPr/>
        </p:nvCxnSpPr>
        <p:spPr>
          <a:xfrm flipV="1">
            <a:off x="1443029" y="4209760"/>
            <a:ext cx="297416" cy="380399"/>
          </a:xfrm>
          <a:prstGeom prst="straightConnector1">
            <a:avLst/>
          </a:prstGeom>
          <a:noFill/>
          <a:ln w="0">
            <a:solidFill>
              <a:srgbClr val="000000"/>
            </a:solidFill>
            <a:prstDash val="solid"/>
          </a:ln>
        </p:spPr>
      </p:cxnSp>
      <p:sp>
        <p:nvSpPr>
          <p:cNvPr id="15" name="Freeform 14"/>
          <p:cNvSpPr/>
          <p:nvPr/>
        </p:nvSpPr>
        <p:spPr>
          <a:xfrm>
            <a:off x="613590" y="3926537"/>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16" name="Freeform 15"/>
          <p:cNvSpPr/>
          <p:nvPr/>
        </p:nvSpPr>
        <p:spPr>
          <a:xfrm>
            <a:off x="1194198" y="3511773"/>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cxnSp>
        <p:nvCxnSpPr>
          <p:cNvPr id="17" name="Straight Arrow Connector 16"/>
          <p:cNvCxnSpPr>
            <a:stCxn id="15" idx="11"/>
            <a:endCxn id="16" idx="6"/>
          </p:cNvCxnSpPr>
          <p:nvPr/>
        </p:nvCxnSpPr>
        <p:spPr>
          <a:xfrm flipV="1">
            <a:off x="896782" y="3677679"/>
            <a:ext cx="297416" cy="297447"/>
          </a:xfrm>
          <a:prstGeom prst="straightConnector1">
            <a:avLst/>
          </a:prstGeom>
          <a:noFill/>
          <a:ln w="0">
            <a:solidFill>
              <a:srgbClr val="000000"/>
            </a:solidFill>
            <a:prstDash val="solid"/>
          </a:ln>
        </p:spPr>
      </p:cxnSp>
      <p:sp>
        <p:nvSpPr>
          <p:cNvPr id="18" name="Freeform 17"/>
          <p:cNvSpPr/>
          <p:nvPr/>
        </p:nvSpPr>
        <p:spPr>
          <a:xfrm>
            <a:off x="1111254" y="6000355"/>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b</a:t>
            </a:r>
          </a:p>
        </p:txBody>
      </p:sp>
      <p:sp>
        <p:nvSpPr>
          <p:cNvPr id="19" name="Freeform 18"/>
          <p:cNvSpPr/>
          <p:nvPr/>
        </p:nvSpPr>
        <p:spPr>
          <a:xfrm>
            <a:off x="1691862" y="5502638"/>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c</a:t>
            </a:r>
          </a:p>
        </p:txBody>
      </p:sp>
      <p:cxnSp>
        <p:nvCxnSpPr>
          <p:cNvPr id="20" name="Straight Arrow Connector 19"/>
          <p:cNvCxnSpPr>
            <a:stCxn id="24" idx="10"/>
            <a:endCxn id="19" idx="5"/>
          </p:cNvCxnSpPr>
          <p:nvPr/>
        </p:nvCxnSpPr>
        <p:spPr>
          <a:xfrm>
            <a:off x="1525973" y="5253780"/>
            <a:ext cx="214472" cy="297447"/>
          </a:xfrm>
          <a:prstGeom prst="straightConnector1">
            <a:avLst/>
          </a:prstGeom>
          <a:noFill/>
          <a:ln w="0">
            <a:solidFill>
              <a:srgbClr val="000000"/>
            </a:solidFill>
            <a:prstDash val="solid"/>
          </a:ln>
        </p:spPr>
      </p:cxnSp>
      <p:cxnSp>
        <p:nvCxnSpPr>
          <p:cNvPr id="21" name="Straight Arrow Connector 20"/>
          <p:cNvCxnSpPr>
            <a:stCxn id="23" idx="9"/>
            <a:endCxn id="18" idx="6"/>
          </p:cNvCxnSpPr>
          <p:nvPr/>
        </p:nvCxnSpPr>
        <p:spPr>
          <a:xfrm>
            <a:off x="896782" y="5785861"/>
            <a:ext cx="214472" cy="380399"/>
          </a:xfrm>
          <a:prstGeom prst="straightConnector1">
            <a:avLst/>
          </a:prstGeom>
          <a:noFill/>
          <a:ln w="0">
            <a:solidFill>
              <a:srgbClr val="000000"/>
            </a:solidFill>
            <a:prstDash val="solid"/>
          </a:ln>
        </p:spPr>
      </p:cxnSp>
      <p:cxnSp>
        <p:nvCxnSpPr>
          <p:cNvPr id="22" name="Straight Arrow Connector 21"/>
          <p:cNvCxnSpPr>
            <a:stCxn id="18" idx="10"/>
            <a:endCxn id="19" idx="7"/>
          </p:cNvCxnSpPr>
          <p:nvPr/>
        </p:nvCxnSpPr>
        <p:spPr>
          <a:xfrm flipV="1">
            <a:off x="1443029" y="5785861"/>
            <a:ext cx="297416" cy="380399"/>
          </a:xfrm>
          <a:prstGeom prst="straightConnector1">
            <a:avLst/>
          </a:prstGeom>
          <a:noFill/>
          <a:ln w="0">
            <a:solidFill>
              <a:srgbClr val="000000"/>
            </a:solidFill>
            <a:prstDash val="solid"/>
          </a:ln>
        </p:spPr>
      </p:cxnSp>
      <p:sp>
        <p:nvSpPr>
          <p:cNvPr id="23" name="Freeform 22"/>
          <p:cNvSpPr/>
          <p:nvPr/>
        </p:nvSpPr>
        <p:spPr>
          <a:xfrm>
            <a:off x="613590" y="5502638"/>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sp>
        <p:nvSpPr>
          <p:cNvPr id="24" name="Freeform 23"/>
          <p:cNvSpPr/>
          <p:nvPr/>
        </p:nvSpPr>
        <p:spPr>
          <a:xfrm>
            <a:off x="1194198" y="5087875"/>
            <a:ext cx="331776" cy="331811"/>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FFFF"/>
          </a:solidFill>
          <a:ln w="36720">
            <a:solidFill>
              <a:srgbClr val="004586"/>
            </a:solidFill>
            <a:prstDash val="solid"/>
          </a:ln>
        </p:spPr>
        <p:txBody>
          <a:bodyPr vert="horz" wrap="none" lIns="97967" tIns="57147" rIns="97967" bIns="57147" anchor="ctr" anchorCtr="0" compatLnSpc="0"/>
          <a:lstStyle/>
          <a:p>
            <a:pPr algn="ctr" hangingPunct="0"/>
            <a:r>
              <a:rPr lang="x-none" sz="1600">
                <a:latin typeface="Arial" pitchFamily="18"/>
                <a:ea typeface="Arial Unicode MS" pitchFamily="2"/>
                <a:cs typeface="Arial Unicode MS" pitchFamily="2"/>
              </a:rPr>
              <a:t>a</a:t>
            </a:r>
          </a:p>
        </p:txBody>
      </p:sp>
      <p:cxnSp>
        <p:nvCxnSpPr>
          <p:cNvPr id="25" name="Straight Arrow Connector 24"/>
          <p:cNvCxnSpPr>
            <a:stCxn id="23" idx="11"/>
            <a:endCxn id="24" idx="6"/>
          </p:cNvCxnSpPr>
          <p:nvPr/>
        </p:nvCxnSpPr>
        <p:spPr>
          <a:xfrm flipV="1">
            <a:off x="896782" y="5253780"/>
            <a:ext cx="297416" cy="297447"/>
          </a:xfrm>
          <a:prstGeom prst="straightConnector1">
            <a:avLst/>
          </a:prstGeom>
          <a:noFill/>
          <a:ln w="0">
            <a:solidFill>
              <a:srgbClr val="000000"/>
            </a:solidFill>
            <a:prstDash val="solid"/>
          </a:ln>
        </p:spPr>
      </p:cxnSp>
      <p:pic>
        <p:nvPicPr>
          <p:cNvPr id="27" name="Picture 26"/>
          <p:cNvPicPr>
            <a:picLocks noChangeAspect="1"/>
          </p:cNvPicPr>
          <p:nvPr/>
        </p:nvPicPr>
        <p:blipFill>
          <a:blip r:embed="rId3">
            <a:lum/>
            <a:alphaModFix/>
          </a:blip>
          <a:srcRect/>
          <a:stretch>
            <a:fillRect/>
          </a:stretch>
        </p:blipFill>
        <p:spPr>
          <a:xfrm>
            <a:off x="3516630" y="3459193"/>
            <a:ext cx="3898041" cy="3137180"/>
          </a:xfrm>
          <a:prstGeom prst="rect">
            <a:avLst/>
          </a:prstGeom>
          <a:noFill/>
          <a:ln>
            <a:noFill/>
          </a:ln>
        </p:spPr>
      </p:pic>
    </p:spTree>
    <p:extLst>
      <p:ext uri="{BB962C8B-B14F-4D97-AF65-F5344CB8AC3E}">
        <p14:creationId xmlns:p14="http://schemas.microsoft.com/office/powerpoint/2010/main" val="42498469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txBox="1">
            <a:spLocks noGrp="1"/>
          </p:cNvSpPr>
          <p:nvPr>
            <p:ph type="body" idx="1"/>
          </p:nvPr>
        </p:nvSpPr>
        <p:spPr>
          <a:prstGeom prst="rect">
            <a:avLst/>
          </a:prstGeom>
        </p:spPr>
        <p:txBody>
          <a:bodyPr lIns="82945" tIns="41473" rIns="82945" bIns="41473"/>
          <a:lstStyle>
            <a:defPPr marL="432000" marR="0" lvl="0" indent="-324000">
              <a:spcBef>
                <a:spcPts val="0"/>
              </a:spcBef>
              <a:spcAft>
                <a:spcPts val="1414"/>
              </a:spcAft>
              <a:buSzPct val="45000"/>
              <a:buFont typeface="StarSymbol"/>
              <a:buNone/>
              <a:defRPr lang="x-none" sz="3200" b="0" i="0" u="none" strike="noStrike" kern="1200">
                <a:ln>
                  <a:noFill/>
                </a:ln>
                <a:latin typeface="Arial" pitchFamily="18"/>
                <a:ea typeface="Arial Unicode MS" pitchFamily="2"/>
                <a:cs typeface="Arial Unicode MS" pitchFamily="2"/>
              </a:defRPr>
            </a:defPPr>
            <a:lvl1pPr marL="432000" marR="0" lvl="0" indent="-324000">
              <a:spcBef>
                <a:spcPts val="0"/>
              </a:spcBef>
              <a:spcAft>
                <a:spcPts val="1414"/>
              </a:spcAft>
              <a:buSzPct val="45000"/>
              <a:buFont typeface="StarSymbol"/>
              <a:buChar char="●"/>
              <a:defRPr lang="x-none" sz="3200" b="0" i="0" u="none" strike="noStrike" kern="1200">
                <a:ln>
                  <a:noFill/>
                </a:ln>
                <a:latin typeface="Arial" pitchFamily="18"/>
                <a:ea typeface="Arial Unicode MS" pitchFamily="2"/>
                <a:cs typeface="Arial Unicode MS" pitchFamily="2"/>
              </a:defRPr>
            </a:lvl1pPr>
            <a:lvl2pPr marL="864000" marR="0" lvl="1" indent="-324000">
              <a:spcBef>
                <a:spcPts val="0"/>
              </a:spcBef>
              <a:spcAft>
                <a:spcPts val="1134"/>
              </a:spcAft>
              <a:buSzPct val="45000"/>
              <a:buFont typeface="StarSymbol"/>
              <a:buChar char="●"/>
              <a:defRPr lang="x-none" sz="2800" b="0" i="0" u="none" strike="noStrike" kern="1200">
                <a:ln>
                  <a:noFill/>
                </a:ln>
                <a:latin typeface="Arial" pitchFamily="18"/>
                <a:ea typeface="Arial Unicode MS" pitchFamily="2"/>
                <a:cs typeface="Arial Unicode MS" pitchFamily="2"/>
              </a:defRPr>
            </a:lvl2pPr>
            <a:lvl3pPr marL="1295999" marR="0" lvl="2" indent="-288000">
              <a:spcBef>
                <a:spcPts val="0"/>
              </a:spcBef>
              <a:spcAft>
                <a:spcPts val="850"/>
              </a:spcAft>
              <a:buSzPct val="75000"/>
              <a:buFont typeface="StarSymbol"/>
              <a:buChar char="–"/>
              <a:defRPr lang="x-none" sz="2400" b="0" i="0" u="none" strike="noStrike" kern="1200">
                <a:ln>
                  <a:noFill/>
                </a:ln>
                <a:latin typeface="Arial" pitchFamily="18"/>
                <a:ea typeface="Arial Unicode MS" pitchFamily="2"/>
                <a:cs typeface="Arial Unicode MS" pitchFamily="2"/>
              </a:defRPr>
            </a:lvl3pPr>
            <a:lvl4pPr marL="1728000" marR="0" lvl="3" indent="-216000">
              <a:spcBef>
                <a:spcPts val="0"/>
              </a:spcBef>
              <a:spcAft>
                <a:spcPts val="567"/>
              </a:spcAft>
              <a:buSzPct val="45000"/>
              <a:buFont typeface="StarSymbol"/>
              <a:buChar char="●"/>
              <a:defRPr lang="x-none" sz="2000" b="0" i="0" u="none" strike="noStrike" kern="1200">
                <a:ln>
                  <a:noFill/>
                </a:ln>
                <a:latin typeface="Arial" pitchFamily="18"/>
                <a:ea typeface="Arial Unicode MS" pitchFamily="2"/>
                <a:cs typeface="Arial Unicode MS" pitchFamily="2"/>
              </a:defRPr>
            </a:lvl4pPr>
            <a:lvl5pPr marL="2160000" marR="0" lvl="4" indent="-216000">
              <a:spcBef>
                <a:spcPts val="0"/>
              </a:spcBef>
              <a:spcAft>
                <a:spcPts val="283"/>
              </a:spcAft>
              <a:buSzPct val="75000"/>
              <a:buFont typeface="StarSymbol"/>
              <a:buChar char="–"/>
              <a:defRPr lang="x-none" sz="2000" b="0" i="0" u="none" strike="noStrike" kern="1200">
                <a:ln>
                  <a:noFill/>
                </a:ln>
                <a:latin typeface="Arial" pitchFamily="18"/>
                <a:ea typeface="Arial Unicode MS" pitchFamily="2"/>
                <a:cs typeface="Arial Unicode MS" pitchFamily="2"/>
              </a:defRPr>
            </a:lvl5pPr>
            <a:lvl6pPr marL="2592000" marR="0" lvl="5"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6pPr>
            <a:lvl7pPr marL="3024000" marR="0" lvl="6"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7pPr>
            <a:lvl8pPr marL="3456000" marR="0" lvl="7"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8pPr>
            <a:lvl9pPr marL="3887999" marR="0" lvl="8" indent="-216000">
              <a:spcBef>
                <a:spcPts val="0"/>
              </a:spcBef>
              <a:spcAft>
                <a:spcPts val="283"/>
              </a:spcAft>
              <a:buSzPct val="45000"/>
              <a:buFont typeface="StarSymbol"/>
              <a:buChar char="●"/>
              <a:defRPr lang="x-none" sz="2000" b="0" i="0" u="none" strike="noStrike" kern="1200">
                <a:ln>
                  <a:noFill/>
                </a:ln>
                <a:latin typeface="Arial" pitchFamily="18"/>
                <a:ea typeface="Arial Unicode MS" pitchFamily="2"/>
                <a:cs typeface="Arial Unicode MS" pitchFamily="2"/>
              </a:defRPr>
            </a:lvl9pPr>
          </a:lstStyle>
          <a:p>
            <a:pPr lvl="1" rtl="0" hangingPunct="0">
              <a:buNone/>
            </a:pPr>
            <a:endParaRPr lang="x-none" sz="4800">
              <a:solidFill>
                <a:srgbClr val="000000"/>
              </a:solidFill>
              <a:latin typeface="COMMIT" pitchFamily="81" charset="0"/>
            </a:endParaRPr>
          </a:p>
          <a:p>
            <a:pPr marL="108000" lvl="0" indent="0">
              <a:buNone/>
            </a:pPr>
            <a:r>
              <a:rPr lang="nl-NL" sz="4800" dirty="0" smtClean="0">
                <a:solidFill>
                  <a:srgbClr val="000000"/>
                </a:solidFill>
                <a:latin typeface="COMMIT" pitchFamily="81" charset="0"/>
              </a:rPr>
              <a:t>WP1 – E-humanities APPLications</a:t>
            </a:r>
            <a:endParaRPr lang="x-none" sz="4800">
              <a:solidFill>
                <a:srgbClr val="000000"/>
              </a:solidFill>
              <a:latin typeface="COMMIT" pitchFamily="81" charset="0"/>
            </a:endParaRPr>
          </a:p>
        </p:txBody>
      </p:sp>
      <p:sp>
        <p:nvSpPr>
          <p:cNvPr id="4" name="Text Placeholder 3"/>
          <p:cNvSpPr>
            <a:spLocks noGrp="1"/>
          </p:cNvSpPr>
          <p:nvPr>
            <p:ph type="body" sz="quarter" idx="10"/>
          </p:nvPr>
        </p:nvSpPr>
        <p:spPr/>
        <p:txBody>
          <a:bodyPr/>
          <a:lstStyle/>
          <a:p>
            <a:pPr lvl="0"/>
            <a:r>
              <a:rPr lang="x-none" sz="2400" b="1"/>
              <a:t>Data:</a:t>
            </a:r>
            <a:r>
              <a:rPr lang="x-none" sz="2400" b="1">
                <a:solidFill>
                  <a:srgbClr val="000000"/>
                </a:solidFill>
              </a:rPr>
              <a:t> </a:t>
            </a:r>
            <a:r>
              <a:rPr lang="x-none" sz="2400">
                <a:solidFill>
                  <a:srgbClr val="000000"/>
                </a:solidFill>
              </a:rPr>
              <a:t>Social networks, co-author networks, correspondence networks, trade networks, semantic networks, etc.</a:t>
            </a:r>
          </a:p>
          <a:p>
            <a:pPr lvl="0"/>
            <a:r>
              <a:rPr lang="x-none" sz="2400" b="1"/>
              <a:t>Compression: </a:t>
            </a:r>
            <a:r>
              <a:rPr lang="x-none" sz="2400"/>
              <a:t>Author detection/analysis:</a:t>
            </a:r>
          </a:p>
          <a:p>
            <a:pPr lvl="1" hangingPunct="0"/>
            <a:r>
              <a:rPr lang="x-none" sz="2400"/>
              <a:t>How well does Marlowe compress under a model for Shakespeare?</a:t>
            </a:r>
          </a:p>
          <a:p>
            <a:pPr lvl="0"/>
            <a:r>
              <a:rPr lang="x-none" sz="2400" b="1"/>
              <a:t>Graph complexity: </a:t>
            </a:r>
            <a:r>
              <a:rPr lang="x-none" sz="2400">
                <a:solidFill>
                  <a:srgbClr val="000000"/>
                </a:solidFill>
              </a:rPr>
              <a:t>Determine node function and similarity</a:t>
            </a:r>
          </a:p>
          <a:p>
            <a:pPr lvl="1" hangingPunct="0"/>
            <a:r>
              <a:rPr lang="x-none" sz="2400">
                <a:solidFill>
                  <a:srgbClr val="000000"/>
                </a:solidFill>
              </a:rPr>
              <a:t>Find Democratic and Republican politicians with the same function within their context</a:t>
            </a:r>
          </a:p>
          <a:p>
            <a:pPr lvl="0"/>
            <a:r>
              <a:rPr lang="x-none" sz="2400" b="1"/>
              <a:t>Graph modeling</a:t>
            </a:r>
            <a:r>
              <a:rPr lang="x-none" sz="2400" b="1">
                <a:solidFill>
                  <a:srgbClr val="000080"/>
                </a:solidFill>
              </a:rPr>
              <a:t>:</a:t>
            </a:r>
            <a:r>
              <a:rPr lang="x-none" sz="2400" b="1">
                <a:solidFill>
                  <a:srgbClr val="000000"/>
                </a:solidFill>
              </a:rPr>
              <a:t> </a:t>
            </a:r>
            <a:r>
              <a:rPr lang="x-none" sz="2400">
                <a:solidFill>
                  <a:srgbClr val="000000"/>
                </a:solidFill>
              </a:rPr>
              <a:t>Statistics on graphs, finding outliers, etc.</a:t>
            </a:r>
          </a:p>
          <a:p>
            <a:pPr lvl="0"/>
            <a:r>
              <a:rPr lang="x-none" sz="2400" b="1"/>
              <a:t>Graph grammars: </a:t>
            </a:r>
            <a:r>
              <a:rPr lang="x-none" sz="2400">
                <a:solidFill>
                  <a:srgbClr val="000000"/>
                </a:solidFill>
              </a:rPr>
              <a:t>Multi-resolution analysis: from broad clusters, to low level interactions</a:t>
            </a:r>
            <a:r>
              <a:rPr lang="x-none" sz="2400" smtClean="0">
                <a:solidFill>
                  <a:srgbClr val="000000"/>
                </a:solidFill>
              </a:rPr>
              <a:t>.</a:t>
            </a:r>
            <a:endParaRPr lang="x-none" sz="2400">
              <a:solidFill>
                <a:srgbClr val="000000"/>
              </a:solidFill>
            </a:endParaRPr>
          </a:p>
        </p:txBody>
      </p:sp>
    </p:spTree>
    <p:extLst>
      <p:ext uri="{BB962C8B-B14F-4D97-AF65-F5344CB8AC3E}">
        <p14:creationId xmlns:p14="http://schemas.microsoft.com/office/powerpoint/2010/main" val="32344231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nl-NL" dirty="0" smtClean="0"/>
              <a:t>Concluding REmarks</a:t>
            </a:r>
            <a:endParaRPr lang="nl-NL" dirty="0"/>
          </a:p>
        </p:txBody>
      </p:sp>
      <p:sp>
        <p:nvSpPr>
          <p:cNvPr id="3" name="Text Placeholder 2"/>
          <p:cNvSpPr>
            <a:spLocks noGrp="1"/>
          </p:cNvSpPr>
          <p:nvPr>
            <p:ph type="body" sz="quarter" idx="10"/>
          </p:nvPr>
        </p:nvSpPr>
        <p:spPr/>
        <p:txBody>
          <a:bodyPr/>
          <a:lstStyle/>
          <a:p>
            <a:r>
              <a:rPr lang="nl-NL" dirty="0" smtClean="0"/>
              <a:t>Each workpackage has something for E-humanities</a:t>
            </a:r>
          </a:p>
          <a:p>
            <a:pPr lvl="1"/>
            <a:r>
              <a:rPr lang="nl-NL" dirty="0" smtClean="0"/>
              <a:t>In different stages of development</a:t>
            </a:r>
          </a:p>
          <a:p>
            <a:endParaRPr lang="nl-NL" dirty="0"/>
          </a:p>
          <a:p>
            <a:r>
              <a:rPr lang="nl-NL" dirty="0" smtClean="0">
                <a:hlinkClick r:id="rId2"/>
              </a:rPr>
              <a:t>www.data2semantics.org</a:t>
            </a:r>
            <a:endParaRPr lang="nl-NL" dirty="0" smtClean="0"/>
          </a:p>
          <a:p>
            <a:pPr lvl="1"/>
            <a:r>
              <a:rPr lang="nl-NL" smtClean="0"/>
              <a:t>For updates and who does what!</a:t>
            </a:r>
            <a:endParaRPr lang="nl-NL" dirty="0" smtClean="0"/>
          </a:p>
        </p:txBody>
      </p:sp>
    </p:spTree>
    <p:extLst>
      <p:ext uri="{BB962C8B-B14F-4D97-AF65-F5344CB8AC3E}">
        <p14:creationId xmlns:p14="http://schemas.microsoft.com/office/powerpoint/2010/main" val="168499968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nl-NL" dirty="0" smtClean="0"/>
              <a:t>Questions</a:t>
            </a:r>
            <a:endParaRPr lang="nl-NL" dirty="0"/>
          </a:p>
        </p:txBody>
      </p:sp>
      <p:sp>
        <p:nvSpPr>
          <p:cNvPr id="3" name="Text Placeholder 2"/>
          <p:cNvSpPr>
            <a:spLocks noGrp="1"/>
          </p:cNvSpPr>
          <p:nvPr>
            <p:ph type="body" sz="quarter" idx="10"/>
          </p:nvPr>
        </p:nvSpPr>
        <p:spPr/>
        <p:txBody>
          <a:bodyPr/>
          <a:lstStyle/>
          <a:p>
            <a:r>
              <a:rPr lang="nl-NL" dirty="0" smtClean="0"/>
              <a:t>?</a:t>
            </a:r>
          </a:p>
        </p:txBody>
      </p:sp>
    </p:spTree>
    <p:extLst>
      <p:ext uri="{BB962C8B-B14F-4D97-AF65-F5344CB8AC3E}">
        <p14:creationId xmlns:p14="http://schemas.microsoft.com/office/powerpoint/2010/main" val="119879615"/>
      </p:ext>
    </p:extLst>
  </p:cSld>
  <p:clrMapOvr>
    <a:masterClrMapping/>
  </p:clrMapOvr>
  <p:timing>
    <p:tnLst>
      <p:par>
        <p:cTn id="1" dur="indefinite" restart="never" nodeType="tmRoot"/>
      </p:par>
    </p:tnLst>
  </p:timing>
</p:sld>
</file>

<file path=ppt/theme/theme1.xml><?xml version="1.0" encoding="utf-8"?>
<a:theme xmlns:a="http://schemas.openxmlformats.org/drawingml/2006/main" name="Commit_basi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noAutofit/>
      </a:bodyPr>
      <a:lstStyle>
        <a:defPPr>
          <a:defRPr dirty="0" smtClean="0"/>
        </a:defPPr>
      </a:lstStyle>
    </a:txDef>
  </a:objectDefaults>
  <a:extraClrScheme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Commit_basis</Template>
  <TotalTime>636</TotalTime>
  <Words>1692</Words>
  <Application>Microsoft Office PowerPoint</Application>
  <PresentationFormat>On-screen Show (4:3)</PresentationFormat>
  <Paragraphs>329</Paragraphs>
  <Slides>34</Slides>
  <Notes>28</Notes>
  <HiddenSlides>1</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Commit_basis</vt:lpstr>
      <vt:lpstr>DATA2SeMANTICS  meets  CENSUS2SEmantics  CEDAR MINI-symposium/ 1-3-2013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smeulder</dc:creator>
  <cp:lastModifiedBy>Gerben</cp:lastModifiedBy>
  <cp:revision>57</cp:revision>
  <dcterms:created xsi:type="dcterms:W3CDTF">2012-03-16T12:59:16Z</dcterms:created>
  <dcterms:modified xsi:type="dcterms:W3CDTF">2013-03-01T11:57:59Z</dcterms:modified>
</cp:coreProperties>
</file>